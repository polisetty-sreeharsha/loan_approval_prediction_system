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1"/>
  </p:notesMasterIdLst>
  <p:handoutMasterIdLst>
    <p:handoutMasterId r:id="rId52"/>
  </p:handoutMasterIdLst>
  <p:sldIdLst>
    <p:sldId id="354" r:id="rId2"/>
    <p:sldId id="293" r:id="rId3"/>
    <p:sldId id="440" r:id="rId4"/>
    <p:sldId id="288" r:id="rId5"/>
    <p:sldId id="418" r:id="rId6"/>
    <p:sldId id="421" r:id="rId7"/>
    <p:sldId id="419" r:id="rId8"/>
    <p:sldId id="420" r:id="rId9"/>
    <p:sldId id="422" r:id="rId10"/>
    <p:sldId id="423" r:id="rId11"/>
    <p:sldId id="424" r:id="rId12"/>
    <p:sldId id="425" r:id="rId13"/>
    <p:sldId id="426" r:id="rId14"/>
    <p:sldId id="427" r:id="rId15"/>
    <p:sldId id="428" r:id="rId16"/>
    <p:sldId id="429" r:id="rId17"/>
    <p:sldId id="430" r:id="rId18"/>
    <p:sldId id="431" r:id="rId19"/>
    <p:sldId id="432" r:id="rId20"/>
    <p:sldId id="433" r:id="rId21"/>
    <p:sldId id="434" r:id="rId22"/>
    <p:sldId id="435" r:id="rId23"/>
    <p:sldId id="436" r:id="rId24"/>
    <p:sldId id="264" r:id="rId25"/>
    <p:sldId id="402" r:id="rId26"/>
    <p:sldId id="437" r:id="rId27"/>
    <p:sldId id="438" r:id="rId28"/>
    <p:sldId id="439" r:id="rId29"/>
    <p:sldId id="265" r:id="rId30"/>
    <p:sldId id="441" r:id="rId31"/>
    <p:sldId id="262" r:id="rId32"/>
    <p:sldId id="406" r:id="rId33"/>
    <p:sldId id="268" r:id="rId34"/>
    <p:sldId id="405" r:id="rId35"/>
    <p:sldId id="407" r:id="rId36"/>
    <p:sldId id="408" r:id="rId37"/>
    <p:sldId id="409" r:id="rId38"/>
    <p:sldId id="410" r:id="rId39"/>
    <p:sldId id="412" r:id="rId40"/>
    <p:sldId id="413" r:id="rId41"/>
    <p:sldId id="368" r:id="rId42"/>
    <p:sldId id="297" r:id="rId43"/>
    <p:sldId id="298" r:id="rId44"/>
    <p:sldId id="299" r:id="rId45"/>
    <p:sldId id="300" r:id="rId46"/>
    <p:sldId id="301" r:id="rId47"/>
    <p:sldId id="302" r:id="rId48"/>
    <p:sldId id="303" r:id="rId49"/>
    <p:sldId id="414"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CDB74D4-5E76-4C47-E7AA-61E2C648C8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a:extLst>
              <a:ext uri="{FF2B5EF4-FFF2-40B4-BE49-F238E27FC236}">
                <a16:creationId xmlns:a16="http://schemas.microsoft.com/office/drawing/2014/main" id="{7C962EDA-0A3B-5C3A-C8DF-7672C339CF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pPr/>
              <a:t>25-07-2026</a:t>
            </a:fld>
            <a:endParaRPr lang="en-IN"/>
          </a:p>
        </p:txBody>
      </p:sp>
      <p:sp>
        <p:nvSpPr>
          <p:cNvPr id="4" name="Footer Placeholder 3">
            <a:extLst>
              <a:ext uri="{FF2B5EF4-FFF2-40B4-BE49-F238E27FC236}">
                <a16:creationId xmlns:a16="http://schemas.microsoft.com/office/drawing/2014/main" id="{1EC80489-5F61-FA08-A147-AE43BE9C49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a:extLst>
              <a:ext uri="{FF2B5EF4-FFF2-40B4-BE49-F238E27FC236}">
                <a16:creationId xmlns:a16="http://schemas.microsoft.com/office/drawing/2014/main" id="{F72D387C-1469-6716-E148-98BDCB697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pPr/>
              <a:t>‹#›</a:t>
            </a:fld>
            <a:endParaRPr lang="en-IN"/>
          </a:p>
        </p:txBody>
      </p:sp>
    </p:spTree>
    <p:extLst>
      <p:ext uri="{BB962C8B-B14F-4D97-AF65-F5344CB8AC3E}">
        <p14:creationId xmlns:p14="http://schemas.microsoft.com/office/powerpoint/2010/main" val="95439155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pPr/>
              <a:t>25-07-2026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pPr/>
              <a:t>‹#›</a:t>
            </a:fld>
            <a:endParaRPr lang="en-IN"/>
          </a:p>
        </p:txBody>
      </p:sp>
    </p:spTree>
    <p:extLst>
      <p:ext uri="{BB962C8B-B14F-4D97-AF65-F5344CB8AC3E}">
        <p14:creationId xmlns:p14="http://schemas.microsoft.com/office/powerpoint/2010/main" val="331000788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engineering benefits of layering with the building analogy. Ask: 'What would go wrong if applications could call hardware drivers directly?' — lead into the need for strict user/kernel separation, the next topic.</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a concrete example live: reading a file. Request travels app -&gt; syscall -&gt; kernel -&gt; disk driver -&gt; disk; data travels back along the reverse path. This bidirectional flow becomes the exact model used later in the Command Execution Journey slides.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pPr/>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83982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57521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90948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52286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pPr/>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8372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pPr/>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07466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3194587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32037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0776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1267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536402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93538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9327814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p:nvPicPr>
        <p:blipFill rotWithShape="1">
          <a:blip r:embed="rId16"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p:nvPicPr>
        <p:blipFill rotWithShape="1">
          <a:blip r:embed="rId17"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31983802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0"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Course Code: 25CS1201E</a:t>
            </a:r>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3713641" y="3428999"/>
            <a:ext cx="8559194" cy="1569620"/>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dirty="0">
                <a:solidFill>
                  <a:srgbClr val="C00000"/>
                </a:solidFill>
                <a:latin typeface="Times New Roman" panose="02020603050405020304" pitchFamily="18" charset="0"/>
                <a:ea typeface="BioRhyme ExtraBold"/>
                <a:cs typeface="Times New Roman" panose="02020603050405020304" pitchFamily="18" charset="0"/>
                <a:sym typeface="BioRhyme ExtraBold"/>
              </a:rPr>
              <a:t>Operating Systems and  Systems Programming</a:t>
            </a:r>
            <a:br>
              <a:rPr lang="en-US" sz="3200" b="1" dirty="0">
                <a:solidFill>
                  <a:srgbClr val="C00000"/>
                </a:solidFill>
                <a:latin typeface="Times New Roman" panose="02020603050405020304" pitchFamily="18" charset="0"/>
                <a:ea typeface="BioRhyme ExtraBold"/>
                <a:cs typeface="Times New Roman" panose="02020603050405020304" pitchFamily="18" charset="0"/>
                <a:sym typeface="BioRhyme ExtraBold"/>
              </a:rPr>
            </a:br>
            <a:endParaRPr lang="en-US" sz="3200" b="1" dirty="0">
              <a:solidFill>
                <a:srgbClr val="C00000"/>
              </a:solidFill>
              <a:latin typeface="Times New Roman" panose="02020603050405020304" pitchFamily="18" charset="0"/>
              <a:ea typeface="BioRhyme ExtraBold"/>
              <a:cs typeface="Times New Roman" panose="02020603050405020304" pitchFamily="18" charset="0"/>
              <a:sym typeface="BioRhyme ExtraBold"/>
            </a:endParaRPr>
          </a:p>
          <a:p>
            <a:pPr marR="0" lvl="0" indent="0" algn="ctr">
              <a:spcBef>
                <a:spcPts val="0"/>
              </a:spcBef>
              <a:spcAft>
                <a:spcPts val="0"/>
              </a:spcAft>
              <a:buNone/>
            </a:pPr>
            <a:r>
              <a:rPr lang="en-US" sz="3200" b="1" dirty="0">
                <a:solidFill>
                  <a:srgbClr val="C00000"/>
                </a:solidFill>
                <a:latin typeface="Times New Roman" panose="02020603050405020304" pitchFamily="18" charset="0"/>
                <a:ea typeface="BioRhyme ExtraBold"/>
                <a:cs typeface="Times New Roman" panose="02020603050405020304" pitchFamily="18" charset="0"/>
                <a:sym typeface="BioRhyme ExtraBold"/>
              </a:rPr>
              <a:t>Course Code: 25CS21014E</a:t>
            </a:r>
            <a:endParaRPr lang="en-US" sz="2000" b="1" dirty="0">
              <a:solidFill>
                <a:schemeClr val="bg1">
                  <a:lumMod val="50000"/>
                </a:schemeClr>
              </a:solidFill>
              <a:latin typeface="Times New Roman" panose="02020603050405020304" pitchFamily="18" charset="0"/>
              <a:ea typeface="BioRhyme ExtraBold"/>
              <a:cs typeface="Times New Roman" panose="02020603050405020304" pitchFamily="18" charset="0"/>
              <a:sym typeface="BioRhyme ExtraBold"/>
            </a:endParaRP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latin typeface="Times New Roman" panose="02020603050405020304" pitchFamily="18" charset="0"/>
                <a:cs typeface="Times New Roman" panose="02020603050405020304" pitchFamily="18" charset="0"/>
              </a:rPr>
              <a:t>Department of CSE</a:t>
            </a: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00A7203E-8270-BBE2-82B8-5B5D551C3E0A}"/>
              </a:ext>
            </a:extLst>
          </p:cNvPr>
          <p:cNvPicPr>
            <a:picLocks noChangeAspect="1"/>
          </p:cNvPicPr>
          <p:nvPr/>
        </p:nvPicPr>
        <p:blipFill>
          <a:blip r:embed="rId4"/>
          <a:stretch>
            <a:fillRect/>
          </a:stretch>
        </p:blipFill>
        <p:spPr>
          <a:xfrm>
            <a:off x="86069" y="53962"/>
            <a:ext cx="2202276" cy="1017491"/>
          </a:xfrm>
          <a:prstGeom prst="rect">
            <a:avLst/>
          </a:prstGeom>
        </p:spPr>
      </p:pic>
      <p:sp>
        <p:nvSpPr>
          <p:cNvPr id="4" name="Google Shape;476;p16">
            <a:extLst>
              <a:ext uri="{FF2B5EF4-FFF2-40B4-BE49-F238E27FC236}">
                <a16:creationId xmlns:a16="http://schemas.microsoft.com/office/drawing/2014/main" id="{6946C5B3-72D8-1ED2-69AA-95F5BE5BCDA3}"/>
              </a:ext>
            </a:extLst>
          </p:cNvPr>
          <p:cNvSpPr txBox="1"/>
          <p:nvPr/>
        </p:nvSpPr>
        <p:spPr>
          <a:xfrm>
            <a:off x="3713641" y="4678902"/>
            <a:ext cx="8316685" cy="400069"/>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endParaRPr lang="en-US" sz="2000" b="1" dirty="0">
              <a:solidFill>
                <a:schemeClr val="bg1">
                  <a:lumMod val="50000"/>
                </a:schemeClr>
              </a:solidFill>
              <a:latin typeface="Times New Roman" panose="02020603050405020304" pitchFamily="18" charset="0"/>
              <a:ea typeface="BioRhyme ExtraBold"/>
              <a:cs typeface="Times New Roman" panose="02020603050405020304" pitchFamily="18" charset="0"/>
              <a:sym typeface="BioRhyme ExtraBold"/>
            </a:endParaRPr>
          </a:p>
        </p:txBody>
      </p:sp>
      <p:sp>
        <p:nvSpPr>
          <p:cNvPr id="5" name="Google Shape;476;p16">
            <a:extLst>
              <a:ext uri="{FF2B5EF4-FFF2-40B4-BE49-F238E27FC236}">
                <a16:creationId xmlns:a16="http://schemas.microsoft.com/office/drawing/2014/main" id="{3B20E733-59DE-2143-1476-889064B64B1C}"/>
              </a:ext>
            </a:extLst>
          </p:cNvPr>
          <p:cNvSpPr txBox="1"/>
          <p:nvPr/>
        </p:nvSpPr>
        <p:spPr>
          <a:xfrm>
            <a:off x="3214523" y="5347875"/>
            <a:ext cx="8316685" cy="584735"/>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dirty="0">
                <a:solidFill>
                  <a:srgbClr val="C00000"/>
                </a:solidFill>
                <a:latin typeface="Times New Roman" panose="02020603050405020304" pitchFamily="18" charset="0"/>
                <a:ea typeface="BioRhyme ExtraBold"/>
                <a:cs typeface="Times New Roman" panose="02020603050405020304" pitchFamily="18" charset="0"/>
                <a:sym typeface="BioRhyme ExtraBold"/>
              </a:rPr>
              <a:t>CO6</a:t>
            </a:r>
            <a:endParaRPr lang="en-US" sz="2000" b="1" dirty="0">
              <a:solidFill>
                <a:schemeClr val="bg1">
                  <a:lumMod val="50000"/>
                </a:schemeClr>
              </a:solidFill>
              <a:latin typeface="Times New Roman" panose="02020603050405020304" pitchFamily="18" charset="0"/>
              <a:ea typeface="BioRhyme ExtraBold"/>
              <a:cs typeface="Times New Roman" panose="02020603050405020304" pitchFamily="18" charset="0"/>
              <a:sym typeface="BioRhyme ExtraBold"/>
            </a:endParaRP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3073" y="720335"/>
            <a:ext cx="2217124" cy="978437"/>
          </a:xfrm>
        </p:spPr>
        <p:txBody>
          <a:bodyPr>
            <a:normAutofit/>
          </a:bodyPr>
          <a:lstStyle/>
          <a:p>
            <a:pPr algn="ctr"/>
            <a:br>
              <a:rPr lang="en-US" dirty="0"/>
            </a:br>
            <a:r>
              <a:rPr lang="en-US" dirty="0"/>
              <a:t>CO- VI</a:t>
            </a:r>
            <a:endParaRPr lang="en-US" b="1" dirty="0"/>
          </a:p>
        </p:txBody>
      </p:sp>
      <p:sp>
        <p:nvSpPr>
          <p:cNvPr id="3" name="Content Placeholder 2"/>
          <p:cNvSpPr>
            <a:spLocks noGrp="1"/>
          </p:cNvSpPr>
          <p:nvPr>
            <p:ph idx="1"/>
          </p:nvPr>
        </p:nvSpPr>
        <p:spPr>
          <a:xfrm>
            <a:off x="1440005" y="2095019"/>
            <a:ext cx="9603275" cy="3252486"/>
          </a:xfrm>
        </p:spPr>
        <p:txBody>
          <a:bodyPr>
            <a:noAutofit/>
          </a:bodyPr>
          <a:lstStyle/>
          <a:p>
            <a:pPr marL="0" indent="0" algn="just">
              <a:buNone/>
            </a:pPr>
            <a:r>
              <a:rPr lang="en-IN" dirty="0"/>
              <a:t>CO-VI: Concurrency and Synchronization, Threads and Processes, POSIX Threads, Race Conditions and Shared Data, Mutual Exclusion Using Mutexes. Condition Variables and Thread Coordination, Counting Semaphores, Deadlocks and Concurrency Hazards, Advanced Synchronization Concepts.</a:t>
            </a:r>
            <a:endParaRPr lang="en-US" sz="1800"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2</a:t>
            </a:fld>
            <a:endParaRPr lang="en-IN" dirty="0"/>
          </a:p>
        </p:txBody>
      </p:sp>
      <p:sp>
        <p:nvSpPr>
          <p:cNvPr id="5" name="Rounded Rectangle 17">
            <a:extLst>
              <a:ext uri="{FF2B5EF4-FFF2-40B4-BE49-F238E27FC236}">
                <a16:creationId xmlns:a16="http://schemas.microsoft.com/office/drawing/2014/main" id="{78CE2B3C-9B94-A814-FFAD-1E7383A35A2C}"/>
              </a:ext>
            </a:extLst>
          </p:cNvPr>
          <p:cNvSpPr/>
          <p:nvPr/>
        </p:nvSpPr>
        <p:spPr>
          <a:xfrm>
            <a:off x="4086809" y="720335"/>
            <a:ext cx="6788092" cy="97843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solidFill>
                  <a:srgbClr val="FFFFFF"/>
                </a:solidFill>
                <a:latin typeface="Cambria" pitchFamily="34" charset="0"/>
                <a:ea typeface="Cambria" pitchFamily="34" charset="-122"/>
                <a:cs typeface="Cambria" pitchFamily="34" charset="-120"/>
              </a:rPr>
              <a:t>Concurrency and Synchronization</a:t>
            </a:r>
            <a:endParaRPr 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8292A66-89AB-BA42-5AD0-A658D26A7023}"/>
              </a:ext>
            </a:extLst>
          </p:cNvPr>
          <p:cNvSpPr>
            <a:spLocks noGrp="1"/>
          </p:cNvSpPr>
          <p:nvPr>
            <p:ph type="sldNum" sz="quarter" idx="12"/>
          </p:nvPr>
        </p:nvSpPr>
        <p:spPr/>
        <p:txBody>
          <a:bodyPr/>
          <a:lstStyle/>
          <a:p>
            <a:fld id="{CBABCCC1-BF11-4F37-963E-1BCD5B23FD72}" type="slidenum">
              <a:rPr lang="en-IN" smtClean="0"/>
              <a:pPr/>
              <a:t>3</a:t>
            </a:fld>
            <a:endParaRPr lang="en-IN" dirty="0"/>
          </a:p>
        </p:txBody>
      </p:sp>
      <p:sp>
        <p:nvSpPr>
          <p:cNvPr id="5" name="Rounded Rectangle 17">
            <a:extLst>
              <a:ext uri="{FF2B5EF4-FFF2-40B4-BE49-F238E27FC236}">
                <a16:creationId xmlns:a16="http://schemas.microsoft.com/office/drawing/2014/main" id="{33EBCC2E-74EF-727A-2A6E-DF9A089A5F67}"/>
              </a:ext>
            </a:extLst>
          </p:cNvPr>
          <p:cNvSpPr>
            <a:spLocks noGrp="1"/>
          </p:cNvSpPr>
          <p:nvPr>
            <p:ph idx="1"/>
          </p:nvPr>
        </p:nvSpPr>
        <p:spPr>
          <a:xfrm>
            <a:off x="2378562" y="2543051"/>
            <a:ext cx="8603569" cy="88594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FFFFFF"/>
                </a:solidFill>
                <a:latin typeface="Cambria" pitchFamily="34" charset="0"/>
                <a:ea typeface="Cambria" pitchFamily="34" charset="-122"/>
                <a:cs typeface="Cambria" pitchFamily="34" charset="-120"/>
              </a:rPr>
              <a:t>Concurrency and Synchronization</a:t>
            </a:r>
            <a:endParaRPr lang="en-US" sz="3200" dirty="0"/>
          </a:p>
        </p:txBody>
      </p:sp>
    </p:spTree>
    <p:extLst>
      <p:ext uri="{BB962C8B-B14F-4D97-AF65-F5344CB8AC3E}">
        <p14:creationId xmlns:p14="http://schemas.microsoft.com/office/powerpoint/2010/main" val="585743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51723" y="1875452"/>
            <a:ext cx="10168446" cy="3987705"/>
          </a:xfrm>
        </p:spPr>
        <p:txBody>
          <a:bodyPr>
            <a:normAutofit lnSpcReduction="10000"/>
          </a:bodyPr>
          <a:lstStyle/>
          <a:p>
            <a:pPr algn="just">
              <a:buFont typeface="Wingdings" panose="05000000000000000000" pitchFamily="2" charset="2"/>
              <a:buChar char="v"/>
            </a:pPr>
            <a:r>
              <a:rPr lang="en-US" dirty="0"/>
              <a:t>Concurrency in operating systems refers to the capability of an OS to handle more than one task or process at the same time, thereby enhancing efficiency and responsiveness. </a:t>
            </a:r>
          </a:p>
          <a:p>
            <a:pPr algn="just">
              <a:buFont typeface="Wingdings" panose="05000000000000000000" pitchFamily="2" charset="2"/>
              <a:buChar char="v"/>
            </a:pPr>
            <a:r>
              <a:rPr lang="en-US" dirty="0"/>
              <a:t>It may be supported by multi-threading or multi-processing whereby more than one process or threads are executed simultaneously or in an interleaved fashion.</a:t>
            </a:r>
          </a:p>
          <a:p>
            <a:pPr algn="just">
              <a:buFont typeface="Wingdings" panose="05000000000000000000" pitchFamily="2" charset="2"/>
              <a:buChar char="v"/>
            </a:pPr>
            <a:r>
              <a:rPr lang="en-US" dirty="0"/>
              <a:t>Concurrency in an operating system refers to the ability to execute multiple processes or threads simultaneously, improving resource utilization and system efficiency. </a:t>
            </a:r>
          </a:p>
          <a:p>
            <a:pPr algn="just">
              <a:buFont typeface="Wingdings" panose="05000000000000000000" pitchFamily="2" charset="2"/>
              <a:buChar char="v"/>
            </a:pPr>
            <a:r>
              <a:rPr lang="en-US" dirty="0"/>
              <a:t>It allows several tasks to be in progress at the same time, either by running on separate processors or through context switching on a single processor. </a:t>
            </a:r>
          </a:p>
          <a:p>
            <a:pPr algn="just">
              <a:buFont typeface="Wingdings" panose="05000000000000000000" pitchFamily="2" charset="2"/>
              <a:buChar char="v"/>
            </a:pPr>
            <a:r>
              <a:rPr lang="en-US" dirty="0"/>
              <a:t>Concurrency is essential in modern OS design to handle multitasking, increase system responsiveness, and optimize performance for users and applications.</a:t>
            </a:r>
            <a:endParaRPr lang="en-US" sz="2200"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4</a:t>
            </a:fld>
            <a:endParaRPr lang="en-IN" dirty="0"/>
          </a:p>
        </p:txBody>
      </p:sp>
      <p:sp>
        <p:nvSpPr>
          <p:cNvPr id="5" name="Rounded Rectangle 17">
            <a:extLst>
              <a:ext uri="{FF2B5EF4-FFF2-40B4-BE49-F238E27FC236}">
                <a16:creationId xmlns:a16="http://schemas.microsoft.com/office/drawing/2014/main" id="{9A6B482B-EB32-3C63-6E8E-5E9AF8576F39}"/>
              </a:ext>
            </a:extLst>
          </p:cNvPr>
          <p:cNvSpPr/>
          <p:nvPr/>
        </p:nvSpPr>
        <p:spPr>
          <a:xfrm>
            <a:off x="2641900" y="772099"/>
            <a:ext cx="6788092" cy="59290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FFFFFF"/>
                </a:solidFill>
                <a:latin typeface="Cambria" pitchFamily="34" charset="0"/>
                <a:ea typeface="Cambria" pitchFamily="34" charset="-122"/>
                <a:cs typeface="Cambria" pitchFamily="34" charset="-120"/>
              </a:rPr>
              <a:t>Concurrency</a:t>
            </a:r>
            <a:endParaRPr lang="en-US"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22394F-04FE-9C5C-C2F5-89F44393A6F1}"/>
              </a:ext>
            </a:extLst>
          </p:cNvPr>
          <p:cNvSpPr>
            <a:spLocks noGrp="1"/>
          </p:cNvSpPr>
          <p:nvPr>
            <p:ph idx="1"/>
          </p:nvPr>
        </p:nvSpPr>
        <p:spPr/>
        <p:txBody>
          <a:bodyPr/>
          <a:lstStyle/>
          <a:p>
            <a:pPr marL="0" indent="0" fontAlgn="base">
              <a:buNone/>
            </a:pPr>
            <a:r>
              <a:rPr lang="en-US" dirty="0"/>
              <a:t>There are several motivations for allowing concurrent execution:</a:t>
            </a:r>
          </a:p>
          <a:p>
            <a:pPr fontAlgn="base"/>
            <a:r>
              <a:rPr lang="en-US" b="1" dirty="0"/>
              <a:t>Physical resource Sharing: </a:t>
            </a:r>
            <a:r>
              <a:rPr lang="en-US" dirty="0"/>
              <a:t>Multiuser environment since hardware resources are limited</a:t>
            </a:r>
          </a:p>
          <a:p>
            <a:pPr fontAlgn="base"/>
            <a:r>
              <a:rPr lang="en-US" b="1" dirty="0"/>
              <a:t>Logical resource Sharing: </a:t>
            </a:r>
            <a:r>
              <a:rPr lang="en-US" dirty="0"/>
              <a:t>Shared file (same piece of information)</a:t>
            </a:r>
          </a:p>
          <a:p>
            <a:pPr fontAlgn="base"/>
            <a:r>
              <a:rPr lang="en-US" b="1" dirty="0"/>
              <a:t>Computation Speedup: </a:t>
            </a:r>
            <a:r>
              <a:rPr lang="en-US" dirty="0"/>
              <a:t>Parallel execution</a:t>
            </a:r>
          </a:p>
          <a:p>
            <a:pPr fontAlgn="base"/>
            <a:r>
              <a:rPr lang="en-US" b="1" dirty="0"/>
              <a:t>Modularity: </a:t>
            </a:r>
            <a:r>
              <a:rPr lang="en-US" dirty="0"/>
              <a:t>Divide system functions into separation processes</a:t>
            </a:r>
          </a:p>
          <a:p>
            <a:pPr marL="0" indent="0">
              <a:buNone/>
            </a:pPr>
            <a:endParaRPr lang="en-US" dirty="0"/>
          </a:p>
        </p:txBody>
      </p:sp>
      <p:sp>
        <p:nvSpPr>
          <p:cNvPr id="4" name="Slide Number Placeholder 3">
            <a:extLst>
              <a:ext uri="{FF2B5EF4-FFF2-40B4-BE49-F238E27FC236}">
                <a16:creationId xmlns:a16="http://schemas.microsoft.com/office/drawing/2014/main" id="{15AFCED7-A651-8691-A506-3B2AA1C5FCF5}"/>
              </a:ext>
            </a:extLst>
          </p:cNvPr>
          <p:cNvSpPr>
            <a:spLocks noGrp="1"/>
          </p:cNvSpPr>
          <p:nvPr>
            <p:ph type="sldNum" sz="quarter" idx="12"/>
          </p:nvPr>
        </p:nvSpPr>
        <p:spPr/>
        <p:txBody>
          <a:bodyPr/>
          <a:lstStyle/>
          <a:p>
            <a:fld id="{CBABCCC1-BF11-4F37-963E-1BCD5B23FD72}" type="slidenum">
              <a:rPr lang="en-IN" smtClean="0"/>
              <a:pPr/>
              <a:t>5</a:t>
            </a:fld>
            <a:endParaRPr lang="en-IN" dirty="0"/>
          </a:p>
        </p:txBody>
      </p:sp>
    </p:spTree>
    <p:extLst>
      <p:ext uri="{BB962C8B-B14F-4D97-AF65-F5344CB8AC3E}">
        <p14:creationId xmlns:p14="http://schemas.microsoft.com/office/powerpoint/2010/main" val="3418349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44E639-6221-3431-5F92-FDEC89A95500}"/>
              </a:ext>
            </a:extLst>
          </p:cNvPr>
          <p:cNvSpPr>
            <a:spLocks noGrp="1"/>
          </p:cNvSpPr>
          <p:nvPr>
            <p:ph idx="1"/>
          </p:nvPr>
        </p:nvSpPr>
        <p:spPr/>
        <p:txBody>
          <a:bodyPr/>
          <a:lstStyle/>
          <a:p>
            <a:r>
              <a:rPr lang="en-US" dirty="0"/>
              <a:t>What is a Process?</a:t>
            </a:r>
          </a:p>
          <a:p>
            <a:r>
              <a:rPr lang="en-US" dirty="0"/>
              <a:t>A </a:t>
            </a:r>
            <a:r>
              <a:rPr lang="en-US" b="1" dirty="0"/>
              <a:t>process</a:t>
            </a:r>
            <a:r>
              <a:rPr lang="en-US" dirty="0"/>
              <a:t> is an active program in execution − more than just program code. It includes the program counter, process stack, registers, and program code. When a program is executed, the operating system creates a process that encompasses all resources needed for execution.</a:t>
            </a:r>
          </a:p>
          <a:p>
            <a:r>
              <a:rPr lang="en-US" dirty="0"/>
              <a:t>Each process has its own </a:t>
            </a:r>
            <a:r>
              <a:rPr lang="en-US" b="1" dirty="0"/>
              <a:t>isolated memory space</a:t>
            </a:r>
            <a:r>
              <a:rPr lang="en-US" dirty="0"/>
              <a:t> and does not share this space with other processes. This isolation provides security and stability − if one process crashes, it doesn't affect others.</a:t>
            </a:r>
          </a:p>
          <a:p>
            <a:pPr marL="0" indent="0">
              <a:buNone/>
            </a:pPr>
            <a:endParaRPr lang="en-US" dirty="0"/>
          </a:p>
        </p:txBody>
      </p:sp>
      <p:sp>
        <p:nvSpPr>
          <p:cNvPr id="4" name="Slide Number Placeholder 3">
            <a:extLst>
              <a:ext uri="{FF2B5EF4-FFF2-40B4-BE49-F238E27FC236}">
                <a16:creationId xmlns:a16="http://schemas.microsoft.com/office/drawing/2014/main" id="{B2857288-2FDE-2316-A803-F73F829D1725}"/>
              </a:ext>
            </a:extLst>
          </p:cNvPr>
          <p:cNvSpPr>
            <a:spLocks noGrp="1"/>
          </p:cNvSpPr>
          <p:nvPr>
            <p:ph type="sldNum" sz="quarter" idx="12"/>
          </p:nvPr>
        </p:nvSpPr>
        <p:spPr/>
        <p:txBody>
          <a:bodyPr/>
          <a:lstStyle/>
          <a:p>
            <a:fld id="{CBABCCC1-BF11-4F37-963E-1BCD5B23FD72}" type="slidenum">
              <a:rPr lang="en-IN" smtClean="0"/>
              <a:pPr/>
              <a:t>6</a:t>
            </a:fld>
            <a:endParaRPr lang="en-IN" dirty="0"/>
          </a:p>
        </p:txBody>
      </p:sp>
      <p:sp>
        <p:nvSpPr>
          <p:cNvPr id="5" name="Rounded Rectangle 17">
            <a:extLst>
              <a:ext uri="{FF2B5EF4-FFF2-40B4-BE49-F238E27FC236}">
                <a16:creationId xmlns:a16="http://schemas.microsoft.com/office/drawing/2014/main" id="{6BE8EFA9-4DAE-A7EB-F3AB-5D32F7D3A5F6}"/>
              </a:ext>
            </a:extLst>
          </p:cNvPr>
          <p:cNvSpPr/>
          <p:nvPr/>
        </p:nvSpPr>
        <p:spPr>
          <a:xfrm>
            <a:off x="1270446" y="1190938"/>
            <a:ext cx="6788092" cy="59290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FFFFFF"/>
                </a:solidFill>
                <a:latin typeface="Cambria" pitchFamily="34" charset="0"/>
                <a:ea typeface="Cambria" pitchFamily="34" charset="-122"/>
                <a:cs typeface="Cambria" pitchFamily="34" charset="-120"/>
              </a:rPr>
              <a:t>Process</a:t>
            </a:r>
            <a:endParaRPr lang="en-US" sz="3200" dirty="0"/>
          </a:p>
        </p:txBody>
      </p:sp>
      <p:sp>
        <p:nvSpPr>
          <p:cNvPr id="6" name="Rounded Rectangle 17">
            <a:extLst>
              <a:ext uri="{FF2B5EF4-FFF2-40B4-BE49-F238E27FC236}">
                <a16:creationId xmlns:a16="http://schemas.microsoft.com/office/drawing/2014/main" id="{75417854-C96D-E582-EDD0-24A054C4DC7B}"/>
              </a:ext>
            </a:extLst>
          </p:cNvPr>
          <p:cNvSpPr/>
          <p:nvPr/>
        </p:nvSpPr>
        <p:spPr>
          <a:xfrm>
            <a:off x="2595393" y="95668"/>
            <a:ext cx="6788092" cy="59290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t>Threads and Processes</a:t>
            </a:r>
            <a:endParaRPr lang="en-US" sz="3200" dirty="0"/>
          </a:p>
        </p:txBody>
      </p:sp>
    </p:spTree>
    <p:extLst>
      <p:ext uri="{BB962C8B-B14F-4D97-AF65-F5344CB8AC3E}">
        <p14:creationId xmlns:p14="http://schemas.microsoft.com/office/powerpoint/2010/main" val="2510029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9F2587-731A-FAAC-B29A-96B7544B37E2}"/>
              </a:ext>
            </a:extLst>
          </p:cNvPr>
          <p:cNvSpPr>
            <a:spLocks noGrp="1"/>
          </p:cNvSpPr>
          <p:nvPr>
            <p:ph idx="1"/>
          </p:nvPr>
        </p:nvSpPr>
        <p:spPr>
          <a:xfrm>
            <a:off x="1451579" y="2015732"/>
            <a:ext cx="9603275" cy="4037749"/>
          </a:xfrm>
        </p:spPr>
        <p:txBody>
          <a:bodyPr>
            <a:normAutofit fontScale="92500" lnSpcReduction="10000"/>
          </a:bodyPr>
          <a:lstStyle/>
          <a:p>
            <a:pPr marL="0" indent="0" fontAlgn="base">
              <a:buNone/>
            </a:pPr>
            <a:r>
              <a:rPr lang="en-US" dirty="0"/>
              <a:t>A Process is a program in execution.</a:t>
            </a:r>
          </a:p>
          <a:p>
            <a:pPr marL="0" indent="0" fontAlgn="base">
              <a:buNone/>
            </a:pPr>
            <a:r>
              <a:rPr lang="en-US" dirty="0"/>
              <a:t>The Processes executing in the operating system is one of the following two types:</a:t>
            </a:r>
          </a:p>
          <a:p>
            <a:pPr fontAlgn="base">
              <a:buFont typeface="Wingdings" panose="05000000000000000000" pitchFamily="2" charset="2"/>
              <a:buChar char="Ø"/>
            </a:pPr>
            <a:r>
              <a:rPr lang="en-US" dirty="0"/>
              <a:t>Independent Processes</a:t>
            </a:r>
          </a:p>
          <a:p>
            <a:pPr fontAlgn="base">
              <a:buFont typeface="Wingdings" panose="05000000000000000000" pitchFamily="2" charset="2"/>
              <a:buChar char="Ø"/>
            </a:pPr>
            <a:r>
              <a:rPr lang="en-US" dirty="0"/>
              <a:t>Cooperating Processes</a:t>
            </a:r>
          </a:p>
          <a:p>
            <a:pPr marL="0" indent="0" fontAlgn="base">
              <a:buNone/>
            </a:pPr>
            <a:r>
              <a:rPr lang="en-US" b="1" dirty="0"/>
              <a:t>Independent Processes</a:t>
            </a:r>
          </a:p>
          <a:p>
            <a:pPr fontAlgn="base">
              <a:buFont typeface="Wingdings" panose="05000000000000000000" pitchFamily="2" charset="2"/>
              <a:buChar char="v"/>
            </a:pPr>
            <a:r>
              <a:rPr lang="en-US" dirty="0"/>
              <a:t>Its state is not shared with any other process.</a:t>
            </a:r>
          </a:p>
          <a:p>
            <a:pPr fontAlgn="base">
              <a:buFont typeface="Wingdings" panose="05000000000000000000" pitchFamily="2" charset="2"/>
              <a:buChar char="v"/>
            </a:pPr>
            <a:r>
              <a:rPr lang="en-US" dirty="0"/>
              <a:t>The result of execution depends only on the input state.</a:t>
            </a:r>
          </a:p>
          <a:p>
            <a:pPr fontAlgn="base">
              <a:buFont typeface="Wingdings" panose="05000000000000000000" pitchFamily="2" charset="2"/>
              <a:buChar char="v"/>
            </a:pPr>
            <a:r>
              <a:rPr lang="en-US" dirty="0"/>
              <a:t>The result of the execution will always be the same for the same input.</a:t>
            </a:r>
          </a:p>
          <a:p>
            <a:pPr fontAlgn="base">
              <a:buFont typeface="Wingdings" panose="05000000000000000000" pitchFamily="2" charset="2"/>
              <a:buChar char="v"/>
            </a:pPr>
            <a:r>
              <a:rPr lang="en-US" dirty="0"/>
              <a:t>The termination of the independent process will not terminate any other.</a:t>
            </a:r>
          </a:p>
          <a:p>
            <a:pPr marL="0" indent="0">
              <a:buNone/>
            </a:pPr>
            <a:endParaRPr lang="en-US" dirty="0"/>
          </a:p>
        </p:txBody>
      </p:sp>
      <p:sp>
        <p:nvSpPr>
          <p:cNvPr id="4" name="Slide Number Placeholder 3">
            <a:extLst>
              <a:ext uri="{FF2B5EF4-FFF2-40B4-BE49-F238E27FC236}">
                <a16:creationId xmlns:a16="http://schemas.microsoft.com/office/drawing/2014/main" id="{DBC21890-CC5F-9293-6B62-830A516D332C}"/>
              </a:ext>
            </a:extLst>
          </p:cNvPr>
          <p:cNvSpPr>
            <a:spLocks noGrp="1"/>
          </p:cNvSpPr>
          <p:nvPr>
            <p:ph type="sldNum" sz="quarter" idx="12"/>
          </p:nvPr>
        </p:nvSpPr>
        <p:spPr/>
        <p:txBody>
          <a:bodyPr/>
          <a:lstStyle/>
          <a:p>
            <a:fld id="{CBABCCC1-BF11-4F37-963E-1BCD5B23FD72}" type="slidenum">
              <a:rPr lang="en-IN" smtClean="0"/>
              <a:pPr/>
              <a:t>7</a:t>
            </a:fld>
            <a:endParaRPr lang="en-IN" dirty="0"/>
          </a:p>
        </p:txBody>
      </p:sp>
    </p:spTree>
    <p:extLst>
      <p:ext uri="{BB962C8B-B14F-4D97-AF65-F5344CB8AC3E}">
        <p14:creationId xmlns:p14="http://schemas.microsoft.com/office/powerpoint/2010/main" val="12038267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E57786-4463-8CAC-2373-61D8AE1DA4A1}"/>
              </a:ext>
            </a:extLst>
          </p:cNvPr>
          <p:cNvSpPr>
            <a:spLocks noGrp="1"/>
          </p:cNvSpPr>
          <p:nvPr>
            <p:ph idx="1"/>
          </p:nvPr>
        </p:nvSpPr>
        <p:spPr/>
        <p:txBody>
          <a:bodyPr/>
          <a:lstStyle/>
          <a:p>
            <a:pPr marL="0" indent="0" fontAlgn="base">
              <a:buNone/>
            </a:pPr>
            <a:r>
              <a:rPr lang="en-US" b="1" dirty="0"/>
              <a:t>Cooperating Processes</a:t>
            </a:r>
          </a:p>
          <a:p>
            <a:pPr fontAlgn="base">
              <a:buFont typeface="Wingdings" panose="05000000000000000000" pitchFamily="2" charset="2"/>
              <a:buChar char="v"/>
            </a:pPr>
            <a:r>
              <a:rPr lang="en-US" dirty="0"/>
              <a:t>Its state is shared along other processes.</a:t>
            </a:r>
          </a:p>
          <a:p>
            <a:pPr fontAlgn="base">
              <a:buFont typeface="Wingdings" panose="05000000000000000000" pitchFamily="2" charset="2"/>
              <a:buChar char="v"/>
            </a:pPr>
            <a:r>
              <a:rPr lang="en-US" dirty="0"/>
              <a:t>The result of the execution depends on relative execution sequence and cannot be predicted in advanced(Non-deterministic).</a:t>
            </a:r>
          </a:p>
          <a:p>
            <a:pPr fontAlgn="base">
              <a:buFont typeface="Wingdings" panose="05000000000000000000" pitchFamily="2" charset="2"/>
              <a:buChar char="v"/>
            </a:pPr>
            <a:r>
              <a:rPr lang="en-US" dirty="0"/>
              <a:t>The result of the execution will not always be the same for the same input.</a:t>
            </a:r>
          </a:p>
          <a:p>
            <a:pPr fontAlgn="base">
              <a:buFont typeface="Wingdings" panose="05000000000000000000" pitchFamily="2" charset="2"/>
              <a:buChar char="v"/>
            </a:pPr>
            <a:r>
              <a:rPr lang="en-US" dirty="0"/>
              <a:t>The termination of the cooperating process may affect other process.</a:t>
            </a:r>
          </a:p>
          <a:p>
            <a:endParaRPr lang="en-US" dirty="0"/>
          </a:p>
        </p:txBody>
      </p:sp>
      <p:sp>
        <p:nvSpPr>
          <p:cNvPr id="4" name="Slide Number Placeholder 3">
            <a:extLst>
              <a:ext uri="{FF2B5EF4-FFF2-40B4-BE49-F238E27FC236}">
                <a16:creationId xmlns:a16="http://schemas.microsoft.com/office/drawing/2014/main" id="{8F61C97A-C7C7-AE18-3C9E-F6578AB7B817}"/>
              </a:ext>
            </a:extLst>
          </p:cNvPr>
          <p:cNvSpPr>
            <a:spLocks noGrp="1"/>
          </p:cNvSpPr>
          <p:nvPr>
            <p:ph type="sldNum" sz="quarter" idx="12"/>
          </p:nvPr>
        </p:nvSpPr>
        <p:spPr/>
        <p:txBody>
          <a:bodyPr/>
          <a:lstStyle/>
          <a:p>
            <a:fld id="{CBABCCC1-BF11-4F37-963E-1BCD5B23FD72}" type="slidenum">
              <a:rPr lang="en-IN" smtClean="0"/>
              <a:pPr/>
              <a:t>8</a:t>
            </a:fld>
            <a:endParaRPr lang="en-IN" dirty="0"/>
          </a:p>
        </p:txBody>
      </p:sp>
    </p:spTree>
    <p:extLst>
      <p:ext uri="{BB962C8B-B14F-4D97-AF65-F5344CB8AC3E}">
        <p14:creationId xmlns:p14="http://schemas.microsoft.com/office/powerpoint/2010/main" val="41859022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A26230-EB8A-17E3-0808-9D9C6A3D9E29}"/>
              </a:ext>
            </a:extLst>
          </p:cNvPr>
          <p:cNvSpPr>
            <a:spLocks noGrp="1"/>
          </p:cNvSpPr>
          <p:nvPr>
            <p:ph idx="1"/>
          </p:nvPr>
        </p:nvSpPr>
        <p:spPr/>
        <p:txBody>
          <a:bodyPr>
            <a:normAutofit/>
          </a:bodyPr>
          <a:lstStyle/>
          <a:p>
            <a:pPr>
              <a:buFont typeface="Wingdings" panose="05000000000000000000" pitchFamily="2" charset="2"/>
              <a:buChar char="Ø"/>
            </a:pPr>
            <a:r>
              <a:rPr lang="en-US" dirty="0"/>
              <a:t>A </a:t>
            </a:r>
            <a:r>
              <a:rPr lang="en-US" b="1" dirty="0"/>
              <a:t>thread</a:t>
            </a:r>
            <a:r>
              <a:rPr lang="en-US" dirty="0"/>
              <a:t> is a lightweight subprocess that can be scheduled independently. It's often called a "lightweight process" because it requires fewer resources than a full process. Threads enable parallelism within a single application, improving performance.</a:t>
            </a:r>
          </a:p>
          <a:p>
            <a:pPr marL="0" indent="0">
              <a:buNone/>
            </a:pPr>
            <a:r>
              <a:rPr lang="en-US" dirty="0"/>
              <a:t>Threads within the same process share:</a:t>
            </a:r>
          </a:p>
          <a:p>
            <a:pPr>
              <a:buFont typeface="Wingdings" panose="05000000000000000000" pitchFamily="2" charset="2"/>
              <a:buChar char="ü"/>
            </a:pPr>
            <a:r>
              <a:rPr lang="en-US" dirty="0"/>
              <a:t>Code segment and data segment</a:t>
            </a:r>
          </a:p>
          <a:p>
            <a:pPr>
              <a:buFont typeface="Wingdings" panose="05000000000000000000" pitchFamily="2" charset="2"/>
              <a:buChar char="ü"/>
            </a:pPr>
            <a:r>
              <a:rPr lang="en-US" dirty="0"/>
              <a:t>Heap memory and global variables</a:t>
            </a:r>
          </a:p>
          <a:p>
            <a:pPr>
              <a:buFont typeface="Wingdings" panose="05000000000000000000" pitchFamily="2" charset="2"/>
              <a:buChar char="ü"/>
            </a:pPr>
            <a:r>
              <a:rPr lang="en-US" dirty="0"/>
              <a:t>File descriptors and system resources</a:t>
            </a:r>
          </a:p>
          <a:p>
            <a:endParaRPr lang="en-US" dirty="0"/>
          </a:p>
        </p:txBody>
      </p:sp>
      <p:sp>
        <p:nvSpPr>
          <p:cNvPr id="4" name="Slide Number Placeholder 3">
            <a:extLst>
              <a:ext uri="{FF2B5EF4-FFF2-40B4-BE49-F238E27FC236}">
                <a16:creationId xmlns:a16="http://schemas.microsoft.com/office/drawing/2014/main" id="{B4A824E3-72A2-DAAA-FFE4-C913AB2F0244}"/>
              </a:ext>
            </a:extLst>
          </p:cNvPr>
          <p:cNvSpPr>
            <a:spLocks noGrp="1"/>
          </p:cNvSpPr>
          <p:nvPr>
            <p:ph type="sldNum" sz="quarter" idx="12"/>
          </p:nvPr>
        </p:nvSpPr>
        <p:spPr/>
        <p:txBody>
          <a:bodyPr/>
          <a:lstStyle/>
          <a:p>
            <a:fld id="{CBABCCC1-BF11-4F37-963E-1BCD5B23FD72}" type="slidenum">
              <a:rPr lang="en-IN" smtClean="0"/>
              <a:pPr/>
              <a:t>9</a:t>
            </a:fld>
            <a:endParaRPr lang="en-IN" dirty="0"/>
          </a:p>
        </p:txBody>
      </p:sp>
      <p:pic>
        <p:nvPicPr>
          <p:cNvPr id="6" name="Picture 5">
            <a:extLst>
              <a:ext uri="{FF2B5EF4-FFF2-40B4-BE49-F238E27FC236}">
                <a16:creationId xmlns:a16="http://schemas.microsoft.com/office/drawing/2014/main" id="{40B8B039-ADFC-183D-1C13-354B68537E4B}"/>
              </a:ext>
            </a:extLst>
          </p:cNvPr>
          <p:cNvPicPr>
            <a:picLocks noChangeAspect="1"/>
          </p:cNvPicPr>
          <p:nvPr/>
        </p:nvPicPr>
        <p:blipFill>
          <a:blip r:embed="rId2"/>
          <a:stretch>
            <a:fillRect/>
          </a:stretch>
        </p:blipFill>
        <p:spPr>
          <a:xfrm>
            <a:off x="6652727" y="3701175"/>
            <a:ext cx="4621832" cy="2139788"/>
          </a:xfrm>
          <a:prstGeom prst="rect">
            <a:avLst/>
          </a:prstGeom>
        </p:spPr>
      </p:pic>
      <p:sp>
        <p:nvSpPr>
          <p:cNvPr id="5" name="Rounded Rectangle 17">
            <a:extLst>
              <a:ext uri="{FF2B5EF4-FFF2-40B4-BE49-F238E27FC236}">
                <a16:creationId xmlns:a16="http://schemas.microsoft.com/office/drawing/2014/main" id="{4104DC85-CE86-6DBB-F2F1-AF6B2A8DF0EA}"/>
              </a:ext>
            </a:extLst>
          </p:cNvPr>
          <p:cNvSpPr/>
          <p:nvPr/>
        </p:nvSpPr>
        <p:spPr>
          <a:xfrm>
            <a:off x="3573624" y="1017037"/>
            <a:ext cx="4749282" cy="7668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rgbClr val="FFFFFF"/>
                </a:solidFill>
                <a:latin typeface="Cambria" pitchFamily="34" charset="0"/>
                <a:ea typeface="Cambria" pitchFamily="34" charset="-122"/>
                <a:cs typeface="Cambria" pitchFamily="34" charset="-120"/>
              </a:rPr>
              <a:t>Thread</a:t>
            </a:r>
            <a:endParaRPr lang="en-US" sz="3200" dirty="0"/>
          </a:p>
        </p:txBody>
      </p:sp>
    </p:spTree>
    <p:extLst>
      <p:ext uri="{BB962C8B-B14F-4D97-AF65-F5344CB8AC3E}">
        <p14:creationId xmlns:p14="http://schemas.microsoft.com/office/powerpoint/2010/main" val="115061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7FAF8-7BF9-F0DB-4246-F91D7976C240}"/>
              </a:ext>
            </a:extLst>
          </p:cNvPr>
          <p:cNvSpPr>
            <a:spLocks noGrp="1"/>
          </p:cNvSpPr>
          <p:nvPr>
            <p:ph type="title"/>
          </p:nvPr>
        </p:nvSpPr>
        <p:spPr>
          <a:xfrm>
            <a:off x="1451579" y="804520"/>
            <a:ext cx="9603275" cy="376076"/>
          </a:xfrm>
        </p:spPr>
        <p:txBody>
          <a:bodyPr>
            <a:normAutofit fontScale="90000"/>
          </a:bodyPr>
          <a:lstStyle/>
          <a:p>
            <a:pPr algn="ctr"/>
            <a:r>
              <a:rPr lang="en-US" sz="2400" dirty="0"/>
              <a:t>Differences between PROCESS AND THREAD</a:t>
            </a:r>
          </a:p>
        </p:txBody>
      </p:sp>
      <p:sp>
        <p:nvSpPr>
          <p:cNvPr id="4" name="Slide Number Placeholder 3">
            <a:extLst>
              <a:ext uri="{FF2B5EF4-FFF2-40B4-BE49-F238E27FC236}">
                <a16:creationId xmlns:a16="http://schemas.microsoft.com/office/drawing/2014/main" id="{BD282D29-9535-06A9-FD05-0D52BFE14A00}"/>
              </a:ext>
            </a:extLst>
          </p:cNvPr>
          <p:cNvSpPr>
            <a:spLocks noGrp="1"/>
          </p:cNvSpPr>
          <p:nvPr>
            <p:ph type="sldNum" sz="quarter" idx="12"/>
          </p:nvPr>
        </p:nvSpPr>
        <p:spPr/>
        <p:txBody>
          <a:bodyPr/>
          <a:lstStyle/>
          <a:p>
            <a:fld id="{CBABCCC1-BF11-4F37-963E-1BCD5B23FD72}" type="slidenum">
              <a:rPr lang="en-IN" smtClean="0"/>
              <a:pPr/>
              <a:t>10</a:t>
            </a:fld>
            <a:endParaRPr lang="en-IN" dirty="0"/>
          </a:p>
        </p:txBody>
      </p:sp>
      <p:graphicFrame>
        <p:nvGraphicFramePr>
          <p:cNvPr id="9" name="Content Placeholder 8">
            <a:extLst>
              <a:ext uri="{FF2B5EF4-FFF2-40B4-BE49-F238E27FC236}">
                <a16:creationId xmlns:a16="http://schemas.microsoft.com/office/drawing/2014/main" id="{AFB50D9B-314B-A542-E20F-29D7AE531128}"/>
              </a:ext>
            </a:extLst>
          </p:cNvPr>
          <p:cNvGraphicFramePr>
            <a:graphicFrameLocks noGrp="1"/>
          </p:cNvGraphicFramePr>
          <p:nvPr>
            <p:ph idx="1"/>
            <p:extLst>
              <p:ext uri="{D42A27DB-BD31-4B8C-83A1-F6EECF244321}">
                <p14:modId xmlns:p14="http://schemas.microsoft.com/office/powerpoint/2010/main" val="1520630876"/>
              </p:ext>
            </p:extLst>
          </p:nvPr>
        </p:nvGraphicFramePr>
        <p:xfrm>
          <a:off x="839755" y="1418252"/>
          <a:ext cx="10851502" cy="4635230"/>
        </p:xfrm>
        <a:graphic>
          <a:graphicData uri="http://schemas.openxmlformats.org/drawingml/2006/table">
            <a:tbl>
              <a:tblPr/>
              <a:tblGrid>
                <a:gridCol w="2763970">
                  <a:extLst>
                    <a:ext uri="{9D8B030D-6E8A-4147-A177-3AD203B41FA5}">
                      <a16:colId xmlns:a16="http://schemas.microsoft.com/office/drawing/2014/main" val="1217545211"/>
                    </a:ext>
                  </a:extLst>
                </a:gridCol>
                <a:gridCol w="4165419">
                  <a:extLst>
                    <a:ext uri="{9D8B030D-6E8A-4147-A177-3AD203B41FA5}">
                      <a16:colId xmlns:a16="http://schemas.microsoft.com/office/drawing/2014/main" val="151348029"/>
                    </a:ext>
                  </a:extLst>
                </a:gridCol>
                <a:gridCol w="3922113">
                  <a:extLst>
                    <a:ext uri="{9D8B030D-6E8A-4147-A177-3AD203B41FA5}">
                      <a16:colId xmlns:a16="http://schemas.microsoft.com/office/drawing/2014/main" val="3470959597"/>
                    </a:ext>
                  </a:extLst>
                </a:gridCol>
              </a:tblGrid>
              <a:tr h="297712">
                <a:tc>
                  <a:txBody>
                    <a:bodyPr/>
                    <a:lstStyle/>
                    <a:p>
                      <a:pPr marL="0" marR="0" algn="ctr">
                        <a:buNone/>
                      </a:pPr>
                      <a:r>
                        <a:rPr lang="en-US" sz="1000" b="1" i="0" dirty="0">
                          <a:solidFill>
                            <a:srgbClr val="374151"/>
                          </a:solidFill>
                          <a:effectLst/>
                          <a:latin typeface="Verdana" panose="020B0604030504040204" pitchFamily="34" charset="0"/>
                        </a:rPr>
                        <a:t>Aspect</a:t>
                      </a:r>
                    </a:p>
                  </a:txBody>
                  <a:tcPr marL="74789" marR="74789" marT="49859" marB="49859"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8FAFC"/>
                    </a:solidFill>
                  </a:tcPr>
                </a:tc>
                <a:tc>
                  <a:txBody>
                    <a:bodyPr/>
                    <a:lstStyle/>
                    <a:p>
                      <a:pPr marL="0" marR="0" algn="ctr">
                        <a:buNone/>
                      </a:pPr>
                      <a:r>
                        <a:rPr lang="en-US" sz="1000" b="1" i="0" dirty="0">
                          <a:solidFill>
                            <a:srgbClr val="374151"/>
                          </a:solidFill>
                          <a:effectLst/>
                          <a:latin typeface="Verdana" panose="020B0604030504040204" pitchFamily="34" charset="0"/>
                        </a:rPr>
                        <a:t>Process</a:t>
                      </a:r>
                    </a:p>
                  </a:txBody>
                  <a:tcPr marL="74789" marR="74789" marT="49859" marB="49859"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8FAFC"/>
                    </a:solidFill>
                  </a:tcPr>
                </a:tc>
                <a:tc>
                  <a:txBody>
                    <a:bodyPr/>
                    <a:lstStyle/>
                    <a:p>
                      <a:pPr marL="0" marR="0" algn="ctr">
                        <a:buNone/>
                      </a:pPr>
                      <a:r>
                        <a:rPr lang="en-US" sz="1000" b="1" i="0" dirty="0">
                          <a:solidFill>
                            <a:srgbClr val="374151"/>
                          </a:solidFill>
                          <a:effectLst/>
                          <a:latin typeface="Verdana" panose="020B0604030504040204" pitchFamily="34" charset="0"/>
                        </a:rPr>
                        <a:t>Thread</a:t>
                      </a:r>
                    </a:p>
                  </a:txBody>
                  <a:tcPr marL="74789" marR="74789" marT="49859" marB="49859"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2596956262"/>
                  </a:ext>
                </a:extLst>
              </a:tr>
              <a:tr h="623682">
                <a:tc>
                  <a:txBody>
                    <a:bodyPr/>
                    <a:lstStyle/>
                    <a:p>
                      <a:pPr marL="0" marR="0" algn="ctr">
                        <a:buNone/>
                      </a:pPr>
                      <a:r>
                        <a:rPr lang="en-US" sz="1000" b="1" i="0" dirty="0">
                          <a:solidFill>
                            <a:srgbClr val="374151"/>
                          </a:solidFill>
                          <a:effectLst/>
                          <a:latin typeface="Verdana" panose="020B0604030504040204" pitchFamily="34" charset="0"/>
                        </a:rPr>
                        <a:t>Definition</a:t>
                      </a:r>
                      <a:endParaRPr lang="en-US" sz="1000" b="0" i="0" dirty="0">
                        <a:solidFill>
                          <a:srgbClr val="374151"/>
                        </a:solidFill>
                        <a:effectLst/>
                        <a:latin typeface="Verdana" panose="020B0604030504040204" pitchFamily="34" charset="0"/>
                      </a:endParaRPr>
                    </a:p>
                  </a:txBody>
                  <a:tcPr marL="74789" marR="74789" marT="49859" marB="49859"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marL="0" marR="0" algn="ctr">
                        <a:buNone/>
                      </a:pPr>
                      <a:r>
                        <a:rPr lang="en-US" sz="1000" b="0" i="0" dirty="0">
                          <a:solidFill>
                            <a:srgbClr val="374151"/>
                          </a:solidFill>
                          <a:effectLst/>
                          <a:latin typeface="Verdana" panose="020B0604030504040204" pitchFamily="34" charset="0"/>
                        </a:rPr>
                        <a:t>Active program with independent resources</a:t>
                      </a:r>
                    </a:p>
                  </a:txBody>
                  <a:tcPr marL="74789" marR="74789" marT="49859" marB="49859"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marL="0" marR="0" algn="ctr">
                        <a:buNone/>
                      </a:pPr>
                      <a:r>
                        <a:rPr lang="en-US" sz="1000" b="0" i="0" dirty="0">
                          <a:solidFill>
                            <a:srgbClr val="374151"/>
                          </a:solidFill>
                          <a:effectLst/>
                          <a:latin typeface="Verdana" panose="020B0604030504040204" pitchFamily="34" charset="0"/>
                        </a:rPr>
                        <a:t>Lightweight subprocess within a process</a:t>
                      </a:r>
                    </a:p>
                  </a:txBody>
                  <a:tcPr marL="74789" marR="74789" marT="49859" marB="49859"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2060516752"/>
                  </a:ext>
                </a:extLst>
              </a:tr>
              <a:tr h="461479">
                <a:tc>
                  <a:txBody>
                    <a:bodyPr/>
                    <a:lstStyle/>
                    <a:p>
                      <a:pPr marL="0" marR="0" algn="ctr">
                        <a:buNone/>
                      </a:pPr>
                      <a:r>
                        <a:rPr lang="en-US" sz="1000" b="1" i="0" dirty="0">
                          <a:solidFill>
                            <a:srgbClr val="374151"/>
                          </a:solidFill>
                          <a:effectLst/>
                          <a:latin typeface="Verdana" panose="020B0604030504040204" pitchFamily="34" charset="0"/>
                        </a:rPr>
                        <a:t>Memory Sharing</a:t>
                      </a:r>
                      <a:endParaRPr lang="en-US" sz="1000" b="0" i="0" dirty="0">
                        <a:solidFill>
                          <a:srgbClr val="374151"/>
                        </a:solidFill>
                        <a:effectLst/>
                        <a:latin typeface="Verdana" panose="020B0604030504040204" pitchFamily="34" charset="0"/>
                      </a:endParaRPr>
                    </a:p>
                  </a:txBody>
                  <a:tcPr marL="74789" marR="74789" marT="49859" marB="49859"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marL="0" marR="0" algn="ctr">
                        <a:buNone/>
                      </a:pPr>
                      <a:r>
                        <a:rPr lang="en-US" sz="1000" b="0" i="0" dirty="0">
                          <a:solidFill>
                            <a:srgbClr val="374151"/>
                          </a:solidFill>
                          <a:effectLst/>
                          <a:latin typeface="Verdana" panose="020B0604030504040204" pitchFamily="34" charset="0"/>
                        </a:rPr>
                        <a:t>Isolated memory space</a:t>
                      </a:r>
                    </a:p>
                  </a:txBody>
                  <a:tcPr marL="74789" marR="74789" marT="49859" marB="49859"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marL="0" marR="0" algn="ctr">
                        <a:buNone/>
                      </a:pPr>
                      <a:r>
                        <a:rPr lang="en-US" sz="1000" b="0" i="0" dirty="0">
                          <a:solidFill>
                            <a:srgbClr val="374151"/>
                          </a:solidFill>
                          <a:effectLst/>
                          <a:latin typeface="Verdana" panose="020B0604030504040204" pitchFamily="34" charset="0"/>
                        </a:rPr>
                        <a:t>Shares code, data, and heap with peer threads</a:t>
                      </a:r>
                    </a:p>
                  </a:txBody>
                  <a:tcPr marL="74789" marR="74789" marT="49859" marB="49859"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2398448101"/>
                  </a:ext>
                </a:extLst>
              </a:tr>
              <a:tr h="623682">
                <a:tc>
                  <a:txBody>
                    <a:bodyPr/>
                    <a:lstStyle/>
                    <a:p>
                      <a:pPr marL="0" marR="0" algn="ctr">
                        <a:buNone/>
                      </a:pPr>
                      <a:r>
                        <a:rPr lang="en-US" sz="1000" b="1" i="0" dirty="0">
                          <a:solidFill>
                            <a:srgbClr val="374151"/>
                          </a:solidFill>
                          <a:effectLst/>
                          <a:latin typeface="Verdana" panose="020B0604030504040204" pitchFamily="34" charset="0"/>
                        </a:rPr>
                        <a:t>Context Switching</a:t>
                      </a:r>
                      <a:endParaRPr lang="en-US" sz="1000" b="0" i="0" dirty="0">
                        <a:solidFill>
                          <a:srgbClr val="374151"/>
                        </a:solidFill>
                        <a:effectLst/>
                        <a:latin typeface="Verdana" panose="020B0604030504040204" pitchFamily="34" charset="0"/>
                      </a:endParaRPr>
                    </a:p>
                  </a:txBody>
                  <a:tcPr marL="74789" marR="74789" marT="49859" marB="49859"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marL="0" marR="0" algn="ctr">
                        <a:buNone/>
                      </a:pPr>
                      <a:r>
                        <a:rPr lang="en-US" sz="1000" b="0" i="0" dirty="0">
                          <a:solidFill>
                            <a:srgbClr val="374151"/>
                          </a:solidFill>
                          <a:effectLst/>
                          <a:latin typeface="Verdana" panose="020B0604030504040204" pitchFamily="34" charset="0"/>
                        </a:rPr>
                        <a:t>Higher overhead (save/restore all resources)</a:t>
                      </a:r>
                    </a:p>
                  </a:txBody>
                  <a:tcPr marL="74789" marR="74789" marT="49859" marB="49859"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marL="0" marR="0" algn="ctr">
                        <a:buNone/>
                      </a:pPr>
                      <a:r>
                        <a:rPr lang="en-US" sz="1000" b="0" i="0" dirty="0">
                          <a:solidFill>
                            <a:srgbClr val="374151"/>
                          </a:solidFill>
                          <a:effectLst/>
                          <a:latin typeface="Verdana" panose="020B0604030504040204" pitchFamily="34" charset="0"/>
                        </a:rPr>
                        <a:t>Lower overhead (only registers and stack)</a:t>
                      </a:r>
                    </a:p>
                  </a:txBody>
                  <a:tcPr marL="74789" marR="74789" marT="49859" marB="49859"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484557725"/>
                  </a:ext>
                </a:extLst>
              </a:tr>
              <a:tr h="623682">
                <a:tc>
                  <a:txBody>
                    <a:bodyPr/>
                    <a:lstStyle/>
                    <a:p>
                      <a:pPr marL="0" marR="0" algn="ctr">
                        <a:buNone/>
                      </a:pPr>
                      <a:r>
                        <a:rPr lang="en-US" sz="1000" b="1" i="0" dirty="0">
                          <a:solidFill>
                            <a:srgbClr val="374151"/>
                          </a:solidFill>
                          <a:effectLst/>
                          <a:latin typeface="Verdana" panose="020B0604030504040204" pitchFamily="34" charset="0"/>
                        </a:rPr>
                        <a:t>Communication</a:t>
                      </a:r>
                      <a:endParaRPr lang="en-US" sz="1000" b="0" i="0" dirty="0">
                        <a:solidFill>
                          <a:srgbClr val="374151"/>
                        </a:solidFill>
                        <a:effectLst/>
                        <a:latin typeface="Verdana" panose="020B0604030504040204" pitchFamily="34" charset="0"/>
                      </a:endParaRPr>
                    </a:p>
                  </a:txBody>
                  <a:tcPr marL="74789" marR="74789" marT="49859" marB="49859"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marL="0" marR="0" algn="ctr">
                        <a:buNone/>
                      </a:pPr>
                      <a:r>
                        <a:rPr lang="en-US" sz="1000" b="0" i="0" dirty="0">
                          <a:solidFill>
                            <a:srgbClr val="374151"/>
                          </a:solidFill>
                          <a:effectLst/>
                          <a:latin typeface="Verdana" panose="020B0604030504040204" pitchFamily="34" charset="0"/>
                        </a:rPr>
                        <a:t>Inter-Process Communication (IPC) mechanisms</a:t>
                      </a:r>
                    </a:p>
                  </a:txBody>
                  <a:tcPr marL="74789" marR="74789" marT="49859" marB="49859"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marL="0" marR="0" algn="ctr">
                        <a:buNone/>
                      </a:pPr>
                      <a:r>
                        <a:rPr lang="en-US" sz="1000" b="0" i="0" dirty="0">
                          <a:solidFill>
                            <a:srgbClr val="374151"/>
                          </a:solidFill>
                          <a:effectLst/>
                          <a:latin typeface="Verdana" panose="020B0604030504040204" pitchFamily="34" charset="0"/>
                        </a:rPr>
                        <a:t>Direct memory sharing (faster)</a:t>
                      </a:r>
                    </a:p>
                  </a:txBody>
                  <a:tcPr marL="74789" marR="74789" marT="49859" marB="49859"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3113066416"/>
                  </a:ext>
                </a:extLst>
              </a:tr>
              <a:tr h="460437">
                <a:tc>
                  <a:txBody>
                    <a:bodyPr/>
                    <a:lstStyle/>
                    <a:p>
                      <a:pPr marL="0" marR="0" algn="ctr">
                        <a:buNone/>
                      </a:pPr>
                      <a:r>
                        <a:rPr lang="en-US" sz="1000" b="1" i="0" dirty="0">
                          <a:solidFill>
                            <a:srgbClr val="374151"/>
                          </a:solidFill>
                          <a:effectLst/>
                          <a:latin typeface="Verdana" panose="020B0604030504040204" pitchFamily="34" charset="0"/>
                        </a:rPr>
                        <a:t>Resource Usage</a:t>
                      </a:r>
                      <a:endParaRPr lang="en-US" sz="1000" b="0" i="0" dirty="0">
                        <a:solidFill>
                          <a:srgbClr val="374151"/>
                        </a:solidFill>
                        <a:effectLst/>
                        <a:latin typeface="Verdana" panose="020B0604030504040204" pitchFamily="34" charset="0"/>
                      </a:endParaRPr>
                    </a:p>
                  </a:txBody>
                  <a:tcPr marL="74789" marR="74789" marT="49859" marB="49859"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marL="0" marR="0" algn="ctr">
                        <a:buNone/>
                      </a:pPr>
                      <a:r>
                        <a:rPr lang="en-US" sz="1000" b="0" i="0" dirty="0">
                          <a:solidFill>
                            <a:srgbClr val="374151"/>
                          </a:solidFill>
                          <a:effectLst/>
                          <a:latin typeface="Verdana" panose="020B0604030504040204" pitchFamily="34" charset="0"/>
                        </a:rPr>
                        <a:t>Higher memory and CPU overhead</a:t>
                      </a:r>
                    </a:p>
                  </a:txBody>
                  <a:tcPr marL="74789" marR="74789" marT="49859" marB="49859"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marL="0" marR="0" algn="ctr">
                        <a:buNone/>
                      </a:pPr>
                      <a:r>
                        <a:rPr lang="en-US" sz="1000" b="0" i="0" dirty="0">
                          <a:solidFill>
                            <a:srgbClr val="374151"/>
                          </a:solidFill>
                          <a:effectLst/>
                          <a:latin typeface="Verdana" panose="020B0604030504040204" pitchFamily="34" charset="0"/>
                        </a:rPr>
                        <a:t>Lower resource consumption</a:t>
                      </a:r>
                    </a:p>
                  </a:txBody>
                  <a:tcPr marL="74789" marR="74789" marT="49859" marB="49859"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51658426"/>
                  </a:ext>
                </a:extLst>
              </a:tr>
              <a:tr h="460437">
                <a:tc>
                  <a:txBody>
                    <a:bodyPr/>
                    <a:lstStyle/>
                    <a:p>
                      <a:pPr marL="0" marR="0" algn="ctr">
                        <a:buNone/>
                      </a:pPr>
                      <a:r>
                        <a:rPr lang="en-US" sz="1000" b="1" i="0" dirty="0">
                          <a:solidFill>
                            <a:srgbClr val="374151"/>
                          </a:solidFill>
                          <a:effectLst/>
                          <a:latin typeface="Verdana" panose="020B0604030504040204" pitchFamily="34" charset="0"/>
                        </a:rPr>
                        <a:t>Creation Time</a:t>
                      </a:r>
                      <a:endParaRPr lang="en-US" sz="1000" b="0" i="0" dirty="0">
                        <a:solidFill>
                          <a:srgbClr val="374151"/>
                        </a:solidFill>
                        <a:effectLst/>
                        <a:latin typeface="Verdana" panose="020B0604030504040204" pitchFamily="34" charset="0"/>
                      </a:endParaRPr>
                    </a:p>
                  </a:txBody>
                  <a:tcPr marL="74789" marR="74789" marT="49859" marB="49859"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marL="0" marR="0" algn="ctr">
                        <a:buNone/>
                      </a:pPr>
                      <a:r>
                        <a:rPr lang="en-US" sz="1000" b="0" i="0" dirty="0">
                          <a:solidFill>
                            <a:srgbClr val="374151"/>
                          </a:solidFill>
                          <a:effectLst/>
                          <a:latin typeface="Verdana" panose="020B0604030504040204" pitchFamily="34" charset="0"/>
                        </a:rPr>
                        <a:t>Slower (allocate separate resources)</a:t>
                      </a:r>
                    </a:p>
                  </a:txBody>
                  <a:tcPr marL="74789" marR="74789" marT="49859" marB="49859"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marL="0" marR="0" algn="ctr">
                        <a:buNone/>
                      </a:pPr>
                      <a:r>
                        <a:rPr lang="en-US" sz="1000" b="0" i="0" dirty="0">
                          <a:solidFill>
                            <a:srgbClr val="374151"/>
                          </a:solidFill>
                          <a:effectLst/>
                          <a:latin typeface="Verdana" panose="020B0604030504040204" pitchFamily="34" charset="0"/>
                        </a:rPr>
                        <a:t>Faster (share existing resources)</a:t>
                      </a:r>
                    </a:p>
                  </a:txBody>
                  <a:tcPr marL="74789" marR="74789" marT="49859" marB="49859"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2143683232"/>
                  </a:ext>
                </a:extLst>
              </a:tr>
              <a:tr h="623682">
                <a:tc>
                  <a:txBody>
                    <a:bodyPr/>
                    <a:lstStyle/>
                    <a:p>
                      <a:pPr marL="0" marR="0" algn="ctr">
                        <a:buNone/>
                      </a:pPr>
                      <a:r>
                        <a:rPr lang="en-US" sz="1000" b="1" i="0" dirty="0">
                          <a:solidFill>
                            <a:srgbClr val="374151"/>
                          </a:solidFill>
                          <a:effectLst/>
                          <a:latin typeface="Verdana" panose="020B0604030504040204" pitchFamily="34" charset="0"/>
                        </a:rPr>
                        <a:t>Failure Impact</a:t>
                      </a:r>
                      <a:endParaRPr lang="en-US" sz="1000" b="0" i="0" dirty="0">
                        <a:solidFill>
                          <a:srgbClr val="374151"/>
                        </a:solidFill>
                        <a:effectLst/>
                        <a:latin typeface="Verdana" panose="020B0604030504040204" pitchFamily="34" charset="0"/>
                      </a:endParaRPr>
                    </a:p>
                  </a:txBody>
                  <a:tcPr marL="74789" marR="74789" marT="49859" marB="49859"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marL="0" marR="0" algn="ctr">
                        <a:buNone/>
                      </a:pPr>
                      <a:r>
                        <a:rPr lang="en-US" sz="1000" b="0" i="0" dirty="0">
                          <a:solidFill>
                            <a:srgbClr val="374151"/>
                          </a:solidFill>
                          <a:effectLst/>
                          <a:latin typeface="Verdana" panose="020B0604030504040204" pitchFamily="34" charset="0"/>
                        </a:rPr>
                        <a:t>Independent − one crash doesn't affect others</a:t>
                      </a:r>
                    </a:p>
                  </a:txBody>
                  <a:tcPr marL="74789" marR="74789" marT="49859" marB="49859"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marL="0" marR="0" algn="ctr">
                        <a:buNone/>
                      </a:pPr>
                      <a:r>
                        <a:rPr lang="en-US" sz="1000" b="0" i="0" dirty="0">
                          <a:solidFill>
                            <a:srgbClr val="374151"/>
                          </a:solidFill>
                          <a:effectLst/>
                          <a:latin typeface="Verdana" panose="020B0604030504040204" pitchFamily="34" charset="0"/>
                        </a:rPr>
                        <a:t>Dependent − thread crash can affect entire process</a:t>
                      </a:r>
                    </a:p>
                  </a:txBody>
                  <a:tcPr marL="74789" marR="74789" marT="49859" marB="49859"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155473168"/>
                  </a:ext>
                </a:extLst>
              </a:tr>
              <a:tr h="460437">
                <a:tc>
                  <a:txBody>
                    <a:bodyPr/>
                    <a:lstStyle/>
                    <a:p>
                      <a:pPr marL="0" marR="0" algn="ctr">
                        <a:buNone/>
                      </a:pPr>
                      <a:r>
                        <a:rPr lang="en-US" sz="1000" b="1" i="0" dirty="0">
                          <a:solidFill>
                            <a:srgbClr val="374151"/>
                          </a:solidFill>
                          <a:effectLst/>
                          <a:latin typeface="Verdana" panose="020B0604030504040204" pitchFamily="34" charset="0"/>
                        </a:rPr>
                        <a:t>Synchronization</a:t>
                      </a:r>
                      <a:endParaRPr lang="en-US" sz="1000" b="0" i="0" dirty="0">
                        <a:solidFill>
                          <a:srgbClr val="374151"/>
                        </a:solidFill>
                        <a:effectLst/>
                        <a:latin typeface="Verdana" panose="020B0604030504040204" pitchFamily="34" charset="0"/>
                      </a:endParaRPr>
                    </a:p>
                  </a:txBody>
                  <a:tcPr marL="74789" marR="74789" marT="49859" marB="49859"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marL="0" marR="0" algn="ctr">
                        <a:buNone/>
                      </a:pPr>
                      <a:r>
                        <a:rPr lang="en-US" sz="1000" b="0" i="0" dirty="0">
                          <a:solidFill>
                            <a:srgbClr val="374151"/>
                          </a:solidFill>
                          <a:effectLst/>
                          <a:latin typeface="Verdana" panose="020B0604030504040204" pitchFamily="34" charset="0"/>
                        </a:rPr>
                        <a:t>Not required between processes</a:t>
                      </a:r>
                    </a:p>
                  </a:txBody>
                  <a:tcPr marL="74789" marR="74789" marT="49859" marB="49859"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tc>
                  <a:txBody>
                    <a:bodyPr/>
                    <a:lstStyle/>
                    <a:p>
                      <a:pPr marL="0" marR="0" algn="ctr">
                        <a:buNone/>
                      </a:pPr>
                      <a:r>
                        <a:rPr lang="en-US" sz="1000" b="0" i="0" dirty="0">
                          <a:solidFill>
                            <a:srgbClr val="374151"/>
                          </a:solidFill>
                          <a:effectLst/>
                          <a:latin typeface="Verdana" panose="020B0604030504040204" pitchFamily="34" charset="0"/>
                        </a:rPr>
                        <a:t>Required to avoid race conditions</a:t>
                      </a:r>
                    </a:p>
                  </a:txBody>
                  <a:tcPr marL="74789" marR="74789" marT="49859" marB="49859" anchor="ctr">
                    <a:lnL w="7620" cap="flat" cmpd="sng" algn="ctr">
                      <a:solidFill>
                        <a:srgbClr val="E2E8F0"/>
                      </a:solidFill>
                      <a:prstDash val="solid"/>
                      <a:round/>
                      <a:headEnd type="none" w="med" len="med"/>
                      <a:tailEnd type="none" w="med" len="med"/>
                    </a:lnL>
                    <a:lnR w="7620" cap="flat" cmpd="sng" algn="ctr">
                      <a:solidFill>
                        <a:srgbClr val="E2E8F0"/>
                      </a:solidFill>
                      <a:prstDash val="solid"/>
                      <a:round/>
                      <a:headEnd type="none" w="med" len="med"/>
                      <a:tailEnd type="none" w="med" len="med"/>
                    </a:lnR>
                    <a:lnT w="7620" cap="flat" cmpd="sng" algn="ctr">
                      <a:solidFill>
                        <a:srgbClr val="E2E8F0"/>
                      </a:solidFill>
                      <a:prstDash val="solid"/>
                      <a:round/>
                      <a:headEnd type="none" w="med" len="med"/>
                      <a:tailEnd type="none" w="med" len="med"/>
                    </a:lnT>
                    <a:lnB w="762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309559045"/>
                  </a:ext>
                </a:extLst>
              </a:tr>
            </a:tbl>
          </a:graphicData>
        </a:graphic>
      </p:graphicFrame>
    </p:spTree>
    <p:extLst>
      <p:ext uri="{BB962C8B-B14F-4D97-AF65-F5344CB8AC3E}">
        <p14:creationId xmlns:p14="http://schemas.microsoft.com/office/powerpoint/2010/main" val="39602669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8490A2-6585-83AA-18A7-24C0B3103AE2}"/>
              </a:ext>
            </a:extLst>
          </p:cNvPr>
          <p:cNvSpPr>
            <a:spLocks noGrp="1"/>
          </p:cNvSpPr>
          <p:nvPr>
            <p:ph idx="1"/>
          </p:nvPr>
        </p:nvSpPr>
        <p:spPr>
          <a:xfrm>
            <a:off x="1451579" y="2052735"/>
            <a:ext cx="9614527" cy="3413610"/>
          </a:xfrm>
        </p:spPr>
        <p:txBody>
          <a:bodyPr>
            <a:normAutofit fontScale="92500" lnSpcReduction="20000"/>
          </a:bodyPr>
          <a:lstStyle/>
          <a:p>
            <a:pPr marL="0" indent="0">
              <a:buNone/>
            </a:pPr>
            <a:r>
              <a:rPr lang="en-US" b="1" dirty="0"/>
              <a:t>Processes are ideal for:</a:t>
            </a:r>
            <a:endParaRPr lang="en-US" dirty="0"/>
          </a:p>
          <a:p>
            <a:r>
              <a:rPr lang="en-US" dirty="0"/>
              <a:t>Applications requiring isolation and security</a:t>
            </a:r>
          </a:p>
          <a:p>
            <a:r>
              <a:rPr lang="en-US" dirty="0"/>
              <a:t>Independent tasks that don't need to share data</a:t>
            </a:r>
          </a:p>
          <a:p>
            <a:r>
              <a:rPr lang="en-US" dirty="0"/>
              <a:t>Fault-tolerant systems where one failure shouldn't affect others</a:t>
            </a:r>
          </a:p>
          <a:p>
            <a:pPr marL="0" indent="0">
              <a:buNone/>
            </a:pPr>
            <a:r>
              <a:rPr lang="en-US" b="1" dirty="0"/>
              <a:t>Threads are ideal for:</a:t>
            </a:r>
            <a:endParaRPr lang="en-US" dirty="0"/>
          </a:p>
          <a:p>
            <a:r>
              <a:rPr lang="en-US" dirty="0"/>
              <a:t>Parallel processing within a single application</a:t>
            </a:r>
          </a:p>
          <a:p>
            <a:r>
              <a:rPr lang="en-US" dirty="0"/>
              <a:t>Tasks that need frequent data sharing</a:t>
            </a:r>
          </a:p>
          <a:p>
            <a:r>
              <a:rPr lang="en-US" dirty="0"/>
              <a:t>Performance-critical applications requiring fast context switching</a:t>
            </a:r>
          </a:p>
          <a:p>
            <a:endParaRPr lang="en-US" dirty="0"/>
          </a:p>
        </p:txBody>
      </p:sp>
      <p:sp>
        <p:nvSpPr>
          <p:cNvPr id="4" name="Slide Number Placeholder 3">
            <a:extLst>
              <a:ext uri="{FF2B5EF4-FFF2-40B4-BE49-F238E27FC236}">
                <a16:creationId xmlns:a16="http://schemas.microsoft.com/office/drawing/2014/main" id="{41F7F049-F003-21B6-24AD-51FD3D42FFC0}"/>
              </a:ext>
            </a:extLst>
          </p:cNvPr>
          <p:cNvSpPr>
            <a:spLocks noGrp="1"/>
          </p:cNvSpPr>
          <p:nvPr>
            <p:ph type="sldNum" sz="quarter" idx="12"/>
          </p:nvPr>
        </p:nvSpPr>
        <p:spPr/>
        <p:txBody>
          <a:bodyPr/>
          <a:lstStyle/>
          <a:p>
            <a:fld id="{CBABCCC1-BF11-4F37-963E-1BCD5B23FD72}" type="slidenum">
              <a:rPr lang="en-IN" smtClean="0"/>
              <a:pPr/>
              <a:t>11</a:t>
            </a:fld>
            <a:endParaRPr lang="en-IN" dirty="0"/>
          </a:p>
        </p:txBody>
      </p:sp>
    </p:spTree>
    <p:extLst>
      <p:ext uri="{BB962C8B-B14F-4D97-AF65-F5344CB8AC3E}">
        <p14:creationId xmlns:p14="http://schemas.microsoft.com/office/powerpoint/2010/main" val="35202131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26FF02-1917-3B76-FE84-64DCE84C7484}"/>
              </a:ext>
            </a:extLst>
          </p:cNvPr>
          <p:cNvSpPr>
            <a:spLocks noGrp="1"/>
          </p:cNvSpPr>
          <p:nvPr>
            <p:ph idx="1"/>
          </p:nvPr>
        </p:nvSpPr>
        <p:spPr/>
        <p:txBody>
          <a:bodyPr/>
          <a:lstStyle/>
          <a:p>
            <a:pPr algn="just">
              <a:buFont typeface="Wingdings" panose="05000000000000000000" pitchFamily="2" charset="2"/>
              <a:buChar char="v"/>
            </a:pPr>
            <a:r>
              <a:rPr lang="en-US" dirty="0"/>
              <a:t>POSIX thread libraries (</a:t>
            </a:r>
            <a:r>
              <a:rPr lang="en-US" dirty="0" err="1"/>
              <a:t>pthreads</a:t>
            </a:r>
            <a:r>
              <a:rPr lang="en-US" dirty="0"/>
              <a:t>) are a standard C/C++ API used to create and manage threads for concurrent execution within a program. </a:t>
            </a:r>
          </a:p>
          <a:p>
            <a:pPr algn="just">
              <a:buFont typeface="Wingdings" panose="05000000000000000000" pitchFamily="2" charset="2"/>
              <a:buChar char="v"/>
            </a:pPr>
            <a:r>
              <a:rPr lang="en-US" dirty="0"/>
              <a:t>They allow multiple flows of execution to run in parallel, especially improving performance on multi-core or multiprocessor systems. </a:t>
            </a:r>
          </a:p>
          <a:p>
            <a:pPr algn="just">
              <a:buFont typeface="Wingdings" panose="05000000000000000000" pitchFamily="2" charset="2"/>
              <a:buChar char="v"/>
            </a:pPr>
            <a:r>
              <a:rPr lang="en-US" dirty="0"/>
              <a:t>Since threads share the same memory space and resources, they have lower overhead compared to creating separate processes (like using fork). </a:t>
            </a:r>
          </a:p>
          <a:p>
            <a:pPr algn="just">
              <a:buFont typeface="Wingdings" panose="05000000000000000000" pitchFamily="2" charset="2"/>
              <a:buChar char="v"/>
            </a:pPr>
            <a:r>
              <a:rPr lang="en-US" dirty="0"/>
              <a:t>Even on single-processor systems, threads help improve efficiency by utilizing waiting time during I/O operations.</a:t>
            </a:r>
          </a:p>
        </p:txBody>
      </p:sp>
      <p:sp>
        <p:nvSpPr>
          <p:cNvPr id="4" name="Slide Number Placeholder 3">
            <a:extLst>
              <a:ext uri="{FF2B5EF4-FFF2-40B4-BE49-F238E27FC236}">
                <a16:creationId xmlns:a16="http://schemas.microsoft.com/office/drawing/2014/main" id="{536F953A-41B9-C8F6-1695-73E88FDCE3A0}"/>
              </a:ext>
            </a:extLst>
          </p:cNvPr>
          <p:cNvSpPr>
            <a:spLocks noGrp="1"/>
          </p:cNvSpPr>
          <p:nvPr>
            <p:ph type="sldNum" sz="quarter" idx="12"/>
          </p:nvPr>
        </p:nvSpPr>
        <p:spPr/>
        <p:txBody>
          <a:bodyPr/>
          <a:lstStyle/>
          <a:p>
            <a:fld id="{CBABCCC1-BF11-4F37-963E-1BCD5B23FD72}" type="slidenum">
              <a:rPr lang="en-IN" smtClean="0"/>
              <a:pPr/>
              <a:t>12</a:t>
            </a:fld>
            <a:endParaRPr lang="en-IN"/>
          </a:p>
        </p:txBody>
      </p:sp>
      <p:sp>
        <p:nvSpPr>
          <p:cNvPr id="5" name="Rounded Rectangle 17">
            <a:extLst>
              <a:ext uri="{FF2B5EF4-FFF2-40B4-BE49-F238E27FC236}">
                <a16:creationId xmlns:a16="http://schemas.microsoft.com/office/drawing/2014/main" id="{AC771437-AFF2-6E7C-DB0E-2487FD6A6CD4}"/>
              </a:ext>
            </a:extLst>
          </p:cNvPr>
          <p:cNvSpPr/>
          <p:nvPr/>
        </p:nvSpPr>
        <p:spPr>
          <a:xfrm>
            <a:off x="2547256" y="914400"/>
            <a:ext cx="6248399" cy="60649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dirty="0"/>
          </a:p>
          <a:p>
            <a:pPr algn="ctr"/>
            <a:r>
              <a:rPr lang="en-US" sz="3200" b="1" dirty="0"/>
              <a:t>POSIX Threads in OS</a:t>
            </a:r>
            <a:br>
              <a:rPr lang="en-US" sz="3200" b="1" dirty="0"/>
            </a:br>
            <a:endParaRPr lang="en-US" sz="3200" dirty="0"/>
          </a:p>
        </p:txBody>
      </p:sp>
    </p:spTree>
    <p:extLst>
      <p:ext uri="{BB962C8B-B14F-4D97-AF65-F5344CB8AC3E}">
        <p14:creationId xmlns:p14="http://schemas.microsoft.com/office/powerpoint/2010/main" val="930707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FE2A5E-3881-0A6F-555F-A604C60B3E12}"/>
              </a:ext>
            </a:extLst>
          </p:cNvPr>
          <p:cNvSpPr>
            <a:spLocks noGrp="1"/>
          </p:cNvSpPr>
          <p:nvPr>
            <p:ph idx="1"/>
          </p:nvPr>
        </p:nvSpPr>
        <p:spPr/>
        <p:txBody>
          <a:bodyPr/>
          <a:lstStyle/>
          <a:p>
            <a:pPr algn="just" fontAlgn="base">
              <a:buFont typeface="Wingdings" panose="05000000000000000000" pitchFamily="2" charset="2"/>
              <a:buChar char="v"/>
            </a:pPr>
            <a:r>
              <a:rPr lang="en-US" dirty="0"/>
              <a:t>To use </a:t>
            </a:r>
            <a:r>
              <a:rPr lang="en-US" dirty="0" err="1"/>
              <a:t>PThreads</a:t>
            </a:r>
            <a:r>
              <a:rPr lang="en-US" dirty="0"/>
              <a:t>, we must include the header at the start of the C/C++ program.</a:t>
            </a:r>
          </a:p>
          <a:p>
            <a:pPr marL="0" indent="0" algn="just" fontAlgn="base">
              <a:buNone/>
            </a:pPr>
            <a:r>
              <a:rPr lang="en-US" dirty="0"/>
              <a:t>       #include &lt;</a:t>
            </a:r>
            <a:r>
              <a:rPr lang="en-US" dirty="0" err="1"/>
              <a:t>pthread.h</a:t>
            </a:r>
            <a:r>
              <a:rPr lang="en-US" dirty="0"/>
              <a:t>&gt;</a:t>
            </a:r>
          </a:p>
          <a:p>
            <a:pPr algn="just" fontAlgn="base">
              <a:buFont typeface="Wingdings" panose="05000000000000000000" pitchFamily="2" charset="2"/>
              <a:buChar char="v"/>
            </a:pPr>
            <a:r>
              <a:rPr lang="en-US" dirty="0" err="1"/>
              <a:t>PThreads</a:t>
            </a:r>
            <a:r>
              <a:rPr lang="en-US" dirty="0"/>
              <a:t> (POSIX threads) is a standardized API for multithreading in C/C++ on Unix-like systems. It is defined by the POSIX standard, which specifies how operating systems should implement thread-related functionalities.</a:t>
            </a:r>
          </a:p>
          <a:p>
            <a:pPr algn="just" fontAlgn="base">
              <a:buFont typeface="Wingdings" panose="05000000000000000000" pitchFamily="2" charset="2"/>
              <a:buChar char="v"/>
            </a:pPr>
            <a:r>
              <a:rPr lang="en-US" dirty="0" err="1"/>
              <a:t>PThreads</a:t>
            </a:r>
            <a:r>
              <a:rPr lang="en-US" dirty="0"/>
              <a:t> provides a set of functions (APIs) for creating, managing, and synchronizing threads within a program.</a:t>
            </a:r>
          </a:p>
          <a:p>
            <a:endParaRPr lang="en-US" dirty="0"/>
          </a:p>
        </p:txBody>
      </p:sp>
      <p:sp>
        <p:nvSpPr>
          <p:cNvPr id="4" name="Slide Number Placeholder 3">
            <a:extLst>
              <a:ext uri="{FF2B5EF4-FFF2-40B4-BE49-F238E27FC236}">
                <a16:creationId xmlns:a16="http://schemas.microsoft.com/office/drawing/2014/main" id="{8E3FCD21-CCFB-A8A9-6E7B-D49C04B0072C}"/>
              </a:ext>
            </a:extLst>
          </p:cNvPr>
          <p:cNvSpPr>
            <a:spLocks noGrp="1"/>
          </p:cNvSpPr>
          <p:nvPr>
            <p:ph type="sldNum" sz="quarter" idx="12"/>
          </p:nvPr>
        </p:nvSpPr>
        <p:spPr/>
        <p:txBody>
          <a:bodyPr/>
          <a:lstStyle/>
          <a:p>
            <a:fld id="{CBABCCC1-BF11-4F37-963E-1BCD5B23FD72}" type="slidenum">
              <a:rPr lang="en-IN" smtClean="0"/>
              <a:pPr/>
              <a:t>13</a:t>
            </a:fld>
            <a:endParaRPr lang="en-IN"/>
          </a:p>
        </p:txBody>
      </p:sp>
    </p:spTree>
    <p:extLst>
      <p:ext uri="{BB962C8B-B14F-4D97-AF65-F5344CB8AC3E}">
        <p14:creationId xmlns:p14="http://schemas.microsoft.com/office/powerpoint/2010/main" val="17481287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D43CB3-5939-D9AA-AA1E-19976EC77371}"/>
              </a:ext>
            </a:extLst>
          </p:cNvPr>
          <p:cNvSpPr>
            <a:spLocks noGrp="1"/>
          </p:cNvSpPr>
          <p:nvPr>
            <p:ph idx="1"/>
          </p:nvPr>
        </p:nvSpPr>
        <p:spPr/>
        <p:txBody>
          <a:bodyPr>
            <a:normAutofit fontScale="85000" lnSpcReduction="10000"/>
          </a:bodyPr>
          <a:lstStyle/>
          <a:p>
            <a:pPr algn="just" fontAlgn="base"/>
            <a:r>
              <a:rPr lang="en-US" dirty="0"/>
              <a:t>A race condition occurs when two or more processes or threads access and modify the same data at the same time, ad the final result depends on the order in which they run. Without proper coordination, this can lead to incorrect or unpredictable results.</a:t>
            </a:r>
          </a:p>
          <a:p>
            <a:pPr algn="just" fontAlgn="base"/>
            <a:r>
              <a:rPr lang="en-US" b="1" dirty="0"/>
              <a:t>For example:</a:t>
            </a:r>
            <a:r>
              <a:rPr lang="en-US" dirty="0"/>
              <a:t> If two people update the same bank account simultaneously without checking each other’s changes, the final balance may be wrong.</a:t>
            </a:r>
          </a:p>
          <a:p>
            <a:pPr algn="just" fontAlgn="base"/>
            <a:r>
              <a:rPr lang="en-US" b="1" dirty="0"/>
              <a:t>Shared Resource</a:t>
            </a:r>
            <a:r>
              <a:rPr lang="en-US" dirty="0"/>
              <a:t>: A variable, file, memory location, or device accessed by multiple processes.</a:t>
            </a:r>
          </a:p>
          <a:p>
            <a:pPr algn="just" fontAlgn="base"/>
            <a:r>
              <a:rPr lang="en-US" b="1" dirty="0"/>
              <a:t>Concurrency</a:t>
            </a:r>
            <a:r>
              <a:rPr lang="en-US" dirty="0"/>
              <a:t>: Multiple processes or threads executing simultaneously or overlapping in execution.</a:t>
            </a:r>
          </a:p>
          <a:p>
            <a:pPr algn="just" fontAlgn="base"/>
            <a:r>
              <a:rPr lang="en-US" b="1" dirty="0"/>
              <a:t>Non-Atomic Operations:</a:t>
            </a:r>
            <a:r>
              <a:rPr lang="en-US" dirty="0"/>
              <a:t> Operations that can be interrupted, such as read-modify-write, which can cause inconsistent states when multiple processes access the same data concurrently.</a:t>
            </a:r>
          </a:p>
          <a:p>
            <a:endParaRPr lang="en-US" dirty="0"/>
          </a:p>
        </p:txBody>
      </p:sp>
      <p:sp>
        <p:nvSpPr>
          <p:cNvPr id="4" name="Slide Number Placeholder 3">
            <a:extLst>
              <a:ext uri="{FF2B5EF4-FFF2-40B4-BE49-F238E27FC236}">
                <a16:creationId xmlns:a16="http://schemas.microsoft.com/office/drawing/2014/main" id="{25390ECF-8BA7-C6A9-20A6-2B51F3D28EF8}"/>
              </a:ext>
            </a:extLst>
          </p:cNvPr>
          <p:cNvSpPr>
            <a:spLocks noGrp="1"/>
          </p:cNvSpPr>
          <p:nvPr>
            <p:ph type="sldNum" sz="quarter" idx="12"/>
          </p:nvPr>
        </p:nvSpPr>
        <p:spPr/>
        <p:txBody>
          <a:bodyPr/>
          <a:lstStyle/>
          <a:p>
            <a:fld id="{CBABCCC1-BF11-4F37-963E-1BCD5B23FD72}" type="slidenum">
              <a:rPr lang="en-IN" smtClean="0"/>
              <a:pPr/>
              <a:t>14</a:t>
            </a:fld>
            <a:endParaRPr lang="en-IN"/>
          </a:p>
        </p:txBody>
      </p:sp>
      <p:sp>
        <p:nvSpPr>
          <p:cNvPr id="5" name="Rounded Rectangle 17">
            <a:extLst>
              <a:ext uri="{FF2B5EF4-FFF2-40B4-BE49-F238E27FC236}">
                <a16:creationId xmlns:a16="http://schemas.microsoft.com/office/drawing/2014/main" id="{F858E5CE-83A0-248C-74C0-2A9308D3896F}"/>
              </a:ext>
            </a:extLst>
          </p:cNvPr>
          <p:cNvSpPr/>
          <p:nvPr/>
        </p:nvSpPr>
        <p:spPr>
          <a:xfrm>
            <a:off x="2566290" y="1088410"/>
            <a:ext cx="6248399" cy="60649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RACE CONDITIONS</a:t>
            </a:r>
          </a:p>
        </p:txBody>
      </p:sp>
    </p:spTree>
    <p:extLst>
      <p:ext uri="{BB962C8B-B14F-4D97-AF65-F5344CB8AC3E}">
        <p14:creationId xmlns:p14="http://schemas.microsoft.com/office/powerpoint/2010/main" val="4282746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74D78-6425-87B7-7EFB-4F605C5EBC41}"/>
              </a:ext>
            </a:extLst>
          </p:cNvPr>
          <p:cNvSpPr>
            <a:spLocks noGrp="1"/>
          </p:cNvSpPr>
          <p:nvPr>
            <p:ph type="title"/>
          </p:nvPr>
        </p:nvSpPr>
        <p:spPr/>
        <p:txBody>
          <a:bodyPr/>
          <a:lstStyle/>
          <a:p>
            <a:br>
              <a:rPr lang="en-US" b="1" dirty="0"/>
            </a:br>
            <a:endParaRPr lang="en-US" dirty="0"/>
          </a:p>
        </p:txBody>
      </p:sp>
      <p:sp>
        <p:nvSpPr>
          <p:cNvPr id="3" name="Content Placeholder 2">
            <a:extLst>
              <a:ext uri="{FF2B5EF4-FFF2-40B4-BE49-F238E27FC236}">
                <a16:creationId xmlns:a16="http://schemas.microsoft.com/office/drawing/2014/main" id="{D9A34240-46CC-D029-4DAF-BFCE24C61314}"/>
              </a:ext>
            </a:extLst>
          </p:cNvPr>
          <p:cNvSpPr>
            <a:spLocks noGrp="1"/>
          </p:cNvSpPr>
          <p:nvPr>
            <p:ph idx="1"/>
          </p:nvPr>
        </p:nvSpPr>
        <p:spPr/>
        <p:txBody>
          <a:bodyPr/>
          <a:lstStyle/>
          <a:p>
            <a:pPr fontAlgn="base"/>
            <a:r>
              <a:rPr lang="en-US" b="1" dirty="0"/>
              <a:t>Simultaneous Access:</a:t>
            </a:r>
            <a:r>
              <a:rPr lang="en-US" dirty="0"/>
              <a:t> When two or more processes try to read or write the same shared resource at the same time.</a:t>
            </a:r>
          </a:p>
          <a:p>
            <a:pPr fontAlgn="base"/>
            <a:r>
              <a:rPr lang="en-US" b="1" dirty="0"/>
              <a:t>Non-Atomic Updates:</a:t>
            </a:r>
            <a:r>
              <a:rPr lang="en-US" dirty="0"/>
              <a:t> Operations like increment or decrement are not indivisible.</a:t>
            </a:r>
          </a:p>
          <a:p>
            <a:pPr fontAlgn="base"/>
            <a:r>
              <a:rPr lang="en-US" b="1" dirty="0"/>
              <a:t>Lack of Synchronization</a:t>
            </a:r>
            <a:r>
              <a:rPr lang="en-US" dirty="0"/>
              <a:t>: No mechanisms like locks, semaphores, or monitors are used to control access.</a:t>
            </a:r>
          </a:p>
          <a:p>
            <a:pPr fontAlgn="base"/>
            <a:r>
              <a:rPr lang="en-US" b="1" dirty="0"/>
              <a:t>Improper Scheduling:</a:t>
            </a:r>
            <a:r>
              <a:rPr lang="en-US" dirty="0"/>
              <a:t> OS scheduler interrupts processes at critical moments.</a:t>
            </a:r>
          </a:p>
          <a:p>
            <a:endParaRPr lang="en-US" dirty="0"/>
          </a:p>
        </p:txBody>
      </p:sp>
      <p:sp>
        <p:nvSpPr>
          <p:cNvPr id="4" name="Slide Number Placeholder 3">
            <a:extLst>
              <a:ext uri="{FF2B5EF4-FFF2-40B4-BE49-F238E27FC236}">
                <a16:creationId xmlns:a16="http://schemas.microsoft.com/office/drawing/2014/main" id="{0B2CDE08-C923-421C-3D59-8D48F21DBF7F}"/>
              </a:ext>
            </a:extLst>
          </p:cNvPr>
          <p:cNvSpPr>
            <a:spLocks noGrp="1"/>
          </p:cNvSpPr>
          <p:nvPr>
            <p:ph type="sldNum" sz="quarter" idx="12"/>
          </p:nvPr>
        </p:nvSpPr>
        <p:spPr/>
        <p:txBody>
          <a:bodyPr/>
          <a:lstStyle/>
          <a:p>
            <a:fld id="{CBABCCC1-BF11-4F37-963E-1BCD5B23FD72}" type="slidenum">
              <a:rPr lang="en-IN" smtClean="0"/>
              <a:pPr/>
              <a:t>15</a:t>
            </a:fld>
            <a:endParaRPr lang="en-IN"/>
          </a:p>
        </p:txBody>
      </p:sp>
      <p:sp>
        <p:nvSpPr>
          <p:cNvPr id="5" name="Rounded Rectangle 17">
            <a:extLst>
              <a:ext uri="{FF2B5EF4-FFF2-40B4-BE49-F238E27FC236}">
                <a16:creationId xmlns:a16="http://schemas.microsoft.com/office/drawing/2014/main" id="{2EE7171B-77B8-1C1F-96E9-F886D3F16FEC}"/>
              </a:ext>
            </a:extLst>
          </p:cNvPr>
          <p:cNvSpPr/>
          <p:nvPr/>
        </p:nvSpPr>
        <p:spPr>
          <a:xfrm>
            <a:off x="2566290" y="1088410"/>
            <a:ext cx="6381767" cy="60649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Causes of Race Conditions</a:t>
            </a:r>
            <a:endParaRPr lang="en-US" sz="3200" dirty="0"/>
          </a:p>
        </p:txBody>
      </p:sp>
    </p:spTree>
    <p:extLst>
      <p:ext uri="{BB962C8B-B14F-4D97-AF65-F5344CB8AC3E}">
        <p14:creationId xmlns:p14="http://schemas.microsoft.com/office/powerpoint/2010/main" val="2167022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96BBD3-8E45-DD47-2F0B-069BDAABB8E4}"/>
              </a:ext>
            </a:extLst>
          </p:cNvPr>
          <p:cNvSpPr>
            <a:spLocks noGrp="1"/>
          </p:cNvSpPr>
          <p:nvPr>
            <p:ph idx="1"/>
          </p:nvPr>
        </p:nvSpPr>
        <p:spPr>
          <a:xfrm>
            <a:off x="1240971" y="2015732"/>
            <a:ext cx="9937102" cy="4037749"/>
          </a:xfrm>
        </p:spPr>
        <p:txBody>
          <a:bodyPr>
            <a:normAutofit fontScale="85000" lnSpcReduction="20000"/>
          </a:bodyPr>
          <a:lstStyle/>
          <a:p>
            <a:pPr fontAlgn="base"/>
            <a:r>
              <a:rPr lang="en-US" b="1" dirty="0"/>
              <a:t>Example: Two Processes Updating a Shared Variable</a:t>
            </a:r>
          </a:p>
          <a:p>
            <a:pPr fontAlgn="base">
              <a:lnSpc>
                <a:spcPct val="100000"/>
              </a:lnSpc>
            </a:pPr>
            <a:r>
              <a:rPr lang="en-US" dirty="0"/>
              <a:t>Let’s take a shared variable balance = 100 and two processes P1 and P2:</a:t>
            </a:r>
          </a:p>
          <a:p>
            <a:pPr fontAlgn="base">
              <a:lnSpc>
                <a:spcPct val="100000"/>
              </a:lnSpc>
            </a:pPr>
            <a:r>
              <a:rPr lang="en-US" dirty="0"/>
              <a:t>P1 wants to add 10 to balance.</a:t>
            </a:r>
          </a:p>
          <a:p>
            <a:pPr fontAlgn="base">
              <a:lnSpc>
                <a:spcPct val="100000"/>
              </a:lnSpc>
            </a:pPr>
            <a:r>
              <a:rPr lang="en-US" dirty="0"/>
              <a:t>P2 wants to subtract 10 from balance.</a:t>
            </a:r>
          </a:p>
          <a:p>
            <a:pPr fontAlgn="base"/>
            <a:r>
              <a:rPr lang="en-US" dirty="0"/>
              <a:t>P1 reads balance = 100 and prepares to add 10.</a:t>
            </a:r>
          </a:p>
          <a:p>
            <a:pPr fontAlgn="base"/>
            <a:r>
              <a:rPr lang="en-US" dirty="0"/>
              <a:t>Before P1 updates the balance with the new value (110), it is interrupted by the process P2.</a:t>
            </a:r>
          </a:p>
          <a:p>
            <a:pPr fontAlgn="base"/>
            <a:r>
              <a:rPr lang="en-US" dirty="0"/>
              <a:t>P2, unaware of P1’s action (of adding 10), reads the balance as 100 (incorrect) and prepares to subtract 10.</a:t>
            </a:r>
          </a:p>
          <a:p>
            <a:pPr fontAlgn="base"/>
            <a:r>
              <a:rPr lang="en-US" dirty="0"/>
              <a:t>After subtracting, P2 updates the balance to 90 and then P1 resumes and writes the balance as 110 which results in an incorrect final value.</a:t>
            </a:r>
          </a:p>
          <a:p>
            <a:pPr fontAlgn="base"/>
            <a:r>
              <a:rPr lang="en-US" dirty="0"/>
              <a:t>In many cases, the final balance may incorrectly be 110 or 90, instead of the expected 100. This is a classic race condition.</a:t>
            </a:r>
          </a:p>
          <a:p>
            <a:endParaRPr lang="en-US" dirty="0"/>
          </a:p>
        </p:txBody>
      </p:sp>
      <p:sp>
        <p:nvSpPr>
          <p:cNvPr id="4" name="Slide Number Placeholder 3">
            <a:extLst>
              <a:ext uri="{FF2B5EF4-FFF2-40B4-BE49-F238E27FC236}">
                <a16:creationId xmlns:a16="http://schemas.microsoft.com/office/drawing/2014/main" id="{5C23B909-47C5-12A2-F4D4-A0AF6C12E822}"/>
              </a:ext>
            </a:extLst>
          </p:cNvPr>
          <p:cNvSpPr>
            <a:spLocks noGrp="1"/>
          </p:cNvSpPr>
          <p:nvPr>
            <p:ph type="sldNum" sz="quarter" idx="12"/>
          </p:nvPr>
        </p:nvSpPr>
        <p:spPr/>
        <p:txBody>
          <a:bodyPr/>
          <a:lstStyle/>
          <a:p>
            <a:fld id="{CBABCCC1-BF11-4F37-963E-1BCD5B23FD72}" type="slidenum">
              <a:rPr lang="en-IN" smtClean="0"/>
              <a:pPr/>
              <a:t>16</a:t>
            </a:fld>
            <a:endParaRPr lang="en-IN"/>
          </a:p>
        </p:txBody>
      </p:sp>
      <p:pic>
        <p:nvPicPr>
          <p:cNvPr id="6" name="Picture 5">
            <a:extLst>
              <a:ext uri="{FF2B5EF4-FFF2-40B4-BE49-F238E27FC236}">
                <a16:creationId xmlns:a16="http://schemas.microsoft.com/office/drawing/2014/main" id="{C26DD42E-B9E2-7C67-B62E-DEA970C47AC6}"/>
              </a:ext>
            </a:extLst>
          </p:cNvPr>
          <p:cNvPicPr>
            <a:picLocks noChangeAspect="1"/>
          </p:cNvPicPr>
          <p:nvPr/>
        </p:nvPicPr>
        <p:blipFill>
          <a:blip r:embed="rId2"/>
          <a:stretch>
            <a:fillRect/>
          </a:stretch>
        </p:blipFill>
        <p:spPr>
          <a:xfrm>
            <a:off x="7942554" y="1160163"/>
            <a:ext cx="3534986" cy="2268837"/>
          </a:xfrm>
          <a:prstGeom prst="rect">
            <a:avLst/>
          </a:prstGeom>
        </p:spPr>
      </p:pic>
    </p:spTree>
    <p:extLst>
      <p:ext uri="{BB962C8B-B14F-4D97-AF65-F5344CB8AC3E}">
        <p14:creationId xmlns:p14="http://schemas.microsoft.com/office/powerpoint/2010/main" val="3333764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85937D-DD0A-FE2C-882A-31D3C08D0E07}"/>
              </a:ext>
            </a:extLst>
          </p:cNvPr>
          <p:cNvSpPr>
            <a:spLocks noGrp="1"/>
          </p:cNvSpPr>
          <p:nvPr>
            <p:ph idx="1"/>
          </p:nvPr>
        </p:nvSpPr>
        <p:spPr>
          <a:xfrm>
            <a:off x="1451579" y="2015732"/>
            <a:ext cx="9603275" cy="4037748"/>
          </a:xfrm>
        </p:spPr>
        <p:txBody>
          <a:bodyPr>
            <a:normAutofit fontScale="85000" lnSpcReduction="20000"/>
          </a:bodyPr>
          <a:lstStyle/>
          <a:p>
            <a:pPr marL="0" indent="0" fontAlgn="base">
              <a:buNone/>
            </a:pPr>
            <a:r>
              <a:rPr lang="en-US" b="1" dirty="0"/>
              <a:t>What is Mutual Exclusion?</a:t>
            </a:r>
          </a:p>
          <a:p>
            <a:pPr marL="0" indent="0" fontAlgn="base">
              <a:buNone/>
            </a:pPr>
            <a:r>
              <a:rPr lang="en-US" b="1" dirty="0"/>
              <a:t>Mutual Exclusion</a:t>
            </a:r>
            <a:r>
              <a:rPr lang="en-US" dirty="0"/>
              <a:t> is a property of process synchronization that states that "</a:t>
            </a:r>
            <a:r>
              <a:rPr lang="en-US" b="1" dirty="0"/>
              <a:t>no two processes can exist in the critical section at any given point of time</a:t>
            </a:r>
            <a:r>
              <a:rPr lang="en-US" dirty="0"/>
              <a:t>". </a:t>
            </a:r>
          </a:p>
          <a:p>
            <a:pPr fontAlgn="base">
              <a:buFont typeface="Wingdings" panose="05000000000000000000" pitchFamily="2" charset="2"/>
              <a:buChar char="Ø"/>
            </a:pPr>
            <a:r>
              <a:rPr lang="en-US" dirty="0"/>
              <a:t>The term was first coined by </a:t>
            </a:r>
            <a:r>
              <a:rPr lang="en-US" b="1" dirty="0"/>
              <a:t>Dijkstra</a:t>
            </a:r>
            <a:r>
              <a:rPr lang="en-US" dirty="0"/>
              <a:t>. Any process synchronization technique being used must satisfy the property of mutual exclusion, without which it would not be possible to get rid of a race condition. </a:t>
            </a:r>
          </a:p>
          <a:p>
            <a:pPr fontAlgn="base">
              <a:buFont typeface="Wingdings" panose="05000000000000000000" pitchFamily="2" charset="2"/>
              <a:buChar char="Ø"/>
            </a:pPr>
            <a:r>
              <a:rPr lang="en-US" dirty="0"/>
              <a:t>The need for mutual exclusion comes with concurrency. There are several kinds of concurrent execution:</a:t>
            </a:r>
          </a:p>
          <a:p>
            <a:pPr fontAlgn="base">
              <a:buFont typeface="Wingdings" panose="05000000000000000000" pitchFamily="2" charset="2"/>
              <a:buChar char="Ø"/>
            </a:pPr>
            <a:r>
              <a:rPr lang="en-US" dirty="0"/>
              <a:t>Interrupt handlers</a:t>
            </a:r>
          </a:p>
          <a:p>
            <a:pPr fontAlgn="base">
              <a:buFont typeface="Wingdings" panose="05000000000000000000" pitchFamily="2" charset="2"/>
              <a:buChar char="Ø"/>
            </a:pPr>
            <a:r>
              <a:rPr lang="en-US" dirty="0"/>
              <a:t>Interleaved, preemptively scheduled processes/threads</a:t>
            </a:r>
          </a:p>
          <a:p>
            <a:pPr fontAlgn="base">
              <a:buFont typeface="Wingdings" panose="05000000000000000000" pitchFamily="2" charset="2"/>
              <a:buChar char="Ø"/>
            </a:pPr>
            <a:r>
              <a:rPr lang="en-US" dirty="0"/>
              <a:t>Multiprocessor clusters, with shared memory</a:t>
            </a:r>
          </a:p>
          <a:p>
            <a:pPr fontAlgn="base">
              <a:buFont typeface="Wingdings" panose="05000000000000000000" pitchFamily="2" charset="2"/>
              <a:buChar char="Ø"/>
            </a:pPr>
            <a:r>
              <a:rPr lang="en-US" dirty="0"/>
              <a:t>Distributed systems</a:t>
            </a:r>
          </a:p>
          <a:p>
            <a:pPr fontAlgn="base"/>
            <a:endParaRPr lang="en-US" dirty="0"/>
          </a:p>
          <a:p>
            <a:pPr fontAlgn="base"/>
            <a:endParaRPr lang="en-US" dirty="0"/>
          </a:p>
          <a:p>
            <a:endParaRPr lang="en-US" dirty="0"/>
          </a:p>
        </p:txBody>
      </p:sp>
      <p:sp>
        <p:nvSpPr>
          <p:cNvPr id="4" name="Slide Number Placeholder 3">
            <a:extLst>
              <a:ext uri="{FF2B5EF4-FFF2-40B4-BE49-F238E27FC236}">
                <a16:creationId xmlns:a16="http://schemas.microsoft.com/office/drawing/2014/main" id="{DBE2346C-6E86-22DC-B9EB-731C10B5CDF2}"/>
              </a:ext>
            </a:extLst>
          </p:cNvPr>
          <p:cNvSpPr>
            <a:spLocks noGrp="1"/>
          </p:cNvSpPr>
          <p:nvPr>
            <p:ph type="sldNum" sz="quarter" idx="12"/>
          </p:nvPr>
        </p:nvSpPr>
        <p:spPr/>
        <p:txBody>
          <a:bodyPr/>
          <a:lstStyle/>
          <a:p>
            <a:fld id="{CBABCCC1-BF11-4F37-963E-1BCD5B23FD72}" type="slidenum">
              <a:rPr lang="en-IN" smtClean="0"/>
              <a:pPr/>
              <a:t>17</a:t>
            </a:fld>
            <a:endParaRPr lang="en-IN"/>
          </a:p>
        </p:txBody>
      </p:sp>
      <p:sp>
        <p:nvSpPr>
          <p:cNvPr id="5" name="Rounded Rectangle 17">
            <a:extLst>
              <a:ext uri="{FF2B5EF4-FFF2-40B4-BE49-F238E27FC236}">
                <a16:creationId xmlns:a16="http://schemas.microsoft.com/office/drawing/2014/main" id="{4C07EA9C-DEAE-C0E8-6314-034372CDB9C0}"/>
              </a:ext>
            </a:extLst>
          </p:cNvPr>
          <p:cNvSpPr/>
          <p:nvPr/>
        </p:nvSpPr>
        <p:spPr>
          <a:xfrm>
            <a:off x="2566290" y="1088410"/>
            <a:ext cx="6248399" cy="60649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Mutual Exclusion Using Mutexes</a:t>
            </a:r>
          </a:p>
        </p:txBody>
      </p:sp>
    </p:spTree>
    <p:extLst>
      <p:ext uri="{BB962C8B-B14F-4D97-AF65-F5344CB8AC3E}">
        <p14:creationId xmlns:p14="http://schemas.microsoft.com/office/powerpoint/2010/main" val="931211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9A49D4-BEEE-F2AE-9C6F-5AB146FA7513}"/>
              </a:ext>
            </a:extLst>
          </p:cNvPr>
          <p:cNvSpPr>
            <a:spLocks noGrp="1"/>
          </p:cNvSpPr>
          <p:nvPr>
            <p:ph idx="1"/>
          </p:nvPr>
        </p:nvSpPr>
        <p:spPr>
          <a:xfrm>
            <a:off x="1451579" y="2015732"/>
            <a:ext cx="9603275" cy="3825231"/>
          </a:xfrm>
        </p:spPr>
        <p:txBody>
          <a:bodyPr/>
          <a:lstStyle/>
          <a:p>
            <a:pPr fontAlgn="base">
              <a:buFont typeface="Wingdings" panose="05000000000000000000" pitchFamily="2" charset="2"/>
              <a:buChar char="Ø"/>
            </a:pPr>
            <a:r>
              <a:rPr lang="en-US" dirty="0"/>
              <a:t>Mutual exclusion methods are used in concurrent programming to avoid the simultaneous use of a common resource, such as a global variable, by pieces of computer code called critical sections.</a:t>
            </a:r>
          </a:p>
          <a:p>
            <a:pPr fontAlgn="base">
              <a:buFont typeface="Wingdings" panose="05000000000000000000" pitchFamily="2" charset="2"/>
              <a:buChar char="Ø"/>
            </a:pPr>
            <a:r>
              <a:rPr lang="en-US" dirty="0"/>
              <a:t>The requirement of mutual exclusion is that when process P1 is accessing a shared resource R1, another process should not be able to access resource R1 until process P1 has finished its operation with resource R1.</a:t>
            </a:r>
          </a:p>
          <a:p>
            <a:pPr fontAlgn="base">
              <a:buFont typeface="Wingdings" panose="05000000000000000000" pitchFamily="2" charset="2"/>
              <a:buChar char="Ø"/>
            </a:pPr>
            <a:r>
              <a:rPr lang="en-US" dirty="0"/>
              <a:t>Examples of such resources include files, I/O devices such as printers, and shared data structures.</a:t>
            </a:r>
          </a:p>
          <a:p>
            <a:endParaRPr lang="en-US" dirty="0"/>
          </a:p>
        </p:txBody>
      </p:sp>
      <p:sp>
        <p:nvSpPr>
          <p:cNvPr id="4" name="Slide Number Placeholder 3">
            <a:extLst>
              <a:ext uri="{FF2B5EF4-FFF2-40B4-BE49-F238E27FC236}">
                <a16:creationId xmlns:a16="http://schemas.microsoft.com/office/drawing/2014/main" id="{D3D9A05D-C753-5747-F6F1-2E1221BEDEFD}"/>
              </a:ext>
            </a:extLst>
          </p:cNvPr>
          <p:cNvSpPr>
            <a:spLocks noGrp="1"/>
          </p:cNvSpPr>
          <p:nvPr>
            <p:ph type="sldNum" sz="quarter" idx="12"/>
          </p:nvPr>
        </p:nvSpPr>
        <p:spPr/>
        <p:txBody>
          <a:bodyPr/>
          <a:lstStyle/>
          <a:p>
            <a:fld id="{CBABCCC1-BF11-4F37-963E-1BCD5B23FD72}" type="slidenum">
              <a:rPr lang="en-IN" smtClean="0"/>
              <a:pPr/>
              <a:t>18</a:t>
            </a:fld>
            <a:endParaRPr lang="en-IN"/>
          </a:p>
        </p:txBody>
      </p:sp>
    </p:spTree>
    <p:extLst>
      <p:ext uri="{BB962C8B-B14F-4D97-AF65-F5344CB8AC3E}">
        <p14:creationId xmlns:p14="http://schemas.microsoft.com/office/powerpoint/2010/main" val="15918495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291E0-BD96-C0EF-AB43-3554E4C2FE8B}"/>
              </a:ext>
            </a:extLst>
          </p:cNvPr>
          <p:cNvSpPr>
            <a:spLocks noGrp="1"/>
          </p:cNvSpPr>
          <p:nvPr>
            <p:ph type="title"/>
          </p:nvPr>
        </p:nvSpPr>
        <p:spPr>
          <a:xfrm>
            <a:off x="1451579" y="830424"/>
            <a:ext cx="9603275" cy="643814"/>
          </a:xfrm>
        </p:spPr>
        <p:txBody>
          <a:bodyPr>
            <a:normAutofit fontScale="90000"/>
          </a:bodyPr>
          <a:lstStyle/>
          <a:p>
            <a:pPr algn="ctr"/>
            <a:br>
              <a:rPr lang="en-US" b="1" dirty="0"/>
            </a:br>
            <a:endParaRPr lang="en-US" dirty="0"/>
          </a:p>
        </p:txBody>
      </p:sp>
      <p:sp>
        <p:nvSpPr>
          <p:cNvPr id="3" name="Content Placeholder 2">
            <a:extLst>
              <a:ext uri="{FF2B5EF4-FFF2-40B4-BE49-F238E27FC236}">
                <a16:creationId xmlns:a16="http://schemas.microsoft.com/office/drawing/2014/main" id="{8CFC91E2-E64E-4F07-3F6B-86EE6C95976F}"/>
              </a:ext>
            </a:extLst>
          </p:cNvPr>
          <p:cNvSpPr>
            <a:spLocks noGrp="1"/>
          </p:cNvSpPr>
          <p:nvPr>
            <p:ph idx="1"/>
          </p:nvPr>
        </p:nvSpPr>
        <p:spPr/>
        <p:txBody>
          <a:bodyPr>
            <a:normAutofit fontScale="92500" lnSpcReduction="20000"/>
          </a:bodyPr>
          <a:lstStyle/>
          <a:p>
            <a:pPr marL="0" indent="0" algn="just" fontAlgn="base">
              <a:buNone/>
            </a:pPr>
            <a:r>
              <a:rPr lang="en-US" dirty="0"/>
              <a:t>According to the following four criteria, mutual exclusion is applicable:</a:t>
            </a:r>
          </a:p>
          <a:p>
            <a:pPr algn="just" fontAlgn="base">
              <a:buFont typeface="Wingdings" panose="05000000000000000000" pitchFamily="2" charset="2"/>
              <a:buChar char="v"/>
            </a:pPr>
            <a:r>
              <a:rPr lang="en-US" dirty="0"/>
              <a:t>When using shared resources, it is important to ensure mutual exclusion between various processes. There cannot be two processes running simultaneously in either of their critical sections.</a:t>
            </a:r>
          </a:p>
          <a:p>
            <a:pPr algn="just" fontAlgn="base">
              <a:buFont typeface="Wingdings" panose="05000000000000000000" pitchFamily="2" charset="2"/>
              <a:buChar char="v"/>
            </a:pPr>
            <a:r>
              <a:rPr lang="en-US" dirty="0"/>
              <a:t>It is not advisable to make assumptions about the relative speeds of the unstable processes.</a:t>
            </a:r>
          </a:p>
          <a:p>
            <a:pPr algn="just" fontAlgn="base">
              <a:buFont typeface="Wingdings" panose="05000000000000000000" pitchFamily="2" charset="2"/>
              <a:buChar char="v"/>
            </a:pPr>
            <a:r>
              <a:rPr lang="en-US" dirty="0"/>
              <a:t>For access to the critical section, a process that is outside of it must not obstruct another process.</a:t>
            </a:r>
          </a:p>
          <a:p>
            <a:pPr algn="just" fontAlgn="base">
              <a:buFont typeface="Wingdings" panose="05000000000000000000" pitchFamily="2" charset="2"/>
              <a:buChar char="v"/>
            </a:pPr>
            <a:r>
              <a:rPr lang="en-US" dirty="0"/>
              <a:t>Its critical section must be accessible by multiple processes in a finite amount of time; multiple processes should never be kept waiting in an infinite loop.</a:t>
            </a:r>
          </a:p>
          <a:p>
            <a:endParaRPr lang="en-US" dirty="0"/>
          </a:p>
        </p:txBody>
      </p:sp>
      <p:sp>
        <p:nvSpPr>
          <p:cNvPr id="4" name="Slide Number Placeholder 3">
            <a:extLst>
              <a:ext uri="{FF2B5EF4-FFF2-40B4-BE49-F238E27FC236}">
                <a16:creationId xmlns:a16="http://schemas.microsoft.com/office/drawing/2014/main" id="{0270500F-582D-5BAF-CA99-9CC1AB3F5A44}"/>
              </a:ext>
            </a:extLst>
          </p:cNvPr>
          <p:cNvSpPr>
            <a:spLocks noGrp="1"/>
          </p:cNvSpPr>
          <p:nvPr>
            <p:ph type="sldNum" sz="quarter" idx="12"/>
          </p:nvPr>
        </p:nvSpPr>
        <p:spPr/>
        <p:txBody>
          <a:bodyPr/>
          <a:lstStyle/>
          <a:p>
            <a:fld id="{CBABCCC1-BF11-4F37-963E-1BCD5B23FD72}" type="slidenum">
              <a:rPr lang="en-IN" smtClean="0"/>
              <a:pPr/>
              <a:t>19</a:t>
            </a:fld>
            <a:endParaRPr lang="en-IN"/>
          </a:p>
        </p:txBody>
      </p:sp>
      <p:sp>
        <p:nvSpPr>
          <p:cNvPr id="5" name="Rounded Rectangle 17">
            <a:extLst>
              <a:ext uri="{FF2B5EF4-FFF2-40B4-BE49-F238E27FC236}">
                <a16:creationId xmlns:a16="http://schemas.microsoft.com/office/drawing/2014/main" id="{3B9B038A-51F6-A7F9-8775-22A0BA7BB900}"/>
              </a:ext>
            </a:extLst>
          </p:cNvPr>
          <p:cNvSpPr/>
          <p:nvPr/>
        </p:nvSpPr>
        <p:spPr>
          <a:xfrm>
            <a:off x="1810140" y="830424"/>
            <a:ext cx="8864080" cy="86447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Conditions Required for Mutual Exclusion</a:t>
            </a:r>
            <a:endParaRPr lang="en-US" sz="3200" dirty="0"/>
          </a:p>
        </p:txBody>
      </p:sp>
    </p:spTree>
    <p:extLst>
      <p:ext uri="{BB962C8B-B14F-4D97-AF65-F5344CB8AC3E}">
        <p14:creationId xmlns:p14="http://schemas.microsoft.com/office/powerpoint/2010/main" val="2492276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276E8E-CF27-D0FB-7B22-805141FAADDB}"/>
              </a:ext>
            </a:extLst>
          </p:cNvPr>
          <p:cNvSpPr>
            <a:spLocks noGrp="1"/>
          </p:cNvSpPr>
          <p:nvPr>
            <p:ph idx="1"/>
          </p:nvPr>
        </p:nvSpPr>
        <p:spPr/>
        <p:txBody>
          <a:bodyPr>
            <a:normAutofit fontScale="85000" lnSpcReduction="10000"/>
          </a:bodyPr>
          <a:lstStyle/>
          <a:p>
            <a:pPr marL="0" indent="0" fontAlgn="base">
              <a:buNone/>
            </a:pPr>
            <a:r>
              <a:rPr lang="en-US" b="1" dirty="0"/>
              <a:t>Conditions Required for Mutual Exclusion</a:t>
            </a:r>
          </a:p>
          <a:p>
            <a:pPr marL="0" indent="0" fontAlgn="base">
              <a:buNone/>
            </a:pPr>
            <a:r>
              <a:rPr lang="en-US" dirty="0"/>
              <a:t>According to the following four criteria, mutual exclusion is applicable:</a:t>
            </a:r>
          </a:p>
          <a:p>
            <a:pPr algn="just" fontAlgn="base">
              <a:buFont typeface="Wingdings" panose="05000000000000000000" pitchFamily="2" charset="2"/>
              <a:buChar char="ü"/>
            </a:pPr>
            <a:r>
              <a:rPr lang="en-US" dirty="0"/>
              <a:t>When using shared resources, it is important to ensure mutual exclusion between various processes. There cannot be two processes running simultaneously in either of their critical sections.</a:t>
            </a:r>
          </a:p>
          <a:p>
            <a:pPr algn="just" fontAlgn="base">
              <a:buFont typeface="Wingdings" panose="05000000000000000000" pitchFamily="2" charset="2"/>
              <a:buChar char="ü"/>
            </a:pPr>
            <a:r>
              <a:rPr lang="en-US" dirty="0"/>
              <a:t>It is not advisable to make assumptions about the relative speeds of the unstable processes.</a:t>
            </a:r>
          </a:p>
          <a:p>
            <a:pPr algn="just" fontAlgn="base">
              <a:buFont typeface="Wingdings" panose="05000000000000000000" pitchFamily="2" charset="2"/>
              <a:buChar char="ü"/>
            </a:pPr>
            <a:r>
              <a:rPr lang="en-US" dirty="0"/>
              <a:t>For access to the critical section, a process that is outside of it must not obstruct another process.</a:t>
            </a:r>
          </a:p>
          <a:p>
            <a:pPr algn="just" fontAlgn="base">
              <a:buFont typeface="Wingdings" panose="05000000000000000000" pitchFamily="2" charset="2"/>
              <a:buChar char="ü"/>
            </a:pPr>
            <a:r>
              <a:rPr lang="en-US" dirty="0"/>
              <a:t>Its critical section must be accessible by multiple processes in a finite amount of time; multiple processes should never be kept waiting in an infinite loop.</a:t>
            </a:r>
          </a:p>
          <a:p>
            <a:endParaRPr lang="en-US" dirty="0"/>
          </a:p>
        </p:txBody>
      </p:sp>
      <p:sp>
        <p:nvSpPr>
          <p:cNvPr id="4" name="Slide Number Placeholder 3">
            <a:extLst>
              <a:ext uri="{FF2B5EF4-FFF2-40B4-BE49-F238E27FC236}">
                <a16:creationId xmlns:a16="http://schemas.microsoft.com/office/drawing/2014/main" id="{FC2D4ED8-5E0E-F806-73FB-48F2F4A96B1A}"/>
              </a:ext>
            </a:extLst>
          </p:cNvPr>
          <p:cNvSpPr>
            <a:spLocks noGrp="1"/>
          </p:cNvSpPr>
          <p:nvPr>
            <p:ph type="sldNum" sz="quarter" idx="12"/>
          </p:nvPr>
        </p:nvSpPr>
        <p:spPr/>
        <p:txBody>
          <a:bodyPr/>
          <a:lstStyle/>
          <a:p>
            <a:fld id="{CBABCCC1-BF11-4F37-963E-1BCD5B23FD72}" type="slidenum">
              <a:rPr lang="en-IN" smtClean="0"/>
              <a:pPr/>
              <a:t>20</a:t>
            </a:fld>
            <a:endParaRPr lang="en-IN"/>
          </a:p>
        </p:txBody>
      </p:sp>
    </p:spTree>
    <p:extLst>
      <p:ext uri="{BB962C8B-B14F-4D97-AF65-F5344CB8AC3E}">
        <p14:creationId xmlns:p14="http://schemas.microsoft.com/office/powerpoint/2010/main" val="42550856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66E820-06F2-18C6-14A5-ABF8C1DDBB87}"/>
              </a:ext>
            </a:extLst>
          </p:cNvPr>
          <p:cNvSpPr>
            <a:spLocks noGrp="1"/>
          </p:cNvSpPr>
          <p:nvPr>
            <p:ph idx="1"/>
          </p:nvPr>
        </p:nvSpPr>
        <p:spPr/>
        <p:txBody>
          <a:bodyPr/>
          <a:lstStyle/>
          <a:p>
            <a:pPr marL="0" indent="0" fontAlgn="base">
              <a:buNone/>
            </a:pPr>
            <a:r>
              <a:rPr lang="en-US" b="1" dirty="0"/>
              <a:t>Approaches To Implementing Mutual Exclusion</a:t>
            </a:r>
          </a:p>
          <a:p>
            <a:pPr fontAlgn="base"/>
            <a:r>
              <a:rPr lang="en-US" b="1" dirty="0"/>
              <a:t>Software Method: </a:t>
            </a:r>
            <a:r>
              <a:rPr lang="en-US" dirty="0"/>
              <a:t>Leave the responsibility to the processes themselves. These methods are usually highly error-prone and carry high overheads.</a:t>
            </a:r>
          </a:p>
          <a:p>
            <a:pPr fontAlgn="base"/>
            <a:r>
              <a:rPr lang="en-US" b="1" dirty="0"/>
              <a:t>Hardware Method: </a:t>
            </a:r>
            <a:r>
              <a:rPr lang="en-US" dirty="0"/>
              <a:t>Special-purpose machine instructions are used for accessing shared resources. This method is faster but cannot provide a complete solution. Hardware solutions cannot give guarantee the absence of deadlock and starvation.</a:t>
            </a:r>
          </a:p>
          <a:p>
            <a:pPr fontAlgn="base"/>
            <a:r>
              <a:rPr lang="en-US" b="1" dirty="0"/>
              <a:t>Programming Language Method: </a:t>
            </a:r>
            <a:r>
              <a:rPr lang="en-US" dirty="0"/>
              <a:t>Provide support through the operating system or through the programming language.</a:t>
            </a:r>
          </a:p>
          <a:p>
            <a:endParaRPr lang="en-US" dirty="0"/>
          </a:p>
        </p:txBody>
      </p:sp>
      <p:sp>
        <p:nvSpPr>
          <p:cNvPr id="4" name="Slide Number Placeholder 3">
            <a:extLst>
              <a:ext uri="{FF2B5EF4-FFF2-40B4-BE49-F238E27FC236}">
                <a16:creationId xmlns:a16="http://schemas.microsoft.com/office/drawing/2014/main" id="{84897AEC-33E3-2332-707B-E6955293886E}"/>
              </a:ext>
            </a:extLst>
          </p:cNvPr>
          <p:cNvSpPr>
            <a:spLocks noGrp="1"/>
          </p:cNvSpPr>
          <p:nvPr>
            <p:ph type="sldNum" sz="quarter" idx="12"/>
          </p:nvPr>
        </p:nvSpPr>
        <p:spPr/>
        <p:txBody>
          <a:bodyPr/>
          <a:lstStyle/>
          <a:p>
            <a:fld id="{CBABCCC1-BF11-4F37-963E-1BCD5B23FD72}" type="slidenum">
              <a:rPr lang="en-IN" smtClean="0"/>
              <a:pPr/>
              <a:t>21</a:t>
            </a:fld>
            <a:endParaRPr lang="en-IN" dirty="0"/>
          </a:p>
        </p:txBody>
      </p:sp>
    </p:spTree>
    <p:extLst>
      <p:ext uri="{BB962C8B-B14F-4D97-AF65-F5344CB8AC3E}">
        <p14:creationId xmlns:p14="http://schemas.microsoft.com/office/powerpoint/2010/main" val="12587834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490BBE-72D5-93B0-52AB-52392AC81D2A}"/>
              </a:ext>
            </a:extLst>
          </p:cNvPr>
          <p:cNvSpPr>
            <a:spLocks noGrp="1"/>
          </p:cNvSpPr>
          <p:nvPr>
            <p:ph idx="1"/>
          </p:nvPr>
        </p:nvSpPr>
        <p:spPr/>
        <p:txBody>
          <a:bodyPr>
            <a:normAutofit fontScale="92500" lnSpcReduction="10000"/>
          </a:bodyPr>
          <a:lstStyle/>
          <a:p>
            <a:pPr fontAlgn="base"/>
            <a:r>
              <a:rPr lang="en-US" b="1" dirty="0"/>
              <a:t>Requirements of Mutual Exclusion</a:t>
            </a:r>
          </a:p>
          <a:p>
            <a:pPr fontAlgn="base"/>
            <a:r>
              <a:rPr lang="en-US" dirty="0"/>
              <a:t>At any time, only one process is allowed to enter its critical section.</a:t>
            </a:r>
          </a:p>
          <a:p>
            <a:pPr fontAlgn="base"/>
            <a:r>
              <a:rPr lang="en-US" dirty="0"/>
              <a:t>The solution is implemented purely in software on a machine.</a:t>
            </a:r>
          </a:p>
          <a:p>
            <a:pPr fontAlgn="base"/>
            <a:r>
              <a:rPr lang="en-US" dirty="0"/>
              <a:t>A process remains inside its critical section for a bounded time only.</a:t>
            </a:r>
          </a:p>
          <a:p>
            <a:pPr fontAlgn="base"/>
            <a:r>
              <a:rPr lang="en-US" dirty="0"/>
              <a:t>No assumption can be made about the relative speeds of asynchronous concurrent processes.</a:t>
            </a:r>
          </a:p>
          <a:p>
            <a:pPr fontAlgn="base"/>
            <a:r>
              <a:rPr lang="en-US" dirty="0"/>
              <a:t>A process cannot prevent any other process from entering into a critical section.</a:t>
            </a:r>
          </a:p>
          <a:p>
            <a:pPr fontAlgn="base"/>
            <a:r>
              <a:rPr lang="en-US" dirty="0"/>
              <a:t>A process must not be indefinitely postponed from entering its critical section.</a:t>
            </a:r>
          </a:p>
          <a:p>
            <a:endParaRPr lang="en-US" dirty="0"/>
          </a:p>
        </p:txBody>
      </p:sp>
      <p:sp>
        <p:nvSpPr>
          <p:cNvPr id="4" name="Slide Number Placeholder 3">
            <a:extLst>
              <a:ext uri="{FF2B5EF4-FFF2-40B4-BE49-F238E27FC236}">
                <a16:creationId xmlns:a16="http://schemas.microsoft.com/office/drawing/2014/main" id="{CC6EBD8E-7B47-45D8-D777-A835DE3F1404}"/>
              </a:ext>
            </a:extLst>
          </p:cNvPr>
          <p:cNvSpPr>
            <a:spLocks noGrp="1"/>
          </p:cNvSpPr>
          <p:nvPr>
            <p:ph type="sldNum" sz="quarter" idx="12"/>
          </p:nvPr>
        </p:nvSpPr>
        <p:spPr/>
        <p:txBody>
          <a:bodyPr/>
          <a:lstStyle/>
          <a:p>
            <a:fld id="{CBABCCC1-BF11-4F37-963E-1BCD5B23FD72}" type="slidenum">
              <a:rPr lang="en-IN" smtClean="0"/>
              <a:pPr/>
              <a:t>22</a:t>
            </a:fld>
            <a:endParaRPr lang="en-IN" dirty="0"/>
          </a:p>
        </p:txBody>
      </p:sp>
    </p:spTree>
    <p:extLst>
      <p:ext uri="{BB962C8B-B14F-4D97-AF65-F5344CB8AC3E}">
        <p14:creationId xmlns:p14="http://schemas.microsoft.com/office/powerpoint/2010/main" val="20990451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1B8EC-5BE8-2394-269B-341FE9377A2B}"/>
              </a:ext>
            </a:extLst>
          </p:cNvPr>
          <p:cNvSpPr>
            <a:spLocks noGrp="1"/>
          </p:cNvSpPr>
          <p:nvPr>
            <p:ph type="title"/>
          </p:nvPr>
        </p:nvSpPr>
        <p:spPr/>
        <p:txBody>
          <a:bodyPr/>
          <a:lstStyle/>
          <a:p>
            <a:r>
              <a:rPr lang="en-US" dirty="0"/>
              <a:t>Conditional Variables</a:t>
            </a:r>
            <a:br>
              <a:rPr lang="en-US" dirty="0"/>
            </a:br>
            <a:endParaRPr lang="en-US" dirty="0"/>
          </a:p>
        </p:txBody>
      </p:sp>
      <p:sp>
        <p:nvSpPr>
          <p:cNvPr id="3" name="Content Placeholder 2">
            <a:extLst>
              <a:ext uri="{FF2B5EF4-FFF2-40B4-BE49-F238E27FC236}">
                <a16:creationId xmlns:a16="http://schemas.microsoft.com/office/drawing/2014/main" id="{C83DDA5E-C4CD-3DAF-C969-D933CC629D50}"/>
              </a:ext>
            </a:extLst>
          </p:cNvPr>
          <p:cNvSpPr>
            <a:spLocks noGrp="1"/>
          </p:cNvSpPr>
          <p:nvPr>
            <p:ph idx="1"/>
          </p:nvPr>
        </p:nvSpPr>
        <p:spPr/>
        <p:txBody>
          <a:bodyPr>
            <a:normAutofit fontScale="92500" lnSpcReduction="20000"/>
          </a:bodyPr>
          <a:lstStyle/>
          <a:p>
            <a:r>
              <a:rPr lang="en-US" dirty="0"/>
              <a:t>In concurrent programming within operating systems, </a:t>
            </a:r>
            <a:r>
              <a:rPr lang="en-US" b="1" dirty="0"/>
              <a:t>mutexes</a:t>
            </a:r>
            <a:r>
              <a:rPr lang="en-US" dirty="0"/>
              <a:t> and </a:t>
            </a:r>
            <a:r>
              <a:rPr lang="en-US" b="1" dirty="0"/>
              <a:t>condition variables</a:t>
            </a:r>
            <a:r>
              <a:rPr lang="en-US" dirty="0"/>
              <a:t> are both </a:t>
            </a:r>
            <a:r>
              <a:rPr lang="en-US" b="1" dirty="0"/>
              <a:t>synchronization primitives</a:t>
            </a:r>
            <a:r>
              <a:rPr lang="en-US" dirty="0"/>
              <a:t>, but they serve fundamentally different purposes. Below is a detailed comparison from first principles:</a:t>
            </a:r>
          </a:p>
          <a:p>
            <a:pPr marL="0" indent="0">
              <a:buNone/>
            </a:pPr>
            <a:r>
              <a:rPr lang="en-US" b="1" dirty="0"/>
              <a:t>Definition</a:t>
            </a:r>
          </a:p>
          <a:p>
            <a:r>
              <a:rPr lang="en-US" b="1" dirty="0"/>
              <a:t>Mutex (Mutual Exclusion Object):</a:t>
            </a:r>
            <a:br>
              <a:rPr lang="en-US" dirty="0"/>
            </a:br>
            <a:r>
              <a:rPr lang="en-US" dirty="0"/>
              <a:t>A mechanism to enforce </a:t>
            </a:r>
            <a:r>
              <a:rPr lang="en-US" b="1" dirty="0"/>
              <a:t>exclusive access</a:t>
            </a:r>
            <a:r>
              <a:rPr lang="en-US" dirty="0"/>
              <a:t> to a shared resource. Only one thread can acquire the mutex at a time.</a:t>
            </a:r>
          </a:p>
          <a:p>
            <a:r>
              <a:rPr lang="en-US" b="1" dirty="0"/>
              <a:t>Condition Variable:</a:t>
            </a:r>
            <a:br>
              <a:rPr lang="en-US" dirty="0"/>
            </a:br>
            <a:r>
              <a:rPr lang="en-US" dirty="0"/>
              <a:t>A mechanism that allows threads to </a:t>
            </a:r>
            <a:r>
              <a:rPr lang="en-US" b="1" dirty="0"/>
              <a:t>wait for specific conditions</a:t>
            </a:r>
            <a:r>
              <a:rPr lang="en-US" dirty="0"/>
              <a:t> to be met while releasing temporary locks. It is used in conjunction with a mutex.</a:t>
            </a:r>
          </a:p>
          <a:p>
            <a:endParaRPr lang="en-US" dirty="0"/>
          </a:p>
        </p:txBody>
      </p:sp>
      <p:sp>
        <p:nvSpPr>
          <p:cNvPr id="4" name="Slide Number Placeholder 3">
            <a:extLst>
              <a:ext uri="{FF2B5EF4-FFF2-40B4-BE49-F238E27FC236}">
                <a16:creationId xmlns:a16="http://schemas.microsoft.com/office/drawing/2014/main" id="{C7F1C44D-00E9-3A62-6C31-91D9F832361F}"/>
              </a:ext>
            </a:extLst>
          </p:cNvPr>
          <p:cNvSpPr>
            <a:spLocks noGrp="1"/>
          </p:cNvSpPr>
          <p:nvPr>
            <p:ph type="sldNum" sz="quarter" idx="12"/>
          </p:nvPr>
        </p:nvSpPr>
        <p:spPr/>
        <p:txBody>
          <a:bodyPr/>
          <a:lstStyle/>
          <a:p>
            <a:fld id="{CBABCCC1-BF11-4F37-963E-1BCD5B23FD72}" type="slidenum">
              <a:rPr lang="en-IN" smtClean="0"/>
              <a:pPr/>
              <a:t>23</a:t>
            </a:fld>
            <a:endParaRPr lang="en-IN" dirty="0"/>
          </a:p>
        </p:txBody>
      </p:sp>
    </p:spTree>
    <p:extLst>
      <p:ext uri="{BB962C8B-B14F-4D97-AF65-F5344CB8AC3E}">
        <p14:creationId xmlns:p14="http://schemas.microsoft.com/office/powerpoint/2010/main" val="3566618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5047578-79B8-7544-3AC1-FB292A28024D}"/>
              </a:ext>
            </a:extLst>
          </p:cNvPr>
          <p:cNvSpPr>
            <a:spLocks noGrp="1"/>
          </p:cNvSpPr>
          <p:nvPr>
            <p:ph type="sldNum" sz="quarter" idx="12"/>
          </p:nvPr>
        </p:nvSpPr>
        <p:spPr/>
        <p:txBody>
          <a:bodyPr/>
          <a:lstStyle/>
          <a:p>
            <a:fld id="{CBABCCC1-BF11-4F37-963E-1BCD5B23FD72}" type="slidenum">
              <a:rPr lang="en-IN" smtClean="0"/>
              <a:pPr/>
              <a:t>24</a:t>
            </a:fld>
            <a:endParaRPr lang="en-IN" dirty="0"/>
          </a:p>
        </p:txBody>
      </p:sp>
      <p:pic>
        <p:nvPicPr>
          <p:cNvPr id="3" name="Picture 2">
            <a:extLst>
              <a:ext uri="{FF2B5EF4-FFF2-40B4-BE49-F238E27FC236}">
                <a16:creationId xmlns:a16="http://schemas.microsoft.com/office/drawing/2014/main" id="{ECD42BA8-075A-F522-3977-769CFEEC2809}"/>
              </a:ext>
            </a:extLst>
          </p:cNvPr>
          <p:cNvPicPr>
            <a:picLocks noChangeAspect="1"/>
          </p:cNvPicPr>
          <p:nvPr/>
        </p:nvPicPr>
        <p:blipFill>
          <a:blip r:embed="rId2" cstate="print"/>
          <a:stretch>
            <a:fillRect/>
          </a:stretch>
        </p:blipFill>
        <p:spPr>
          <a:xfrm>
            <a:off x="0" y="0"/>
            <a:ext cx="1567654" cy="624416"/>
          </a:xfrm>
          <a:prstGeom prst="rect">
            <a:avLst/>
          </a:prstGeom>
        </p:spPr>
      </p:pic>
      <p:sp>
        <p:nvSpPr>
          <p:cNvPr id="5" name="TextBox 4">
            <a:extLst>
              <a:ext uri="{FF2B5EF4-FFF2-40B4-BE49-F238E27FC236}">
                <a16:creationId xmlns:a16="http://schemas.microsoft.com/office/drawing/2014/main" id="{A67A0067-5558-5ABE-D6A0-AC8422084D7B}"/>
              </a:ext>
            </a:extLst>
          </p:cNvPr>
          <p:cNvSpPr txBox="1"/>
          <p:nvPr/>
        </p:nvSpPr>
        <p:spPr>
          <a:xfrm>
            <a:off x="597159" y="923731"/>
            <a:ext cx="8556171" cy="332783"/>
          </a:xfrm>
          <a:prstGeom prst="rect">
            <a:avLst/>
          </a:prstGeom>
          <a:noFill/>
        </p:spPr>
        <p:txBody>
          <a:bodyPr wrap="square">
            <a:spAutoFit/>
          </a:bodyPr>
          <a:lstStyle/>
          <a:p>
            <a:pPr marL="0" marR="0" indent="0" algn="l">
              <a:lnSpc>
                <a:spcPts val="1950"/>
              </a:lnSpc>
              <a:buNone/>
            </a:pPr>
            <a:r>
              <a:rPr lang="en-US" sz="1500" b="1" dirty="0">
                <a:effectLst/>
                <a:latin typeface="Roboto" panose="02000000000000000000" pitchFamily="2" charset="0"/>
              </a:rPr>
              <a:t>Purpose</a:t>
            </a:r>
          </a:p>
        </p:txBody>
      </p:sp>
      <p:graphicFrame>
        <p:nvGraphicFramePr>
          <p:cNvPr id="6" name="Table 5">
            <a:extLst>
              <a:ext uri="{FF2B5EF4-FFF2-40B4-BE49-F238E27FC236}">
                <a16:creationId xmlns:a16="http://schemas.microsoft.com/office/drawing/2014/main" id="{40710F60-427B-C235-F473-33CD2AC509A6}"/>
              </a:ext>
            </a:extLst>
          </p:cNvPr>
          <p:cNvGraphicFramePr>
            <a:graphicFrameLocks noGrp="1"/>
          </p:cNvGraphicFramePr>
          <p:nvPr>
            <p:extLst>
              <p:ext uri="{D42A27DB-BD31-4B8C-83A1-F6EECF244321}">
                <p14:modId xmlns:p14="http://schemas.microsoft.com/office/powerpoint/2010/main" val="640378756"/>
              </p:ext>
            </p:extLst>
          </p:nvPr>
        </p:nvGraphicFramePr>
        <p:xfrm>
          <a:off x="597159" y="1453546"/>
          <a:ext cx="4812669" cy="2482882"/>
        </p:xfrm>
        <a:graphic>
          <a:graphicData uri="http://schemas.openxmlformats.org/drawingml/2006/table">
            <a:tbl>
              <a:tblPr/>
              <a:tblGrid>
                <a:gridCol w="1604223">
                  <a:extLst>
                    <a:ext uri="{9D8B030D-6E8A-4147-A177-3AD203B41FA5}">
                      <a16:colId xmlns:a16="http://schemas.microsoft.com/office/drawing/2014/main" val="2846782466"/>
                    </a:ext>
                  </a:extLst>
                </a:gridCol>
                <a:gridCol w="1604223">
                  <a:extLst>
                    <a:ext uri="{9D8B030D-6E8A-4147-A177-3AD203B41FA5}">
                      <a16:colId xmlns:a16="http://schemas.microsoft.com/office/drawing/2014/main" val="4216209883"/>
                    </a:ext>
                  </a:extLst>
                </a:gridCol>
                <a:gridCol w="1604223">
                  <a:extLst>
                    <a:ext uri="{9D8B030D-6E8A-4147-A177-3AD203B41FA5}">
                      <a16:colId xmlns:a16="http://schemas.microsoft.com/office/drawing/2014/main" val="2081722997"/>
                    </a:ext>
                  </a:extLst>
                </a:gridCol>
              </a:tblGrid>
              <a:tr h="437258">
                <a:tc>
                  <a:txBody>
                    <a:bodyPr/>
                    <a:lstStyle/>
                    <a:p>
                      <a:pPr marL="0" marR="0" algn="l" fontAlgn="t">
                        <a:lnSpc>
                          <a:spcPts val="1950"/>
                        </a:lnSpc>
                        <a:buNone/>
                      </a:pPr>
                      <a:r>
                        <a:rPr lang="en-US" sz="1200" b="1" dirty="0">
                          <a:effectLst/>
                          <a:latin typeface="Roboto" panose="02000000000000000000" pitchFamily="2" charset="0"/>
                        </a:rPr>
                        <a:t>Feature</a:t>
                      </a:r>
                    </a:p>
                  </a:txBody>
                  <a:tcPr marR="76200" marB="76200">
                    <a:lnL w="6096" cap="flat" cmpd="sng" algn="ctr">
                      <a:solidFill>
                        <a:srgbClr val="E03066"/>
                      </a:solidFill>
                      <a:prstDash val="solid"/>
                      <a:round/>
                      <a:headEnd type="none" w="med" len="med"/>
                      <a:tailEnd type="none" w="med" len="med"/>
                    </a:lnL>
                    <a:lnR>
                      <a:noFill/>
                    </a:lnR>
                    <a:lnT w="6096" cap="flat" cmpd="sng" algn="ctr">
                      <a:solidFill>
                        <a:srgbClr val="E03066"/>
                      </a:solidFill>
                      <a:prstDash val="solid"/>
                      <a:round/>
                      <a:headEnd type="none" w="med" len="med"/>
                      <a:tailEnd type="none" w="med" len="med"/>
                    </a:lnT>
                    <a:lnB>
                      <a:noFill/>
                    </a:lnB>
                    <a:solidFill>
                      <a:srgbClr val="EFEAE7"/>
                    </a:solidFill>
                  </a:tcPr>
                </a:tc>
                <a:tc>
                  <a:txBody>
                    <a:bodyPr/>
                    <a:lstStyle/>
                    <a:p>
                      <a:pPr marL="0" marR="0" algn="l" fontAlgn="t">
                        <a:lnSpc>
                          <a:spcPts val="1950"/>
                        </a:lnSpc>
                        <a:buNone/>
                      </a:pPr>
                      <a:r>
                        <a:rPr lang="en-US" sz="1200" b="1" dirty="0">
                          <a:effectLst/>
                          <a:latin typeface="Roboto" panose="02000000000000000000" pitchFamily="2" charset="0"/>
                        </a:rPr>
                        <a:t>Mutex</a:t>
                      </a:r>
                    </a:p>
                  </a:txBody>
                  <a:tcPr marR="76200" marB="76200">
                    <a:lnL>
                      <a:noFill/>
                    </a:lnL>
                    <a:lnR>
                      <a:noFill/>
                    </a:lnR>
                    <a:lnT w="6096" cap="flat" cmpd="sng" algn="ctr">
                      <a:solidFill>
                        <a:srgbClr val="C0056F"/>
                      </a:solidFill>
                      <a:prstDash val="solid"/>
                      <a:round/>
                      <a:headEnd type="none" w="med" len="med"/>
                      <a:tailEnd type="none" w="med" len="med"/>
                    </a:lnT>
                    <a:lnB>
                      <a:noFill/>
                    </a:lnB>
                    <a:solidFill>
                      <a:srgbClr val="EFEAE7"/>
                    </a:solidFill>
                  </a:tcPr>
                </a:tc>
                <a:tc>
                  <a:txBody>
                    <a:bodyPr/>
                    <a:lstStyle/>
                    <a:p>
                      <a:pPr marL="0" marR="0" algn="l" fontAlgn="t">
                        <a:lnSpc>
                          <a:spcPts val="1950"/>
                        </a:lnSpc>
                        <a:buNone/>
                      </a:pPr>
                      <a:r>
                        <a:rPr lang="en-US" sz="1200" b="1" dirty="0">
                          <a:effectLst/>
                          <a:latin typeface="Roboto" panose="02000000000000000000" pitchFamily="2" charset="0"/>
                        </a:rPr>
                        <a:t>Condition Variable</a:t>
                      </a:r>
                    </a:p>
                  </a:txBody>
                  <a:tcPr marB="76200">
                    <a:lnL>
                      <a:noFill/>
                    </a:lnL>
                    <a:lnR w="6096" cap="flat" cmpd="sng" algn="ctr">
                      <a:solidFill>
                        <a:srgbClr val="400B6F"/>
                      </a:solidFill>
                      <a:prstDash val="solid"/>
                      <a:round/>
                      <a:headEnd type="none" w="med" len="med"/>
                      <a:tailEnd type="none" w="med" len="med"/>
                    </a:lnR>
                    <a:lnT w="6096" cap="flat" cmpd="sng" algn="ctr">
                      <a:solidFill>
                        <a:srgbClr val="400B6F"/>
                      </a:solidFill>
                      <a:prstDash val="solid"/>
                      <a:round/>
                      <a:headEnd type="none" w="med" len="med"/>
                      <a:tailEnd type="none" w="med" len="med"/>
                    </a:lnT>
                    <a:lnB>
                      <a:noFill/>
                    </a:lnB>
                    <a:solidFill>
                      <a:srgbClr val="EFEAE7"/>
                    </a:solidFill>
                  </a:tcPr>
                </a:tc>
                <a:extLst>
                  <a:ext uri="{0D108BD9-81ED-4DB2-BD59-A6C34878D82A}">
                    <a16:rowId xmlns:a16="http://schemas.microsoft.com/office/drawing/2014/main" val="2881706252"/>
                  </a:ext>
                </a:extLst>
              </a:tr>
              <a:tr h="861059">
                <a:tc>
                  <a:txBody>
                    <a:bodyPr/>
                    <a:lstStyle/>
                    <a:p>
                      <a:pPr marL="0" marR="0" algn="l" fontAlgn="t">
                        <a:lnSpc>
                          <a:spcPts val="1950"/>
                        </a:lnSpc>
                        <a:buNone/>
                      </a:pPr>
                      <a:r>
                        <a:rPr lang="en-US" sz="1200" b="0" dirty="0">
                          <a:effectLst/>
                          <a:latin typeface="Roboto" panose="02000000000000000000" pitchFamily="2" charset="0"/>
                        </a:rPr>
                        <a:t>Core purpose</a:t>
                      </a:r>
                    </a:p>
                  </a:txBody>
                  <a:tcPr marR="76200" marB="76200">
                    <a:lnL w="6096" cap="flat" cmpd="sng" algn="ctr">
                      <a:solidFill>
                        <a:srgbClr val="80A0CA"/>
                      </a:solidFill>
                      <a:prstDash val="solid"/>
                      <a:round/>
                      <a:headEnd type="none" w="med" len="med"/>
                      <a:tailEnd type="none" w="med" len="med"/>
                    </a:lnL>
                    <a:lnR>
                      <a:noFill/>
                    </a:lnR>
                    <a:lnT>
                      <a:noFill/>
                    </a:lnT>
                    <a:lnB w="6096" cap="flat" cmpd="sng" algn="ctr">
                      <a:solidFill>
                        <a:srgbClr val="80A0CA"/>
                      </a:solidFill>
                      <a:prstDash val="solid"/>
                      <a:round/>
                      <a:headEnd type="none" w="med" len="med"/>
                      <a:tailEnd type="none" w="med" len="med"/>
                    </a:lnB>
                    <a:solidFill>
                      <a:srgbClr val="FFFFFF"/>
                    </a:solidFill>
                  </a:tcPr>
                </a:tc>
                <a:tc>
                  <a:txBody>
                    <a:bodyPr/>
                    <a:lstStyle/>
                    <a:p>
                      <a:pPr marL="0" marR="0" algn="l" fontAlgn="t">
                        <a:lnSpc>
                          <a:spcPts val="1950"/>
                        </a:lnSpc>
                        <a:buNone/>
                      </a:pPr>
                      <a:r>
                        <a:rPr lang="en-US" sz="1200" b="0" dirty="0">
                          <a:effectLst/>
                          <a:latin typeface="Roboto" panose="02000000000000000000" pitchFamily="2" charset="0"/>
                        </a:rPr>
                        <a:t>Protect shared resources from concurrent access</a:t>
                      </a:r>
                    </a:p>
                  </a:txBody>
                  <a:tcPr marR="76200" marB="76200">
                    <a:lnL>
                      <a:noFill/>
                    </a:lnL>
                    <a:lnR>
                      <a:noFill/>
                    </a:lnR>
                    <a:lnT>
                      <a:noFill/>
                    </a:lnT>
                    <a:lnB w="6096" cap="flat" cmpd="sng" algn="ctr">
                      <a:solidFill>
                        <a:srgbClr val="403D66"/>
                      </a:solidFill>
                      <a:prstDash val="solid"/>
                      <a:round/>
                      <a:headEnd type="none" w="med" len="med"/>
                      <a:tailEnd type="none" w="med" len="med"/>
                    </a:lnB>
                    <a:solidFill>
                      <a:srgbClr val="FFFFFF"/>
                    </a:solidFill>
                  </a:tcPr>
                </a:tc>
                <a:tc>
                  <a:txBody>
                    <a:bodyPr/>
                    <a:lstStyle/>
                    <a:p>
                      <a:pPr marL="0" marR="0" algn="l" fontAlgn="t">
                        <a:lnSpc>
                          <a:spcPts val="1950"/>
                        </a:lnSpc>
                        <a:buNone/>
                      </a:pPr>
                      <a:r>
                        <a:rPr lang="en-US" sz="1200" b="0" dirty="0">
                          <a:effectLst/>
                          <a:latin typeface="Roboto" panose="02000000000000000000" pitchFamily="2" charset="0"/>
                        </a:rPr>
                        <a:t>Allow threads to </a:t>
                      </a:r>
                      <a:r>
                        <a:rPr lang="en-US" sz="1200" b="1" dirty="0">
                          <a:effectLst/>
                          <a:latin typeface="Roboto" panose="02000000000000000000" pitchFamily="2" charset="0"/>
                        </a:rPr>
                        <a:t>wait efficiently for state changes</a:t>
                      </a:r>
                      <a:endParaRPr lang="en-US" sz="1200" b="0" dirty="0">
                        <a:effectLst/>
                        <a:latin typeface="Roboto" panose="02000000000000000000" pitchFamily="2" charset="0"/>
                      </a:endParaRPr>
                    </a:p>
                  </a:txBody>
                  <a:tcPr marB="76200">
                    <a:lnL>
                      <a:noFill/>
                    </a:lnL>
                    <a:lnR w="6096" cap="flat" cmpd="sng" algn="ctr">
                      <a:solidFill>
                        <a:srgbClr val="009DC9"/>
                      </a:solidFill>
                      <a:prstDash val="solid"/>
                      <a:round/>
                      <a:headEnd type="none" w="med" len="med"/>
                      <a:tailEnd type="none" w="med" len="med"/>
                    </a:lnR>
                    <a:lnT>
                      <a:noFill/>
                    </a:lnT>
                    <a:lnB w="6096" cap="flat" cmpd="sng" algn="ctr">
                      <a:solidFill>
                        <a:srgbClr val="009DC9"/>
                      </a:solidFill>
                      <a:prstDash val="solid"/>
                      <a:round/>
                      <a:headEnd type="none" w="med" len="med"/>
                      <a:tailEnd type="none" w="med" len="med"/>
                    </a:lnB>
                    <a:solidFill>
                      <a:srgbClr val="FFFFFF"/>
                    </a:solidFill>
                  </a:tcPr>
                </a:tc>
                <a:extLst>
                  <a:ext uri="{0D108BD9-81ED-4DB2-BD59-A6C34878D82A}">
                    <a16:rowId xmlns:a16="http://schemas.microsoft.com/office/drawing/2014/main" val="2580245895"/>
                  </a:ext>
                </a:extLst>
              </a:tr>
              <a:tr h="1161704">
                <a:tc>
                  <a:txBody>
                    <a:bodyPr/>
                    <a:lstStyle/>
                    <a:p>
                      <a:pPr marL="0" marR="0" algn="l" fontAlgn="t">
                        <a:lnSpc>
                          <a:spcPts val="1950"/>
                        </a:lnSpc>
                        <a:buNone/>
                      </a:pPr>
                      <a:r>
                        <a:rPr lang="en-US" sz="1200" b="0" dirty="0">
                          <a:effectLst/>
                          <a:latin typeface="Roboto" panose="02000000000000000000" pitchFamily="2" charset="0"/>
                        </a:rPr>
                        <a:t>Usage scenario</a:t>
                      </a:r>
                    </a:p>
                  </a:txBody>
                  <a:tcPr marR="76200" marB="76200">
                    <a:lnL w="6096" cap="flat" cmpd="sng" algn="ctr">
                      <a:solidFill>
                        <a:srgbClr val="006DCA"/>
                      </a:solidFill>
                      <a:prstDash val="solid"/>
                      <a:round/>
                      <a:headEnd type="none" w="med" len="med"/>
                      <a:tailEnd type="none" w="med" len="med"/>
                    </a:lnL>
                    <a:lnR>
                      <a:noFill/>
                    </a:lnR>
                    <a:lnT w="6096" cap="flat" cmpd="sng" algn="ctr">
                      <a:solidFill>
                        <a:srgbClr val="80A0CA"/>
                      </a:solidFill>
                      <a:prstDash val="solid"/>
                      <a:round/>
                      <a:headEnd type="none" w="med" len="med"/>
                      <a:tailEnd type="none" w="med" len="med"/>
                    </a:lnT>
                    <a:lnB w="6096" cap="flat" cmpd="sng" algn="ctr">
                      <a:solidFill>
                        <a:srgbClr val="006DCA"/>
                      </a:solidFill>
                      <a:prstDash val="solid"/>
                      <a:round/>
                      <a:headEnd type="none" w="med" len="med"/>
                      <a:tailEnd type="none" w="med" len="med"/>
                    </a:lnB>
                    <a:solidFill>
                      <a:srgbClr val="FFFFFF"/>
                    </a:solidFill>
                  </a:tcPr>
                </a:tc>
                <a:tc>
                  <a:txBody>
                    <a:bodyPr/>
                    <a:lstStyle/>
                    <a:p>
                      <a:pPr marL="0" marR="0" algn="l" fontAlgn="t">
                        <a:lnSpc>
                          <a:spcPts val="1950"/>
                        </a:lnSpc>
                        <a:buNone/>
                      </a:pPr>
                      <a:r>
                        <a:rPr lang="en-US" sz="1200" b="0" dirty="0">
                          <a:effectLst/>
                          <a:latin typeface="Roboto" panose="02000000000000000000" pitchFamily="2" charset="0"/>
                        </a:rPr>
                        <a:t>Critical sections (e.g., updating shared counters)</a:t>
                      </a:r>
                    </a:p>
                  </a:txBody>
                  <a:tcPr marR="76200" marB="76200">
                    <a:lnL>
                      <a:noFill/>
                    </a:lnL>
                    <a:lnR>
                      <a:noFill/>
                    </a:lnR>
                    <a:lnT w="6096" cap="flat" cmpd="sng" algn="ctr">
                      <a:solidFill>
                        <a:srgbClr val="403D66"/>
                      </a:solidFill>
                      <a:prstDash val="solid"/>
                      <a:round/>
                      <a:headEnd type="none" w="med" len="med"/>
                      <a:tailEnd type="none" w="med" len="med"/>
                    </a:lnT>
                    <a:lnB w="6096" cap="flat" cmpd="sng" algn="ctr">
                      <a:solidFill>
                        <a:srgbClr val="A03A66"/>
                      </a:solidFill>
                      <a:prstDash val="solid"/>
                      <a:round/>
                      <a:headEnd type="none" w="med" len="med"/>
                      <a:tailEnd type="none" w="med" len="med"/>
                    </a:lnB>
                    <a:solidFill>
                      <a:srgbClr val="FFFFFF"/>
                    </a:solidFill>
                  </a:tcPr>
                </a:tc>
                <a:tc>
                  <a:txBody>
                    <a:bodyPr/>
                    <a:lstStyle/>
                    <a:p>
                      <a:pPr marL="0" marR="0" algn="l" fontAlgn="t">
                        <a:lnSpc>
                          <a:spcPts val="1950"/>
                        </a:lnSpc>
                        <a:buNone/>
                      </a:pPr>
                      <a:r>
                        <a:rPr lang="en-US" sz="1200" b="0" dirty="0">
                          <a:effectLst/>
                          <a:latin typeface="Roboto" panose="02000000000000000000" pitchFamily="2" charset="0"/>
                        </a:rPr>
                        <a:t>Producer-consumer patterns, event notifications</a:t>
                      </a:r>
                    </a:p>
                  </a:txBody>
                  <a:tcPr marB="76200">
                    <a:lnL>
                      <a:noFill/>
                    </a:lnL>
                    <a:lnR w="6096" cap="flat" cmpd="sng" algn="ctr">
                      <a:solidFill>
                        <a:srgbClr val="8066C9"/>
                      </a:solidFill>
                      <a:prstDash val="solid"/>
                      <a:round/>
                      <a:headEnd type="none" w="med" len="med"/>
                      <a:tailEnd type="none" w="med" len="med"/>
                    </a:lnR>
                    <a:lnT w="6096" cap="flat" cmpd="sng" algn="ctr">
                      <a:solidFill>
                        <a:srgbClr val="009DC9"/>
                      </a:solidFill>
                      <a:prstDash val="solid"/>
                      <a:round/>
                      <a:headEnd type="none" w="med" len="med"/>
                      <a:tailEnd type="none" w="med" len="med"/>
                    </a:lnT>
                    <a:lnB w="6096" cap="flat" cmpd="sng" algn="ctr">
                      <a:solidFill>
                        <a:srgbClr val="8066C9"/>
                      </a:solidFill>
                      <a:prstDash val="solid"/>
                      <a:round/>
                      <a:headEnd type="none" w="med" len="med"/>
                      <a:tailEnd type="none" w="med" len="med"/>
                    </a:lnB>
                    <a:solidFill>
                      <a:srgbClr val="FFFFFF"/>
                    </a:solidFill>
                  </a:tcPr>
                </a:tc>
                <a:extLst>
                  <a:ext uri="{0D108BD9-81ED-4DB2-BD59-A6C34878D82A}">
                    <a16:rowId xmlns:a16="http://schemas.microsoft.com/office/drawing/2014/main" val="2962805226"/>
                  </a:ext>
                </a:extLst>
              </a:tr>
            </a:tbl>
          </a:graphicData>
        </a:graphic>
      </p:graphicFrame>
      <p:sp>
        <p:nvSpPr>
          <p:cNvPr id="8" name="TextBox 7">
            <a:extLst>
              <a:ext uri="{FF2B5EF4-FFF2-40B4-BE49-F238E27FC236}">
                <a16:creationId xmlns:a16="http://schemas.microsoft.com/office/drawing/2014/main" id="{D9A3904B-DB52-7D62-9170-427D633936BE}"/>
              </a:ext>
            </a:extLst>
          </p:cNvPr>
          <p:cNvSpPr txBox="1"/>
          <p:nvPr/>
        </p:nvSpPr>
        <p:spPr>
          <a:xfrm>
            <a:off x="5831632" y="1138335"/>
            <a:ext cx="6055567" cy="4614340"/>
          </a:xfrm>
          <a:prstGeom prst="rect">
            <a:avLst/>
          </a:prstGeom>
          <a:noFill/>
        </p:spPr>
        <p:txBody>
          <a:bodyPr wrap="square">
            <a:spAutoFit/>
          </a:bodyPr>
          <a:lstStyle/>
          <a:p>
            <a:pPr marL="0" marR="0" indent="0" algn="l">
              <a:lnSpc>
                <a:spcPts val="1950"/>
              </a:lnSpc>
              <a:buNone/>
            </a:pPr>
            <a:r>
              <a:rPr lang="en-US" sz="1500" b="1" dirty="0">
                <a:effectLst/>
              </a:rPr>
              <a:t>Operation Semantics</a:t>
            </a:r>
          </a:p>
          <a:p>
            <a:pPr marL="0" marR="0" indent="0" algn="l"/>
            <a:r>
              <a:rPr lang="en-US" sz="1600" b="1" i="0" dirty="0">
                <a:effectLst/>
                <a:cs typeface="Times New Roman" panose="02020603050405020304" pitchFamily="18" charset="0"/>
              </a:rPr>
              <a:t> Mutex:</a:t>
            </a:r>
            <a:endParaRPr lang="en-US" sz="1600" b="0" i="0" dirty="0">
              <a:effectLst/>
              <a:cs typeface="Times New Roman" panose="02020603050405020304" pitchFamily="18" charset="0"/>
            </a:endParaRPr>
          </a:p>
          <a:p>
            <a:pPr marL="742950" marR="0" lvl="1" indent="-285750" algn="l">
              <a:lnSpc>
                <a:spcPct val="150000"/>
              </a:lnSpc>
              <a:buFont typeface="Arial" panose="020B0604020202020204" pitchFamily="34" charset="0"/>
              <a:buChar char="•"/>
            </a:pPr>
            <a:r>
              <a:rPr lang="en-US" sz="1600" b="0" i="0" dirty="0">
                <a:effectLst/>
                <a:cs typeface="Times New Roman" panose="02020603050405020304" pitchFamily="18" charset="0"/>
              </a:rPr>
              <a:t>Lock: Thread acquires the mutex; if already held, the thread blocks.</a:t>
            </a:r>
          </a:p>
          <a:p>
            <a:pPr marL="742950" marR="0" lvl="1" indent="-285750" algn="l">
              <a:lnSpc>
                <a:spcPct val="150000"/>
              </a:lnSpc>
              <a:buFont typeface="Arial" panose="020B0604020202020204" pitchFamily="34" charset="0"/>
              <a:buChar char="•"/>
            </a:pPr>
            <a:r>
              <a:rPr lang="en-US" sz="1600" b="0" i="0" dirty="0">
                <a:effectLst/>
                <a:cs typeface="Times New Roman" panose="02020603050405020304" pitchFamily="18" charset="0"/>
              </a:rPr>
              <a:t>Unlock: Thread releases the mutex, allowing other threads to acquire it.</a:t>
            </a:r>
          </a:p>
          <a:p>
            <a:pPr marL="742950" marR="0" lvl="1" indent="-285750" algn="l">
              <a:lnSpc>
                <a:spcPct val="150000"/>
              </a:lnSpc>
              <a:buFont typeface="Arial" panose="020B0604020202020204" pitchFamily="34" charset="0"/>
              <a:buChar char="•"/>
            </a:pPr>
            <a:r>
              <a:rPr lang="en-US" sz="1600" b="0" i="0" dirty="0">
                <a:effectLst/>
                <a:cs typeface="Times New Roman" panose="02020603050405020304" pitchFamily="18" charset="0"/>
              </a:rPr>
              <a:t>Guarantees </a:t>
            </a:r>
            <a:r>
              <a:rPr lang="en-US" sz="1600" b="1" i="0" dirty="0">
                <a:effectLst/>
                <a:cs typeface="Times New Roman" panose="02020603050405020304" pitchFamily="18" charset="0"/>
              </a:rPr>
              <a:t>mutual exclusion</a:t>
            </a:r>
            <a:r>
              <a:rPr lang="en-US" sz="1600" b="0" i="0" dirty="0">
                <a:effectLst/>
                <a:cs typeface="Times New Roman" panose="02020603050405020304" pitchFamily="18" charset="0"/>
              </a:rPr>
              <a:t>, preventing data races.</a:t>
            </a:r>
          </a:p>
          <a:p>
            <a:pPr marL="0" marR="0" indent="0" algn="l">
              <a:lnSpc>
                <a:spcPct val="150000"/>
              </a:lnSpc>
            </a:pPr>
            <a:r>
              <a:rPr lang="en-US" sz="1600" b="1" i="0" dirty="0">
                <a:effectLst/>
                <a:cs typeface="Times New Roman" panose="02020603050405020304" pitchFamily="18" charset="0"/>
              </a:rPr>
              <a:t> Condition Variable:</a:t>
            </a:r>
            <a:endParaRPr lang="en-US" sz="1600" b="0" i="0" dirty="0">
              <a:effectLst/>
              <a:cs typeface="Times New Roman" panose="02020603050405020304" pitchFamily="18" charset="0"/>
            </a:endParaRPr>
          </a:p>
          <a:p>
            <a:pPr marL="742950" marR="0" lvl="1" indent="-285750" algn="l">
              <a:lnSpc>
                <a:spcPct val="150000"/>
              </a:lnSpc>
              <a:buFont typeface="Arial" panose="020B0604020202020204" pitchFamily="34" charset="0"/>
              <a:buChar char="•"/>
            </a:pPr>
            <a:r>
              <a:rPr lang="en-US" sz="1600" b="0" i="0" dirty="0">
                <a:effectLst/>
                <a:cs typeface="Times New Roman" panose="02020603050405020304" pitchFamily="18" charset="0"/>
              </a:rPr>
              <a:t>Wait: Thread </a:t>
            </a:r>
            <a:r>
              <a:rPr lang="en-US" sz="1600" b="1" i="0" dirty="0">
                <a:effectLst/>
                <a:cs typeface="Times New Roman" panose="02020603050405020304" pitchFamily="18" charset="0"/>
              </a:rPr>
              <a:t>releases the associated mutex and blocks</a:t>
            </a:r>
            <a:r>
              <a:rPr lang="en-US" sz="1600" b="0" i="0" dirty="0">
                <a:effectLst/>
                <a:cs typeface="Times New Roman" panose="02020603050405020304" pitchFamily="18" charset="0"/>
              </a:rPr>
              <a:t> atomically until another thread signals the condition.</a:t>
            </a:r>
          </a:p>
          <a:p>
            <a:pPr marL="742950" marR="0" lvl="1" indent="-285750" algn="l">
              <a:lnSpc>
                <a:spcPct val="150000"/>
              </a:lnSpc>
              <a:buFont typeface="Arial" panose="020B0604020202020204" pitchFamily="34" charset="0"/>
              <a:buChar char="•"/>
            </a:pPr>
            <a:r>
              <a:rPr lang="en-US" sz="1600" b="0" i="0" dirty="0">
                <a:effectLst/>
                <a:cs typeface="Times New Roman" panose="02020603050405020304" pitchFamily="18" charset="0"/>
              </a:rPr>
              <a:t>Signal/Notify: Thread wakes one (signal) or all (broadcast) waiting threads when the condition is true.</a:t>
            </a:r>
          </a:p>
          <a:p>
            <a:pPr marL="742950" marR="0" lvl="1" indent="-285750" algn="l">
              <a:lnSpc>
                <a:spcPct val="150000"/>
              </a:lnSpc>
              <a:buFont typeface="Arial" panose="020B0604020202020204" pitchFamily="34" charset="0"/>
              <a:buChar char="•"/>
            </a:pPr>
            <a:r>
              <a:rPr lang="en-US" sz="1600" b="0" i="0" dirty="0">
                <a:effectLst/>
                <a:cs typeface="Times New Roman" panose="02020603050405020304" pitchFamily="18" charset="0"/>
              </a:rPr>
              <a:t>Typically </a:t>
            </a:r>
            <a:r>
              <a:rPr lang="en-US" sz="1600" b="1" i="0" dirty="0">
                <a:effectLst/>
                <a:cs typeface="Times New Roman" panose="02020603050405020304" pitchFamily="18" charset="0"/>
              </a:rPr>
              <a:t>requires a mutex</a:t>
            </a:r>
            <a:r>
              <a:rPr lang="en-US" sz="1600" b="0" i="0" dirty="0">
                <a:effectLst/>
                <a:cs typeface="Times New Roman" panose="02020603050405020304" pitchFamily="18" charset="0"/>
              </a:rPr>
              <a:t> to protect the shared condition.</a:t>
            </a:r>
          </a:p>
        </p:txBody>
      </p:sp>
    </p:spTree>
    <p:extLst>
      <p:ext uri="{BB962C8B-B14F-4D97-AF65-F5344CB8AC3E}">
        <p14:creationId xmlns:p14="http://schemas.microsoft.com/office/powerpoint/2010/main" val="11420719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5047578-79B8-7544-3AC1-FB292A28024D}"/>
              </a:ext>
            </a:extLst>
          </p:cNvPr>
          <p:cNvSpPr>
            <a:spLocks noGrp="1"/>
          </p:cNvSpPr>
          <p:nvPr>
            <p:ph type="sldNum" sz="quarter" idx="12"/>
          </p:nvPr>
        </p:nvSpPr>
        <p:spPr/>
        <p:txBody>
          <a:bodyPr/>
          <a:lstStyle/>
          <a:p>
            <a:fld id="{CBABCCC1-BF11-4F37-963E-1BCD5B23FD72}" type="slidenum">
              <a:rPr lang="en-IN" smtClean="0"/>
              <a:pPr/>
              <a:t>25</a:t>
            </a:fld>
            <a:endParaRPr lang="en-IN" dirty="0"/>
          </a:p>
        </p:txBody>
      </p:sp>
      <p:pic>
        <p:nvPicPr>
          <p:cNvPr id="3" name="Picture 2">
            <a:extLst>
              <a:ext uri="{FF2B5EF4-FFF2-40B4-BE49-F238E27FC236}">
                <a16:creationId xmlns:a16="http://schemas.microsoft.com/office/drawing/2014/main" id="{ECD42BA8-075A-F522-3977-769CFEEC2809}"/>
              </a:ext>
            </a:extLst>
          </p:cNvPr>
          <p:cNvPicPr>
            <a:picLocks noChangeAspect="1"/>
          </p:cNvPicPr>
          <p:nvPr/>
        </p:nvPicPr>
        <p:blipFill>
          <a:blip r:embed="rId2" cstate="print"/>
          <a:stretch>
            <a:fillRect/>
          </a:stretch>
        </p:blipFill>
        <p:spPr>
          <a:xfrm>
            <a:off x="0" y="0"/>
            <a:ext cx="1567654" cy="624416"/>
          </a:xfrm>
          <a:prstGeom prst="rect">
            <a:avLst/>
          </a:prstGeom>
        </p:spPr>
      </p:pic>
      <p:sp>
        <p:nvSpPr>
          <p:cNvPr id="5" name="TextBox 4">
            <a:extLst>
              <a:ext uri="{FF2B5EF4-FFF2-40B4-BE49-F238E27FC236}">
                <a16:creationId xmlns:a16="http://schemas.microsoft.com/office/drawing/2014/main" id="{EB3F4C7C-A382-7A14-2B2D-5F204E8829C5}"/>
              </a:ext>
            </a:extLst>
          </p:cNvPr>
          <p:cNvSpPr txBox="1"/>
          <p:nvPr/>
        </p:nvSpPr>
        <p:spPr>
          <a:xfrm>
            <a:off x="401216" y="905069"/>
            <a:ext cx="11364686" cy="4154984"/>
          </a:xfrm>
          <a:prstGeom prst="rect">
            <a:avLst/>
          </a:prstGeom>
          <a:noFill/>
        </p:spPr>
        <p:txBody>
          <a:bodyPr wrap="square">
            <a:spAutoFit/>
          </a:bodyPr>
          <a:lstStyle/>
          <a:p>
            <a:pPr marL="0" marR="0" indent="0" algn="l">
              <a:lnSpc>
                <a:spcPts val="1950"/>
              </a:lnSpc>
              <a:buNone/>
            </a:pPr>
            <a:r>
              <a:rPr lang="en-US" sz="2000" b="1" dirty="0">
                <a:effectLst/>
              </a:rPr>
              <a:t>Interaction</a:t>
            </a:r>
          </a:p>
          <a:p>
            <a:pPr marL="0" marR="0" indent="0" algn="l">
              <a:buFont typeface="Arial" panose="020B0604020202020204" pitchFamily="34" charset="0"/>
              <a:buChar char="•"/>
            </a:pPr>
            <a:r>
              <a:rPr lang="en-US" sz="2000" b="0" i="0" dirty="0">
                <a:effectLst/>
              </a:rPr>
              <a:t>Condition variables </a:t>
            </a:r>
            <a:r>
              <a:rPr lang="en-US" sz="2000" b="1" i="0" dirty="0">
                <a:effectLst/>
              </a:rPr>
              <a:t>cannot be used alone</a:t>
            </a:r>
            <a:r>
              <a:rPr lang="en-US" sz="2000" b="0" i="0" dirty="0">
                <a:effectLst/>
              </a:rPr>
              <a:t>; a mutex is required to protect the condition check.</a:t>
            </a:r>
          </a:p>
          <a:p>
            <a:pPr marL="0" marR="0" indent="0" algn="l">
              <a:buFont typeface="Arial" panose="020B0604020202020204" pitchFamily="34" charset="0"/>
              <a:buChar char="•"/>
            </a:pPr>
            <a:r>
              <a:rPr lang="en-US" sz="2000" b="0" i="0" dirty="0">
                <a:effectLst/>
              </a:rPr>
              <a:t>Mutexes </a:t>
            </a:r>
            <a:r>
              <a:rPr lang="en-US" sz="2000" b="1" i="0" dirty="0">
                <a:effectLst/>
              </a:rPr>
              <a:t>can operate independently</a:t>
            </a:r>
            <a:r>
              <a:rPr lang="en-US" sz="2000" b="0" i="0" dirty="0">
                <a:effectLst/>
              </a:rPr>
              <a:t> to protect a resource, without requiring condition variables.</a:t>
            </a:r>
          </a:p>
          <a:p>
            <a:pPr marL="0" marR="0" indent="0" algn="l">
              <a:lnSpc>
                <a:spcPts val="1950"/>
              </a:lnSpc>
              <a:buNone/>
            </a:pPr>
            <a:endParaRPr lang="en-US" sz="2000" b="1" dirty="0"/>
          </a:p>
          <a:p>
            <a:pPr marL="0" marR="0" indent="0" algn="l">
              <a:lnSpc>
                <a:spcPts val="1950"/>
              </a:lnSpc>
              <a:buNone/>
            </a:pPr>
            <a:r>
              <a:rPr lang="en-US" sz="2000" b="1" dirty="0">
                <a:effectLst/>
              </a:rPr>
              <a:t>Efficiency Considerations</a:t>
            </a:r>
          </a:p>
          <a:p>
            <a:pPr marL="342900" marR="0" indent="-342900" algn="l">
              <a:buFont typeface="Wingdings" panose="05000000000000000000" pitchFamily="2" charset="2"/>
              <a:buChar char="Ø"/>
            </a:pPr>
            <a:r>
              <a:rPr lang="en-US" sz="2000" b="1" i="0" dirty="0">
                <a:effectLst/>
              </a:rPr>
              <a:t>Mutex:</a:t>
            </a:r>
            <a:r>
              <a:rPr lang="en-US" sz="2000" b="0" i="0" dirty="0">
                <a:effectLst/>
              </a:rPr>
              <a:t> Direct control over access, minimal overhead for locking.</a:t>
            </a:r>
          </a:p>
          <a:p>
            <a:pPr marL="342900" marR="0" indent="-342900" algn="l">
              <a:buFont typeface="Wingdings" panose="05000000000000000000" pitchFamily="2" charset="2"/>
              <a:buChar char="Ø"/>
            </a:pPr>
            <a:r>
              <a:rPr lang="en-US" sz="2000" b="1" i="0" dirty="0">
                <a:effectLst/>
              </a:rPr>
              <a:t>Condition Variable:</a:t>
            </a:r>
            <a:r>
              <a:rPr lang="en-US" sz="2000" b="0" i="0" dirty="0">
                <a:effectLst/>
              </a:rPr>
              <a:t> Enables </a:t>
            </a:r>
            <a:r>
              <a:rPr lang="en-US" sz="2000" b="1" i="0" dirty="0">
                <a:effectLst/>
              </a:rPr>
              <a:t>sleeping instead of busy-waiting</a:t>
            </a:r>
            <a:r>
              <a:rPr lang="en-US" sz="2000" b="0" i="0" dirty="0">
                <a:effectLst/>
              </a:rPr>
              <a:t>, reducing CPU usage while waiting for a condition.</a:t>
            </a:r>
          </a:p>
          <a:p>
            <a:pPr marL="0" marR="0" indent="0" algn="l"/>
            <a:r>
              <a:rPr lang="en-US" sz="2000" dirty="0"/>
              <a:t>     Example: Producer-Consumer Problem.</a:t>
            </a:r>
          </a:p>
          <a:p>
            <a:pPr marL="0" marR="0" indent="0" algn="l">
              <a:buFont typeface="Arial" panose="020B0604020202020204" pitchFamily="34" charset="0"/>
              <a:buChar char="•"/>
            </a:pPr>
            <a:endParaRPr lang="en-US" sz="2000" b="0" i="0" dirty="0">
              <a:effectLst/>
            </a:endParaRPr>
          </a:p>
          <a:p>
            <a:r>
              <a:rPr lang="en-US" b="1" dirty="0"/>
              <a:t>Mutex → controls access:</a:t>
            </a:r>
            <a:r>
              <a:rPr lang="en-US" dirty="0"/>
              <a:t> Guarantees that critical sections execute </a:t>
            </a:r>
            <a:r>
              <a:rPr lang="en-US" b="1" dirty="0"/>
              <a:t>mutually exclusively</a:t>
            </a:r>
            <a:r>
              <a:rPr lang="en-US" dirty="0"/>
              <a:t>.</a:t>
            </a:r>
          </a:p>
          <a:p>
            <a:r>
              <a:rPr lang="en-US" b="1" dirty="0"/>
              <a:t>Condition Variable → controls execution order:</a:t>
            </a:r>
            <a:r>
              <a:rPr lang="en-US" dirty="0"/>
              <a:t> Coordinates threads based on </a:t>
            </a:r>
            <a:r>
              <a:rPr lang="en-US" b="1" dirty="0"/>
              <a:t>state conditions</a:t>
            </a:r>
            <a:r>
              <a:rPr lang="en-US" dirty="0"/>
              <a:t>, not just access to memory.</a:t>
            </a:r>
          </a:p>
          <a:p>
            <a:pPr marL="0" marR="0" indent="0" algn="l"/>
            <a:endParaRPr lang="en-US" sz="2000" b="0" i="0" dirty="0">
              <a:effectLst/>
            </a:endParaRPr>
          </a:p>
        </p:txBody>
      </p:sp>
    </p:spTree>
    <p:extLst>
      <p:ext uri="{BB962C8B-B14F-4D97-AF65-F5344CB8AC3E}">
        <p14:creationId xmlns:p14="http://schemas.microsoft.com/office/powerpoint/2010/main" val="11420719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BEF12DA-FE3B-3A2D-F645-85846EFE1864}"/>
              </a:ext>
            </a:extLst>
          </p:cNvPr>
          <p:cNvSpPr>
            <a:spLocks noGrp="1"/>
          </p:cNvSpPr>
          <p:nvPr>
            <p:ph type="sldNum" sz="quarter" idx="12"/>
          </p:nvPr>
        </p:nvSpPr>
        <p:spPr/>
        <p:txBody>
          <a:bodyPr/>
          <a:lstStyle/>
          <a:p>
            <a:fld id="{CBABCCC1-BF11-4F37-963E-1BCD5B23FD72}" type="slidenum">
              <a:rPr lang="en-IN" smtClean="0"/>
              <a:pPr/>
              <a:t>26</a:t>
            </a:fld>
            <a:endParaRPr lang="en-IN" dirty="0"/>
          </a:p>
        </p:txBody>
      </p:sp>
      <p:graphicFrame>
        <p:nvGraphicFramePr>
          <p:cNvPr id="3" name="Table 2">
            <a:extLst>
              <a:ext uri="{FF2B5EF4-FFF2-40B4-BE49-F238E27FC236}">
                <a16:creationId xmlns:a16="http://schemas.microsoft.com/office/drawing/2014/main" id="{2963EABB-F3A6-C5DB-B454-2EA3A2E7634F}"/>
              </a:ext>
            </a:extLst>
          </p:cNvPr>
          <p:cNvGraphicFramePr>
            <a:graphicFrameLocks noGrp="1"/>
          </p:cNvGraphicFramePr>
          <p:nvPr>
            <p:extLst>
              <p:ext uri="{D42A27DB-BD31-4B8C-83A1-F6EECF244321}">
                <p14:modId xmlns:p14="http://schemas.microsoft.com/office/powerpoint/2010/main" val="757049747"/>
              </p:ext>
            </p:extLst>
          </p:nvPr>
        </p:nvGraphicFramePr>
        <p:xfrm>
          <a:off x="858416" y="1054359"/>
          <a:ext cx="10086392" cy="4195344"/>
        </p:xfrm>
        <a:graphic>
          <a:graphicData uri="http://schemas.openxmlformats.org/drawingml/2006/table">
            <a:tbl>
              <a:tblPr/>
              <a:tblGrid>
                <a:gridCol w="2136711">
                  <a:extLst>
                    <a:ext uri="{9D8B030D-6E8A-4147-A177-3AD203B41FA5}">
                      <a16:colId xmlns:a16="http://schemas.microsoft.com/office/drawing/2014/main" val="3854585013"/>
                    </a:ext>
                  </a:extLst>
                </a:gridCol>
                <a:gridCol w="3648269">
                  <a:extLst>
                    <a:ext uri="{9D8B030D-6E8A-4147-A177-3AD203B41FA5}">
                      <a16:colId xmlns:a16="http://schemas.microsoft.com/office/drawing/2014/main" val="3772401091"/>
                    </a:ext>
                  </a:extLst>
                </a:gridCol>
                <a:gridCol w="4301412">
                  <a:extLst>
                    <a:ext uri="{9D8B030D-6E8A-4147-A177-3AD203B41FA5}">
                      <a16:colId xmlns:a16="http://schemas.microsoft.com/office/drawing/2014/main" val="2482530871"/>
                    </a:ext>
                  </a:extLst>
                </a:gridCol>
              </a:tblGrid>
              <a:tr h="522652">
                <a:tc>
                  <a:txBody>
                    <a:bodyPr/>
                    <a:lstStyle/>
                    <a:p>
                      <a:pPr marL="0" marR="0" algn="ctr" fontAlgn="t">
                        <a:lnSpc>
                          <a:spcPts val="1950"/>
                        </a:lnSpc>
                        <a:buNone/>
                      </a:pPr>
                      <a:r>
                        <a:rPr lang="en-US" sz="1200" b="1" dirty="0">
                          <a:effectLst/>
                          <a:latin typeface="Roboto" panose="02000000000000000000" pitchFamily="2" charset="0"/>
                        </a:rPr>
                        <a:t>Aspect</a:t>
                      </a:r>
                    </a:p>
                  </a:txBody>
                  <a:tcPr marR="76200" marB="76200">
                    <a:lnL w="6096" cap="flat" cmpd="sng" algn="ctr">
                      <a:solidFill>
                        <a:srgbClr val="40A2D1"/>
                      </a:solidFill>
                      <a:prstDash val="solid"/>
                      <a:round/>
                      <a:headEnd type="none" w="med" len="med"/>
                      <a:tailEnd type="none" w="med" len="med"/>
                    </a:lnL>
                    <a:lnR>
                      <a:noFill/>
                    </a:lnR>
                    <a:lnT w="6096" cap="flat" cmpd="sng" algn="ctr">
                      <a:solidFill>
                        <a:srgbClr val="40A2D1"/>
                      </a:solidFill>
                      <a:prstDash val="solid"/>
                      <a:round/>
                      <a:headEnd type="none" w="med" len="med"/>
                      <a:tailEnd type="none" w="med" len="med"/>
                    </a:lnT>
                    <a:lnB>
                      <a:noFill/>
                    </a:lnB>
                    <a:solidFill>
                      <a:srgbClr val="EFEAE7"/>
                    </a:solidFill>
                  </a:tcPr>
                </a:tc>
                <a:tc>
                  <a:txBody>
                    <a:bodyPr/>
                    <a:lstStyle/>
                    <a:p>
                      <a:pPr marL="0" marR="0" algn="ctr" fontAlgn="t">
                        <a:lnSpc>
                          <a:spcPts val="1950"/>
                        </a:lnSpc>
                        <a:buNone/>
                      </a:pPr>
                      <a:r>
                        <a:rPr lang="en-US" sz="1200" b="1" dirty="0">
                          <a:effectLst/>
                          <a:latin typeface="Roboto" panose="02000000000000000000" pitchFamily="2" charset="0"/>
                        </a:rPr>
                        <a:t>Mutex</a:t>
                      </a:r>
                    </a:p>
                  </a:txBody>
                  <a:tcPr marR="76200" marB="76200">
                    <a:lnL>
                      <a:noFill/>
                    </a:lnL>
                    <a:lnR>
                      <a:noFill/>
                    </a:lnR>
                    <a:lnT w="6096" cap="flat" cmpd="sng" algn="ctr">
                      <a:solidFill>
                        <a:srgbClr val="008603"/>
                      </a:solidFill>
                      <a:prstDash val="solid"/>
                      <a:round/>
                      <a:headEnd type="none" w="med" len="med"/>
                      <a:tailEnd type="none" w="med" len="med"/>
                    </a:lnT>
                    <a:lnB>
                      <a:noFill/>
                    </a:lnB>
                    <a:solidFill>
                      <a:srgbClr val="EFEAE7"/>
                    </a:solidFill>
                  </a:tcPr>
                </a:tc>
                <a:tc>
                  <a:txBody>
                    <a:bodyPr/>
                    <a:lstStyle/>
                    <a:p>
                      <a:pPr marL="0" marR="0" algn="ctr" fontAlgn="t">
                        <a:lnSpc>
                          <a:spcPts val="1950"/>
                        </a:lnSpc>
                        <a:buNone/>
                      </a:pPr>
                      <a:r>
                        <a:rPr lang="en-US" sz="1200" b="1" dirty="0">
                          <a:effectLst/>
                          <a:latin typeface="Roboto" panose="02000000000000000000" pitchFamily="2" charset="0"/>
                        </a:rPr>
                        <a:t>Condition Variable</a:t>
                      </a:r>
                    </a:p>
                  </a:txBody>
                  <a:tcPr marB="76200">
                    <a:lnL>
                      <a:noFill/>
                    </a:lnL>
                    <a:lnR w="6096" cap="flat" cmpd="sng" algn="ctr">
                      <a:solidFill>
                        <a:srgbClr val="C0A203"/>
                      </a:solidFill>
                      <a:prstDash val="solid"/>
                      <a:round/>
                      <a:headEnd type="none" w="med" len="med"/>
                      <a:tailEnd type="none" w="med" len="med"/>
                    </a:lnR>
                    <a:lnT w="6096" cap="flat" cmpd="sng" algn="ctr">
                      <a:solidFill>
                        <a:srgbClr val="C0A203"/>
                      </a:solidFill>
                      <a:prstDash val="solid"/>
                      <a:round/>
                      <a:headEnd type="none" w="med" len="med"/>
                      <a:tailEnd type="none" w="med" len="med"/>
                    </a:lnT>
                    <a:lnB>
                      <a:noFill/>
                    </a:lnB>
                    <a:solidFill>
                      <a:srgbClr val="EFEAE7"/>
                    </a:solidFill>
                  </a:tcPr>
                </a:tc>
                <a:extLst>
                  <a:ext uri="{0D108BD9-81ED-4DB2-BD59-A6C34878D82A}">
                    <a16:rowId xmlns:a16="http://schemas.microsoft.com/office/drawing/2014/main" val="3771350240"/>
                  </a:ext>
                </a:extLst>
              </a:tr>
              <a:tr h="875796">
                <a:tc>
                  <a:txBody>
                    <a:bodyPr/>
                    <a:lstStyle/>
                    <a:p>
                      <a:pPr marL="0" marR="0" algn="ctr" fontAlgn="t">
                        <a:lnSpc>
                          <a:spcPts val="1950"/>
                        </a:lnSpc>
                        <a:buNone/>
                      </a:pPr>
                      <a:r>
                        <a:rPr lang="en-US" sz="1200" b="0" dirty="0">
                          <a:effectLst/>
                          <a:latin typeface="Roboto" panose="02000000000000000000" pitchFamily="2" charset="0"/>
                        </a:rPr>
                        <a:t>Purpose</a:t>
                      </a:r>
                    </a:p>
                  </a:txBody>
                  <a:tcPr marR="76200" marB="76200">
                    <a:lnL w="6096" cap="flat" cmpd="sng" algn="ctr">
                      <a:solidFill>
                        <a:srgbClr val="80651B"/>
                      </a:solidFill>
                      <a:prstDash val="solid"/>
                      <a:round/>
                      <a:headEnd type="none" w="med" len="med"/>
                      <a:tailEnd type="none" w="med" len="med"/>
                    </a:lnL>
                    <a:lnR>
                      <a:noFill/>
                    </a:lnR>
                    <a:lnT>
                      <a:noFill/>
                    </a:lnT>
                    <a:lnB w="6096" cap="flat" cmpd="sng" algn="ctr">
                      <a:solidFill>
                        <a:srgbClr val="80651B"/>
                      </a:solidFill>
                      <a:prstDash val="solid"/>
                      <a:round/>
                      <a:headEnd type="none" w="med" len="med"/>
                      <a:tailEnd type="none" w="med" len="med"/>
                    </a:lnB>
                    <a:solidFill>
                      <a:srgbClr val="FFFFFF"/>
                    </a:solidFill>
                  </a:tcPr>
                </a:tc>
                <a:tc>
                  <a:txBody>
                    <a:bodyPr/>
                    <a:lstStyle/>
                    <a:p>
                      <a:pPr marL="0" marR="0" algn="ctr" fontAlgn="t">
                        <a:lnSpc>
                          <a:spcPts val="1950"/>
                        </a:lnSpc>
                        <a:buNone/>
                      </a:pPr>
                      <a:r>
                        <a:rPr lang="en-US" sz="1200" b="0" dirty="0">
                          <a:effectLst/>
                          <a:latin typeface="Roboto" panose="02000000000000000000" pitchFamily="2" charset="0"/>
                        </a:rPr>
                        <a:t>Mutual exclusion of resources</a:t>
                      </a:r>
                    </a:p>
                  </a:txBody>
                  <a:tcPr marR="76200" marB="76200">
                    <a:lnL>
                      <a:noFill/>
                    </a:lnL>
                    <a:lnR>
                      <a:noFill/>
                    </a:lnR>
                    <a:lnT>
                      <a:noFill/>
                    </a:lnT>
                    <a:lnB w="6096" cap="flat" cmpd="sng" algn="ctr">
                      <a:solidFill>
                        <a:srgbClr val="80AAD1"/>
                      </a:solidFill>
                      <a:prstDash val="solid"/>
                      <a:round/>
                      <a:headEnd type="none" w="med" len="med"/>
                      <a:tailEnd type="none" w="med" len="med"/>
                    </a:lnB>
                    <a:solidFill>
                      <a:srgbClr val="FFFFFF"/>
                    </a:solidFill>
                  </a:tcPr>
                </a:tc>
                <a:tc>
                  <a:txBody>
                    <a:bodyPr/>
                    <a:lstStyle/>
                    <a:p>
                      <a:pPr marL="0" marR="0" algn="ctr" fontAlgn="t">
                        <a:lnSpc>
                          <a:spcPts val="1950"/>
                        </a:lnSpc>
                        <a:buNone/>
                      </a:pPr>
                      <a:r>
                        <a:rPr lang="en-US" sz="1200" b="0" dirty="0">
                          <a:effectLst/>
                          <a:latin typeface="Roboto" panose="02000000000000000000" pitchFamily="2" charset="0"/>
                        </a:rPr>
                        <a:t>Thread synchronization based on state</a:t>
                      </a:r>
                    </a:p>
                  </a:txBody>
                  <a:tcPr marB="76200">
                    <a:lnL>
                      <a:noFill/>
                    </a:lnL>
                    <a:lnR w="6096" cap="flat" cmpd="sng" algn="ctr">
                      <a:solidFill>
                        <a:srgbClr val="00991B"/>
                      </a:solidFill>
                      <a:prstDash val="solid"/>
                      <a:round/>
                      <a:headEnd type="none" w="med" len="med"/>
                      <a:tailEnd type="none" w="med" len="med"/>
                    </a:lnR>
                    <a:lnT>
                      <a:noFill/>
                    </a:lnT>
                    <a:lnB w="6096" cap="flat" cmpd="sng" algn="ctr">
                      <a:solidFill>
                        <a:srgbClr val="00991B"/>
                      </a:solidFill>
                      <a:prstDash val="solid"/>
                      <a:round/>
                      <a:headEnd type="none" w="med" len="med"/>
                      <a:tailEnd type="none" w="med" len="med"/>
                    </a:lnB>
                    <a:solidFill>
                      <a:srgbClr val="FFFFFF"/>
                    </a:solidFill>
                  </a:tcPr>
                </a:tc>
                <a:extLst>
                  <a:ext uri="{0D108BD9-81ED-4DB2-BD59-A6C34878D82A}">
                    <a16:rowId xmlns:a16="http://schemas.microsoft.com/office/drawing/2014/main" val="165482768"/>
                  </a:ext>
                </a:extLst>
              </a:tr>
              <a:tr h="522652">
                <a:tc>
                  <a:txBody>
                    <a:bodyPr/>
                    <a:lstStyle/>
                    <a:p>
                      <a:pPr marL="0" marR="0" algn="ctr" fontAlgn="t">
                        <a:lnSpc>
                          <a:spcPts val="1950"/>
                        </a:lnSpc>
                        <a:buNone/>
                      </a:pPr>
                      <a:r>
                        <a:rPr lang="en-US" sz="1200" b="0" dirty="0">
                          <a:effectLst/>
                          <a:latin typeface="Roboto" panose="02000000000000000000" pitchFamily="2" charset="0"/>
                        </a:rPr>
                        <a:t>Operation</a:t>
                      </a:r>
                    </a:p>
                  </a:txBody>
                  <a:tcPr marR="76200" marB="76200">
                    <a:lnL w="6096" cap="flat" cmpd="sng" algn="ctr">
                      <a:solidFill>
                        <a:srgbClr val="80BD1B"/>
                      </a:solidFill>
                      <a:prstDash val="solid"/>
                      <a:round/>
                      <a:headEnd type="none" w="med" len="med"/>
                      <a:tailEnd type="none" w="med" len="med"/>
                    </a:lnL>
                    <a:lnR>
                      <a:noFill/>
                    </a:lnR>
                    <a:lnT w="6096" cap="flat" cmpd="sng" algn="ctr">
                      <a:solidFill>
                        <a:srgbClr val="80651B"/>
                      </a:solidFill>
                      <a:prstDash val="solid"/>
                      <a:round/>
                      <a:headEnd type="none" w="med" len="med"/>
                      <a:tailEnd type="none" w="med" len="med"/>
                    </a:lnT>
                    <a:lnB w="6096" cap="flat" cmpd="sng" algn="ctr">
                      <a:solidFill>
                        <a:srgbClr val="80BD1B"/>
                      </a:solidFill>
                      <a:prstDash val="solid"/>
                      <a:round/>
                      <a:headEnd type="none" w="med" len="med"/>
                      <a:tailEnd type="none" w="med" len="med"/>
                    </a:lnB>
                    <a:solidFill>
                      <a:srgbClr val="FFFFFF"/>
                    </a:solidFill>
                  </a:tcPr>
                </a:tc>
                <a:tc>
                  <a:txBody>
                    <a:bodyPr/>
                    <a:lstStyle/>
                    <a:p>
                      <a:pPr marL="0" marR="0" algn="ctr" fontAlgn="t">
                        <a:lnSpc>
                          <a:spcPts val="1950"/>
                        </a:lnSpc>
                        <a:buNone/>
                      </a:pPr>
                      <a:r>
                        <a:rPr lang="en-US" sz="1200" b="0" dirty="0">
                          <a:effectLst/>
                          <a:latin typeface="Roboto" panose="02000000000000000000" pitchFamily="2" charset="0"/>
                        </a:rPr>
                        <a:t>Lock, Unlock</a:t>
                      </a:r>
                    </a:p>
                  </a:txBody>
                  <a:tcPr marR="76200" marB="76200">
                    <a:lnL>
                      <a:noFill/>
                    </a:lnL>
                    <a:lnR>
                      <a:noFill/>
                    </a:lnR>
                    <a:lnT w="6096" cap="flat" cmpd="sng" algn="ctr">
                      <a:solidFill>
                        <a:srgbClr val="80AAD1"/>
                      </a:solidFill>
                      <a:prstDash val="solid"/>
                      <a:round/>
                      <a:headEnd type="none" w="med" len="med"/>
                      <a:tailEnd type="none" w="med" len="med"/>
                    </a:lnT>
                    <a:lnB w="6096" cap="flat" cmpd="sng" algn="ctr">
                      <a:solidFill>
                        <a:srgbClr val="C0A9D1"/>
                      </a:solidFill>
                      <a:prstDash val="solid"/>
                      <a:round/>
                      <a:headEnd type="none" w="med" len="med"/>
                      <a:tailEnd type="none" w="med" len="med"/>
                    </a:lnB>
                    <a:solidFill>
                      <a:srgbClr val="FFFFFF"/>
                    </a:solidFill>
                  </a:tcPr>
                </a:tc>
                <a:tc>
                  <a:txBody>
                    <a:bodyPr/>
                    <a:lstStyle/>
                    <a:p>
                      <a:pPr marL="0" marR="0" algn="ctr" fontAlgn="t">
                        <a:lnSpc>
                          <a:spcPts val="1950"/>
                        </a:lnSpc>
                        <a:buNone/>
                      </a:pPr>
                      <a:r>
                        <a:rPr lang="en-US" sz="1200" b="0" dirty="0">
                          <a:effectLst/>
                          <a:latin typeface="Roboto" panose="02000000000000000000" pitchFamily="2" charset="0"/>
                        </a:rPr>
                        <a:t>Wait, Signal/Broadcast</a:t>
                      </a:r>
                    </a:p>
                  </a:txBody>
                  <a:tcPr marB="76200">
                    <a:lnL>
                      <a:noFill/>
                    </a:lnL>
                    <a:lnR w="6096" cap="flat" cmpd="sng" algn="ctr">
                      <a:solidFill>
                        <a:srgbClr val="80DC19"/>
                      </a:solidFill>
                      <a:prstDash val="solid"/>
                      <a:round/>
                      <a:headEnd type="none" w="med" len="med"/>
                      <a:tailEnd type="none" w="med" len="med"/>
                    </a:lnR>
                    <a:lnT w="6096" cap="flat" cmpd="sng" algn="ctr">
                      <a:solidFill>
                        <a:srgbClr val="00991B"/>
                      </a:solidFill>
                      <a:prstDash val="solid"/>
                      <a:round/>
                      <a:headEnd type="none" w="med" len="med"/>
                      <a:tailEnd type="none" w="med" len="med"/>
                    </a:lnT>
                    <a:lnB w="6096" cap="flat" cmpd="sng" algn="ctr">
                      <a:solidFill>
                        <a:srgbClr val="80DC19"/>
                      </a:solidFill>
                      <a:prstDash val="solid"/>
                      <a:round/>
                      <a:headEnd type="none" w="med" len="med"/>
                      <a:tailEnd type="none" w="med" len="med"/>
                    </a:lnB>
                    <a:solidFill>
                      <a:srgbClr val="FFFFFF"/>
                    </a:solidFill>
                  </a:tcPr>
                </a:tc>
                <a:extLst>
                  <a:ext uri="{0D108BD9-81ED-4DB2-BD59-A6C34878D82A}">
                    <a16:rowId xmlns:a16="http://schemas.microsoft.com/office/drawing/2014/main" val="193286134"/>
                  </a:ext>
                </a:extLst>
              </a:tr>
              <a:tr h="875796">
                <a:tc>
                  <a:txBody>
                    <a:bodyPr/>
                    <a:lstStyle/>
                    <a:p>
                      <a:pPr marL="0" marR="0" algn="ctr" fontAlgn="t">
                        <a:lnSpc>
                          <a:spcPts val="1950"/>
                        </a:lnSpc>
                        <a:buNone/>
                      </a:pPr>
                      <a:r>
                        <a:rPr lang="en-US" sz="1200" b="0" dirty="0">
                          <a:effectLst/>
                          <a:latin typeface="Roboto" panose="02000000000000000000" pitchFamily="2" charset="0"/>
                        </a:rPr>
                        <a:t>Requires</a:t>
                      </a:r>
                    </a:p>
                  </a:txBody>
                  <a:tcPr marR="76200" marB="76200">
                    <a:lnL w="6096" cap="flat" cmpd="sng" algn="ctr">
                      <a:solidFill>
                        <a:srgbClr val="80E619"/>
                      </a:solidFill>
                      <a:prstDash val="solid"/>
                      <a:round/>
                      <a:headEnd type="none" w="med" len="med"/>
                      <a:tailEnd type="none" w="med" len="med"/>
                    </a:lnL>
                    <a:lnR>
                      <a:noFill/>
                    </a:lnR>
                    <a:lnT w="6096" cap="flat" cmpd="sng" algn="ctr">
                      <a:solidFill>
                        <a:srgbClr val="80BD1B"/>
                      </a:solidFill>
                      <a:prstDash val="solid"/>
                      <a:round/>
                      <a:headEnd type="none" w="med" len="med"/>
                      <a:tailEnd type="none" w="med" len="med"/>
                    </a:lnT>
                    <a:lnB w="6096" cap="flat" cmpd="sng" algn="ctr">
                      <a:solidFill>
                        <a:srgbClr val="80E619"/>
                      </a:solidFill>
                      <a:prstDash val="solid"/>
                      <a:round/>
                      <a:headEnd type="none" w="med" len="med"/>
                      <a:tailEnd type="none" w="med" len="med"/>
                    </a:lnB>
                    <a:solidFill>
                      <a:srgbClr val="FFFFFF"/>
                    </a:solidFill>
                  </a:tcPr>
                </a:tc>
                <a:tc>
                  <a:txBody>
                    <a:bodyPr/>
                    <a:lstStyle/>
                    <a:p>
                      <a:pPr marL="0" marR="0" algn="ctr" fontAlgn="t">
                        <a:lnSpc>
                          <a:spcPts val="1950"/>
                        </a:lnSpc>
                        <a:buNone/>
                      </a:pPr>
                      <a:r>
                        <a:rPr lang="en-US" sz="1200" b="0" dirty="0">
                          <a:effectLst/>
                          <a:latin typeface="Roboto" panose="02000000000000000000" pitchFamily="2" charset="0"/>
                        </a:rPr>
                        <a:t>No other primitive (can be used standalone)</a:t>
                      </a:r>
                    </a:p>
                  </a:txBody>
                  <a:tcPr marR="76200" marB="76200">
                    <a:lnL>
                      <a:noFill/>
                    </a:lnL>
                    <a:lnR>
                      <a:noFill/>
                    </a:lnR>
                    <a:lnT w="6096" cap="flat" cmpd="sng" algn="ctr">
                      <a:solidFill>
                        <a:srgbClr val="C0A9D1"/>
                      </a:solidFill>
                      <a:prstDash val="solid"/>
                      <a:round/>
                      <a:headEnd type="none" w="med" len="med"/>
                      <a:tailEnd type="none" w="med" len="med"/>
                    </a:lnT>
                    <a:lnB w="6096" cap="flat" cmpd="sng" algn="ctr">
                      <a:solidFill>
                        <a:srgbClr val="80ADD1"/>
                      </a:solidFill>
                      <a:prstDash val="solid"/>
                      <a:round/>
                      <a:headEnd type="none" w="med" len="med"/>
                      <a:tailEnd type="none" w="med" len="med"/>
                    </a:lnB>
                    <a:solidFill>
                      <a:srgbClr val="FFFFFF"/>
                    </a:solidFill>
                  </a:tcPr>
                </a:tc>
                <a:tc>
                  <a:txBody>
                    <a:bodyPr/>
                    <a:lstStyle/>
                    <a:p>
                      <a:pPr marL="0" marR="0" algn="ctr" fontAlgn="t">
                        <a:lnSpc>
                          <a:spcPts val="1950"/>
                        </a:lnSpc>
                        <a:buNone/>
                      </a:pPr>
                      <a:r>
                        <a:rPr lang="en-US" sz="1200" b="0" dirty="0">
                          <a:effectLst/>
                          <a:latin typeface="Roboto" panose="02000000000000000000" pitchFamily="2" charset="0"/>
                        </a:rPr>
                        <a:t>Always paired with a mutex</a:t>
                      </a:r>
                    </a:p>
                  </a:txBody>
                  <a:tcPr marB="76200">
                    <a:lnL>
                      <a:noFill/>
                    </a:lnL>
                    <a:lnR w="6096" cap="flat" cmpd="sng" algn="ctr">
                      <a:solidFill>
                        <a:srgbClr val="80161A"/>
                      </a:solidFill>
                      <a:prstDash val="solid"/>
                      <a:round/>
                      <a:headEnd type="none" w="med" len="med"/>
                      <a:tailEnd type="none" w="med" len="med"/>
                    </a:lnR>
                    <a:lnT w="6096" cap="flat" cmpd="sng" algn="ctr">
                      <a:solidFill>
                        <a:srgbClr val="80DC19"/>
                      </a:solidFill>
                      <a:prstDash val="solid"/>
                      <a:round/>
                      <a:headEnd type="none" w="med" len="med"/>
                      <a:tailEnd type="none" w="med" len="med"/>
                    </a:lnT>
                    <a:lnB w="6096" cap="flat" cmpd="sng" algn="ctr">
                      <a:solidFill>
                        <a:srgbClr val="80161A"/>
                      </a:solidFill>
                      <a:prstDash val="solid"/>
                      <a:round/>
                      <a:headEnd type="none" w="med" len="med"/>
                      <a:tailEnd type="none" w="med" len="med"/>
                    </a:lnB>
                    <a:solidFill>
                      <a:srgbClr val="FFFFFF"/>
                    </a:solidFill>
                  </a:tcPr>
                </a:tc>
                <a:extLst>
                  <a:ext uri="{0D108BD9-81ED-4DB2-BD59-A6C34878D82A}">
                    <a16:rowId xmlns:a16="http://schemas.microsoft.com/office/drawing/2014/main" val="1161757660"/>
                  </a:ext>
                </a:extLst>
              </a:tr>
              <a:tr h="522652">
                <a:tc>
                  <a:txBody>
                    <a:bodyPr/>
                    <a:lstStyle/>
                    <a:p>
                      <a:pPr marL="0" marR="0" algn="ctr" fontAlgn="t">
                        <a:lnSpc>
                          <a:spcPts val="1950"/>
                        </a:lnSpc>
                        <a:buNone/>
                      </a:pPr>
                      <a:r>
                        <a:rPr lang="en-US" sz="1200" b="0" dirty="0">
                          <a:effectLst/>
                          <a:latin typeface="Roboto" panose="02000000000000000000" pitchFamily="2" charset="0"/>
                        </a:rPr>
                        <a:t>CPU usage</a:t>
                      </a:r>
                    </a:p>
                  </a:txBody>
                  <a:tcPr marR="76200" marB="76200">
                    <a:lnL w="6096" cap="flat" cmpd="sng" algn="ctr">
                      <a:solidFill>
                        <a:srgbClr val="803B1A"/>
                      </a:solidFill>
                      <a:prstDash val="solid"/>
                      <a:round/>
                      <a:headEnd type="none" w="med" len="med"/>
                      <a:tailEnd type="none" w="med" len="med"/>
                    </a:lnL>
                    <a:lnR>
                      <a:noFill/>
                    </a:lnR>
                    <a:lnT w="6096" cap="flat" cmpd="sng" algn="ctr">
                      <a:solidFill>
                        <a:srgbClr val="80E619"/>
                      </a:solidFill>
                      <a:prstDash val="solid"/>
                      <a:round/>
                      <a:headEnd type="none" w="med" len="med"/>
                      <a:tailEnd type="none" w="med" len="med"/>
                    </a:lnT>
                    <a:lnB w="6096" cap="flat" cmpd="sng" algn="ctr">
                      <a:solidFill>
                        <a:srgbClr val="803B1A"/>
                      </a:solidFill>
                      <a:prstDash val="solid"/>
                      <a:round/>
                      <a:headEnd type="none" w="med" len="med"/>
                      <a:tailEnd type="none" w="med" len="med"/>
                    </a:lnB>
                    <a:solidFill>
                      <a:srgbClr val="FFFFFF"/>
                    </a:solidFill>
                  </a:tcPr>
                </a:tc>
                <a:tc>
                  <a:txBody>
                    <a:bodyPr/>
                    <a:lstStyle/>
                    <a:p>
                      <a:pPr marL="0" marR="0" algn="ctr" fontAlgn="t">
                        <a:lnSpc>
                          <a:spcPts val="1950"/>
                        </a:lnSpc>
                        <a:buNone/>
                      </a:pPr>
                      <a:r>
                        <a:rPr lang="en-US" sz="1200" b="0" dirty="0">
                          <a:effectLst/>
                          <a:latin typeface="Roboto" panose="02000000000000000000" pitchFamily="2" charset="0"/>
                        </a:rPr>
                        <a:t>May spin if lock unavailable</a:t>
                      </a:r>
                    </a:p>
                  </a:txBody>
                  <a:tcPr marR="76200" marB="76200">
                    <a:lnL>
                      <a:noFill/>
                    </a:lnL>
                    <a:lnR>
                      <a:noFill/>
                    </a:lnR>
                    <a:lnT w="6096" cap="flat" cmpd="sng" algn="ctr">
                      <a:solidFill>
                        <a:srgbClr val="80ADD1"/>
                      </a:solidFill>
                      <a:prstDash val="solid"/>
                      <a:round/>
                      <a:headEnd type="none" w="med" len="med"/>
                      <a:tailEnd type="none" w="med" len="med"/>
                    </a:lnT>
                    <a:lnB w="6096" cap="flat" cmpd="sng" algn="ctr">
                      <a:solidFill>
                        <a:srgbClr val="E0A7D1"/>
                      </a:solidFill>
                      <a:prstDash val="solid"/>
                      <a:round/>
                      <a:headEnd type="none" w="med" len="med"/>
                      <a:tailEnd type="none" w="med" len="med"/>
                    </a:lnB>
                    <a:solidFill>
                      <a:srgbClr val="FFFFFF"/>
                    </a:solidFill>
                  </a:tcPr>
                </a:tc>
                <a:tc>
                  <a:txBody>
                    <a:bodyPr/>
                    <a:lstStyle/>
                    <a:p>
                      <a:pPr marL="0" marR="0" algn="ctr" fontAlgn="t">
                        <a:lnSpc>
                          <a:spcPts val="1950"/>
                        </a:lnSpc>
                        <a:buNone/>
                      </a:pPr>
                      <a:r>
                        <a:rPr lang="en-US" sz="1200" b="0" dirty="0">
                          <a:effectLst/>
                          <a:latin typeface="Roboto" panose="02000000000000000000" pitchFamily="2" charset="0"/>
                        </a:rPr>
                        <a:t>Sleep efficiently while waiting</a:t>
                      </a:r>
                    </a:p>
                  </a:txBody>
                  <a:tcPr marB="76200">
                    <a:lnL>
                      <a:noFill/>
                    </a:lnL>
                    <a:lnR w="6096" cap="flat" cmpd="sng" algn="ctr">
                      <a:solidFill>
                        <a:srgbClr val="80641A"/>
                      </a:solidFill>
                      <a:prstDash val="solid"/>
                      <a:round/>
                      <a:headEnd type="none" w="med" len="med"/>
                      <a:tailEnd type="none" w="med" len="med"/>
                    </a:lnR>
                    <a:lnT w="6096" cap="flat" cmpd="sng" algn="ctr">
                      <a:solidFill>
                        <a:srgbClr val="80161A"/>
                      </a:solidFill>
                      <a:prstDash val="solid"/>
                      <a:round/>
                      <a:headEnd type="none" w="med" len="med"/>
                      <a:tailEnd type="none" w="med" len="med"/>
                    </a:lnT>
                    <a:lnB w="6096" cap="flat" cmpd="sng" algn="ctr">
                      <a:solidFill>
                        <a:srgbClr val="80641A"/>
                      </a:solidFill>
                      <a:prstDash val="solid"/>
                      <a:round/>
                      <a:headEnd type="none" w="med" len="med"/>
                      <a:tailEnd type="none" w="med" len="med"/>
                    </a:lnB>
                    <a:solidFill>
                      <a:srgbClr val="FFFFFF"/>
                    </a:solidFill>
                  </a:tcPr>
                </a:tc>
                <a:extLst>
                  <a:ext uri="{0D108BD9-81ED-4DB2-BD59-A6C34878D82A}">
                    <a16:rowId xmlns:a16="http://schemas.microsoft.com/office/drawing/2014/main" val="310041776"/>
                  </a:ext>
                </a:extLst>
              </a:tr>
              <a:tr h="875796">
                <a:tc>
                  <a:txBody>
                    <a:bodyPr/>
                    <a:lstStyle/>
                    <a:p>
                      <a:pPr marL="0" marR="0" algn="ctr" fontAlgn="t">
                        <a:lnSpc>
                          <a:spcPts val="1950"/>
                        </a:lnSpc>
                        <a:buNone/>
                      </a:pPr>
                      <a:r>
                        <a:rPr lang="en-US" sz="1200" b="0" dirty="0">
                          <a:effectLst/>
                          <a:latin typeface="Roboto" panose="02000000000000000000" pitchFamily="2" charset="0"/>
                        </a:rPr>
                        <a:t>Use case</a:t>
                      </a:r>
                    </a:p>
                  </a:txBody>
                  <a:tcPr marR="76200" marB="76200">
                    <a:lnL w="6096" cap="flat" cmpd="sng" algn="ctr">
                      <a:solidFill>
                        <a:srgbClr val="00A31A"/>
                      </a:solidFill>
                      <a:prstDash val="solid"/>
                      <a:round/>
                      <a:headEnd type="none" w="med" len="med"/>
                      <a:tailEnd type="none" w="med" len="med"/>
                    </a:lnL>
                    <a:lnR>
                      <a:noFill/>
                    </a:lnR>
                    <a:lnT w="6096" cap="flat" cmpd="sng" algn="ctr">
                      <a:solidFill>
                        <a:srgbClr val="803B1A"/>
                      </a:solidFill>
                      <a:prstDash val="solid"/>
                      <a:round/>
                      <a:headEnd type="none" w="med" len="med"/>
                      <a:tailEnd type="none" w="med" len="med"/>
                    </a:lnT>
                    <a:lnB w="6096" cap="flat" cmpd="sng" algn="ctr">
                      <a:solidFill>
                        <a:srgbClr val="00A31A"/>
                      </a:solidFill>
                      <a:prstDash val="solid"/>
                      <a:round/>
                      <a:headEnd type="none" w="med" len="med"/>
                      <a:tailEnd type="none" w="med" len="med"/>
                    </a:lnB>
                    <a:solidFill>
                      <a:srgbClr val="FFFFFF"/>
                    </a:solidFill>
                  </a:tcPr>
                </a:tc>
                <a:tc>
                  <a:txBody>
                    <a:bodyPr/>
                    <a:lstStyle/>
                    <a:p>
                      <a:pPr marL="0" marR="0" algn="ctr" fontAlgn="t">
                        <a:lnSpc>
                          <a:spcPts val="1950"/>
                        </a:lnSpc>
                        <a:buNone/>
                      </a:pPr>
                      <a:r>
                        <a:rPr lang="en-US" sz="1200" b="0" dirty="0">
                          <a:effectLst/>
                          <a:latin typeface="Roboto" panose="02000000000000000000" pitchFamily="2" charset="0"/>
                        </a:rPr>
                        <a:t>Critical sections</a:t>
                      </a:r>
                    </a:p>
                  </a:txBody>
                  <a:tcPr marR="76200" marB="76200">
                    <a:lnL>
                      <a:noFill/>
                    </a:lnL>
                    <a:lnR>
                      <a:noFill/>
                    </a:lnR>
                    <a:lnT w="6096" cap="flat" cmpd="sng" algn="ctr">
                      <a:solidFill>
                        <a:srgbClr val="E0A7D1"/>
                      </a:solidFill>
                      <a:prstDash val="solid"/>
                      <a:round/>
                      <a:headEnd type="none" w="med" len="med"/>
                      <a:tailEnd type="none" w="med" len="med"/>
                    </a:lnT>
                    <a:lnB w="6096" cap="flat" cmpd="sng" algn="ctr">
                      <a:solidFill>
                        <a:srgbClr val="60ACD1"/>
                      </a:solidFill>
                      <a:prstDash val="solid"/>
                      <a:round/>
                      <a:headEnd type="none" w="med" len="med"/>
                      <a:tailEnd type="none" w="med" len="med"/>
                    </a:lnB>
                    <a:solidFill>
                      <a:srgbClr val="FFFFFF"/>
                    </a:solidFill>
                  </a:tcPr>
                </a:tc>
                <a:tc>
                  <a:txBody>
                    <a:bodyPr/>
                    <a:lstStyle/>
                    <a:p>
                      <a:pPr marL="0" marR="0" algn="ctr" fontAlgn="t">
                        <a:lnSpc>
                          <a:spcPts val="1950"/>
                        </a:lnSpc>
                        <a:buNone/>
                      </a:pPr>
                      <a:r>
                        <a:rPr lang="en-US" sz="1200" b="0" dirty="0">
                          <a:effectLst/>
                          <a:latin typeface="Roboto" panose="02000000000000000000" pitchFamily="2" charset="0"/>
                        </a:rPr>
                        <a:t>Producer-consumer, event signaling</a:t>
                      </a:r>
                    </a:p>
                  </a:txBody>
                  <a:tcPr marB="76200">
                    <a:lnL>
                      <a:noFill/>
                    </a:lnL>
                    <a:lnR w="6096" cap="flat" cmpd="sng" algn="ctr">
                      <a:solidFill>
                        <a:srgbClr val="80091B"/>
                      </a:solidFill>
                      <a:prstDash val="solid"/>
                      <a:round/>
                      <a:headEnd type="none" w="med" len="med"/>
                      <a:tailEnd type="none" w="med" len="med"/>
                    </a:lnR>
                    <a:lnT w="6096" cap="flat" cmpd="sng" algn="ctr">
                      <a:solidFill>
                        <a:srgbClr val="80641A"/>
                      </a:solidFill>
                      <a:prstDash val="solid"/>
                      <a:round/>
                      <a:headEnd type="none" w="med" len="med"/>
                      <a:tailEnd type="none" w="med" len="med"/>
                    </a:lnT>
                    <a:lnB w="6096" cap="flat" cmpd="sng" algn="ctr">
                      <a:solidFill>
                        <a:srgbClr val="80091B"/>
                      </a:solidFill>
                      <a:prstDash val="solid"/>
                      <a:round/>
                      <a:headEnd type="none" w="med" len="med"/>
                      <a:tailEnd type="none" w="med" len="med"/>
                    </a:lnB>
                    <a:solidFill>
                      <a:srgbClr val="FFFFFF"/>
                    </a:solidFill>
                  </a:tcPr>
                </a:tc>
                <a:extLst>
                  <a:ext uri="{0D108BD9-81ED-4DB2-BD59-A6C34878D82A}">
                    <a16:rowId xmlns:a16="http://schemas.microsoft.com/office/drawing/2014/main" val="2938669829"/>
                  </a:ext>
                </a:extLst>
              </a:tr>
            </a:tbl>
          </a:graphicData>
        </a:graphic>
      </p:graphicFrame>
    </p:spTree>
    <p:extLst>
      <p:ext uri="{BB962C8B-B14F-4D97-AF65-F5344CB8AC3E}">
        <p14:creationId xmlns:p14="http://schemas.microsoft.com/office/powerpoint/2010/main" val="28950702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E08B14-57F5-7A44-D7E4-D56C216C6CF7}"/>
              </a:ext>
            </a:extLst>
          </p:cNvPr>
          <p:cNvSpPr>
            <a:spLocks noGrp="1"/>
          </p:cNvSpPr>
          <p:nvPr>
            <p:ph type="sldNum" sz="quarter" idx="12"/>
          </p:nvPr>
        </p:nvSpPr>
        <p:spPr/>
        <p:txBody>
          <a:bodyPr/>
          <a:lstStyle/>
          <a:p>
            <a:fld id="{CBABCCC1-BF11-4F37-963E-1BCD5B23FD72}" type="slidenum">
              <a:rPr lang="en-IN" smtClean="0"/>
              <a:pPr/>
              <a:t>27</a:t>
            </a:fld>
            <a:endParaRPr lang="en-IN" dirty="0"/>
          </a:p>
        </p:txBody>
      </p:sp>
      <p:sp>
        <p:nvSpPr>
          <p:cNvPr id="6" name="TextBox 5">
            <a:extLst>
              <a:ext uri="{FF2B5EF4-FFF2-40B4-BE49-F238E27FC236}">
                <a16:creationId xmlns:a16="http://schemas.microsoft.com/office/drawing/2014/main" id="{2202A327-821E-6BA1-9A14-566C8CBEB2FC}"/>
              </a:ext>
            </a:extLst>
          </p:cNvPr>
          <p:cNvSpPr txBox="1"/>
          <p:nvPr/>
        </p:nvSpPr>
        <p:spPr>
          <a:xfrm>
            <a:off x="475861" y="1433408"/>
            <a:ext cx="11271380" cy="4654736"/>
          </a:xfrm>
          <a:prstGeom prst="rect">
            <a:avLst/>
          </a:prstGeom>
          <a:noFill/>
        </p:spPr>
        <p:txBody>
          <a:bodyPr wrap="square">
            <a:spAutoFit/>
          </a:bodyPr>
          <a:lstStyle/>
          <a:p>
            <a:pPr indent="0" algn="just">
              <a:lnSpc>
                <a:spcPct val="150000"/>
              </a:lnSpc>
              <a:buNone/>
            </a:pPr>
            <a:r>
              <a:rPr lang="en-US" sz="2000" b="0" i="0" dirty="0">
                <a:effectLst/>
              </a:rPr>
              <a:t>In concurrent programming, </a:t>
            </a:r>
            <a:r>
              <a:rPr lang="en-US" sz="2000" b="1" i="0" dirty="0">
                <a:effectLst/>
              </a:rPr>
              <a:t>counting semaphores</a:t>
            </a:r>
            <a:r>
              <a:rPr lang="en-US" sz="2000" b="0" i="0" dirty="0">
                <a:effectLst/>
              </a:rPr>
              <a:t> are a synchronization primitive used to control access to a common resource shared among multiple threads or processes. They allow multiple threads to access a set of resources concurrently up to a maximum limit.</a:t>
            </a:r>
          </a:p>
          <a:p>
            <a:pPr marL="0" marR="0" indent="0" algn="just">
              <a:lnSpc>
                <a:spcPct val="150000"/>
              </a:lnSpc>
              <a:buNone/>
            </a:pPr>
            <a:r>
              <a:rPr lang="en-US" sz="2000" b="1" dirty="0">
                <a:effectLst/>
              </a:rPr>
              <a:t>Key Concepts</a:t>
            </a:r>
            <a:r>
              <a:rPr lang="en-US" sz="2000" b="1" dirty="0"/>
              <a:t>:</a:t>
            </a:r>
          </a:p>
          <a:p>
            <a:pPr marL="0" marR="0" indent="0">
              <a:lnSpc>
                <a:spcPct val="150000"/>
              </a:lnSpc>
              <a:buNone/>
            </a:pPr>
            <a:r>
              <a:rPr lang="en-US" sz="2000" b="1" i="0" dirty="0">
                <a:effectLst/>
              </a:rPr>
              <a:t>Definition</a:t>
            </a:r>
            <a:r>
              <a:rPr lang="en-US" sz="2000" b="0" i="0" dirty="0">
                <a:effectLst/>
              </a:rPr>
              <a:t>:</a:t>
            </a:r>
            <a:br>
              <a:rPr lang="en-US" sz="2000" b="0" i="0" dirty="0">
                <a:effectLst/>
              </a:rPr>
            </a:br>
            <a:r>
              <a:rPr lang="en-US" sz="2000" b="0" i="0" dirty="0">
                <a:effectLst/>
              </a:rPr>
              <a:t>A counting semaphore is an integer variable that can be incremented or decremented atomically. It typically has two operations:</a:t>
            </a:r>
          </a:p>
          <a:p>
            <a:pPr marL="342900" marR="0" indent="-342900" algn="just">
              <a:lnSpc>
                <a:spcPct val="150000"/>
              </a:lnSpc>
              <a:buFont typeface="Wingdings" panose="05000000000000000000" pitchFamily="2" charset="2"/>
              <a:buChar char="Ø"/>
            </a:pPr>
            <a:r>
              <a:rPr lang="en-US" sz="2000" b="0" i="0" dirty="0">
                <a:effectLst/>
              </a:rPr>
              <a:t>wait() or P(): Decrements the semaphore. If the semaphore's value is greater than zero, the operation    continues; otherwise, the thread is blocked until the resource becomes available.</a:t>
            </a:r>
          </a:p>
          <a:p>
            <a:pPr marL="342900" marR="0" indent="-342900" algn="just">
              <a:lnSpc>
                <a:spcPct val="150000"/>
              </a:lnSpc>
              <a:buFont typeface="Wingdings" panose="05000000000000000000" pitchFamily="2" charset="2"/>
              <a:buChar char="Ø"/>
            </a:pPr>
            <a:r>
              <a:rPr lang="en-US" sz="2000" dirty="0"/>
              <a:t>S</a:t>
            </a:r>
            <a:r>
              <a:rPr lang="en-US" sz="2000" b="0" i="0" dirty="0">
                <a:effectLst/>
              </a:rPr>
              <a:t>ignal() or V(): Increments the semaphore. If there are threads waiting, one of them is unblocked.</a:t>
            </a:r>
          </a:p>
        </p:txBody>
      </p:sp>
      <p:sp>
        <p:nvSpPr>
          <p:cNvPr id="3" name="Rounded Rectangle 17">
            <a:extLst>
              <a:ext uri="{FF2B5EF4-FFF2-40B4-BE49-F238E27FC236}">
                <a16:creationId xmlns:a16="http://schemas.microsoft.com/office/drawing/2014/main" id="{C74912DB-FD99-B00E-1A96-7E1FA9AC647E}"/>
              </a:ext>
            </a:extLst>
          </p:cNvPr>
          <p:cNvSpPr/>
          <p:nvPr/>
        </p:nvSpPr>
        <p:spPr>
          <a:xfrm>
            <a:off x="2063549" y="379175"/>
            <a:ext cx="6788092" cy="59290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t>Counting Semaphores</a:t>
            </a:r>
            <a:endParaRPr lang="en-US" sz="3200" dirty="0"/>
          </a:p>
        </p:txBody>
      </p:sp>
    </p:spTree>
    <p:extLst>
      <p:ext uri="{BB962C8B-B14F-4D97-AF65-F5344CB8AC3E}">
        <p14:creationId xmlns:p14="http://schemas.microsoft.com/office/powerpoint/2010/main" val="2368799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2463DB-7A45-B3EE-26FC-2066B613CFE3}"/>
              </a:ext>
            </a:extLst>
          </p:cNvPr>
          <p:cNvSpPr>
            <a:spLocks noGrp="1"/>
          </p:cNvSpPr>
          <p:nvPr>
            <p:ph type="sldNum" sz="quarter" idx="12"/>
          </p:nvPr>
        </p:nvSpPr>
        <p:spPr/>
        <p:txBody>
          <a:bodyPr/>
          <a:lstStyle/>
          <a:p>
            <a:fld id="{CBABCCC1-BF11-4F37-963E-1BCD5B23FD72}" type="slidenum">
              <a:rPr lang="en-IN" smtClean="0"/>
              <a:pPr/>
              <a:t>28</a:t>
            </a:fld>
            <a:endParaRPr lang="en-IN" dirty="0"/>
          </a:p>
        </p:txBody>
      </p:sp>
      <p:sp>
        <p:nvSpPr>
          <p:cNvPr id="4" name="TextBox 3">
            <a:extLst>
              <a:ext uri="{FF2B5EF4-FFF2-40B4-BE49-F238E27FC236}">
                <a16:creationId xmlns:a16="http://schemas.microsoft.com/office/drawing/2014/main" id="{EA93B402-3F50-2438-E983-A3372EF8033A}"/>
              </a:ext>
            </a:extLst>
          </p:cNvPr>
          <p:cNvSpPr txBox="1"/>
          <p:nvPr/>
        </p:nvSpPr>
        <p:spPr>
          <a:xfrm>
            <a:off x="522514" y="4012162"/>
            <a:ext cx="11215396" cy="1631216"/>
          </a:xfrm>
          <a:prstGeom prst="rect">
            <a:avLst/>
          </a:prstGeom>
          <a:noFill/>
        </p:spPr>
        <p:txBody>
          <a:bodyPr wrap="square">
            <a:spAutoFit/>
          </a:bodyPr>
          <a:lstStyle/>
          <a:p>
            <a:pPr marL="0" marR="0" indent="0" algn="l">
              <a:buFont typeface="Arial" panose="020B0604020202020204" pitchFamily="34" charset="0"/>
              <a:buChar char="•"/>
            </a:pPr>
            <a:r>
              <a:rPr lang="en-US" sz="2000" b="0" i="0" dirty="0">
                <a:effectLst/>
              </a:rPr>
              <a:t>Counting semaphores differ from </a:t>
            </a:r>
            <a:r>
              <a:rPr lang="en-US" sz="2000" b="1" i="0" dirty="0">
                <a:effectLst/>
              </a:rPr>
              <a:t>binary semaphores</a:t>
            </a:r>
            <a:r>
              <a:rPr lang="en-US" sz="2000" b="0" i="0" dirty="0">
                <a:effectLst/>
              </a:rPr>
              <a:t>, which can only take values 0 or 1; binary semaphores are effectively used for mutual exclusion.</a:t>
            </a:r>
          </a:p>
          <a:p>
            <a:pPr marL="0" marR="0" indent="0" algn="l">
              <a:buFont typeface="Arial" panose="020B0604020202020204" pitchFamily="34" charset="0"/>
              <a:buChar char="•"/>
            </a:pPr>
            <a:r>
              <a:rPr lang="en-US" sz="2000" b="0" i="0" dirty="0">
                <a:effectLst/>
              </a:rPr>
              <a:t>Operations on semaphores must be </a:t>
            </a:r>
            <a:r>
              <a:rPr lang="en-US" sz="2000" b="1" i="0" dirty="0">
                <a:effectLst/>
              </a:rPr>
              <a:t>atomic</a:t>
            </a:r>
            <a:r>
              <a:rPr lang="en-US" sz="2000" b="0" i="0" dirty="0">
                <a:effectLst/>
              </a:rPr>
              <a:t> to prevent race conditions. Most programming languages implement this internally.</a:t>
            </a:r>
          </a:p>
          <a:p>
            <a:pPr marL="0" marR="0" indent="0" algn="l">
              <a:buFont typeface="Arial" panose="020B0604020202020204" pitchFamily="34" charset="0"/>
              <a:buChar char="•"/>
            </a:pPr>
            <a:r>
              <a:rPr lang="en-US" sz="2000" b="0" i="0" dirty="0">
                <a:effectLst/>
              </a:rPr>
              <a:t>Improper use of semaphores can lead to </a:t>
            </a:r>
            <a:r>
              <a:rPr lang="en-US" sz="2000" b="1" i="0" dirty="0">
                <a:effectLst/>
              </a:rPr>
              <a:t>deadlocks</a:t>
            </a:r>
            <a:r>
              <a:rPr lang="en-US" sz="2000" b="0" i="0" dirty="0">
                <a:effectLst/>
              </a:rPr>
              <a:t> if threads wait on resources that never get released.</a:t>
            </a:r>
          </a:p>
        </p:txBody>
      </p:sp>
      <p:sp>
        <p:nvSpPr>
          <p:cNvPr id="5" name="TextBox 4">
            <a:extLst>
              <a:ext uri="{FF2B5EF4-FFF2-40B4-BE49-F238E27FC236}">
                <a16:creationId xmlns:a16="http://schemas.microsoft.com/office/drawing/2014/main" id="{528F8130-828B-E2A8-D8CF-41329F99C85F}"/>
              </a:ext>
            </a:extLst>
          </p:cNvPr>
          <p:cNvSpPr txBox="1"/>
          <p:nvPr/>
        </p:nvSpPr>
        <p:spPr>
          <a:xfrm>
            <a:off x="625151" y="1073020"/>
            <a:ext cx="11112758" cy="2554545"/>
          </a:xfrm>
          <a:prstGeom prst="rect">
            <a:avLst/>
          </a:prstGeom>
          <a:noFill/>
        </p:spPr>
        <p:txBody>
          <a:bodyPr wrap="square">
            <a:spAutoFit/>
          </a:bodyPr>
          <a:lstStyle/>
          <a:p>
            <a:pPr marL="0" marR="0" indent="0" algn="l">
              <a:buFont typeface="+mj-lt"/>
              <a:buAutoNum type="arabicPeriod"/>
            </a:pPr>
            <a:r>
              <a:rPr lang="en-US" sz="2000" b="1" i="0" dirty="0">
                <a:effectLst/>
              </a:rPr>
              <a:t>Use Cases</a:t>
            </a:r>
            <a:r>
              <a:rPr lang="en-US" sz="2000" b="0" i="0" dirty="0">
                <a:effectLst/>
              </a:rPr>
              <a:t>:</a:t>
            </a:r>
          </a:p>
          <a:p>
            <a:pPr marL="0" marR="0" indent="0" algn="l"/>
            <a:r>
              <a:rPr lang="en-US" sz="2000" b="0" i="0" dirty="0">
                <a:effectLst/>
              </a:rPr>
              <a:t>Controlling access to </a:t>
            </a:r>
            <a:r>
              <a:rPr lang="en-US" sz="2000" b="1" i="0" dirty="0">
                <a:effectLst/>
              </a:rPr>
              <a:t>limited resources</a:t>
            </a:r>
            <a:r>
              <a:rPr lang="en-US" sz="2000" b="0" i="0" dirty="0">
                <a:effectLst/>
              </a:rPr>
              <a:t> (e.g., a pool of database connections, printer access, or slots in a buffer).</a:t>
            </a:r>
          </a:p>
          <a:p>
            <a:pPr marL="742950" marR="0" lvl="1" indent="-285750" algn="l">
              <a:buFont typeface="+mj-lt"/>
              <a:buAutoNum type="arabicPeriod"/>
            </a:pPr>
            <a:r>
              <a:rPr lang="en-US" sz="2000" b="1" i="0" dirty="0">
                <a:effectLst/>
              </a:rPr>
              <a:t>Producer consumer problems</a:t>
            </a:r>
            <a:r>
              <a:rPr lang="en-US" sz="2000" b="0" i="0" dirty="0">
                <a:effectLst/>
              </a:rPr>
              <a:t> where multiple producers and consumers share a finite buffer.</a:t>
            </a:r>
          </a:p>
          <a:p>
            <a:pPr marL="742950" marR="0" lvl="1" indent="-285750" algn="l">
              <a:buFont typeface="+mj-lt"/>
              <a:buAutoNum type="arabicPeriod"/>
            </a:pPr>
            <a:r>
              <a:rPr lang="en-US" sz="2000" b="0" i="0" dirty="0">
                <a:effectLst/>
              </a:rPr>
              <a:t>Controlling </a:t>
            </a:r>
            <a:r>
              <a:rPr lang="en-US" sz="2000" b="1" i="0" dirty="0">
                <a:effectLst/>
              </a:rPr>
              <a:t>concurrent access to multiple instances</a:t>
            </a:r>
            <a:r>
              <a:rPr lang="en-US" sz="2000" b="0" i="0" dirty="0">
                <a:effectLst/>
              </a:rPr>
              <a:t> of a particular resource.</a:t>
            </a:r>
          </a:p>
          <a:p>
            <a:pPr marL="0" marR="0" indent="0" algn="l"/>
            <a:r>
              <a:rPr lang="en-US" sz="2000" b="1" i="0" dirty="0">
                <a:effectLst/>
              </a:rPr>
              <a:t>Example</a:t>
            </a:r>
            <a:r>
              <a:rPr lang="en-US" sz="2000" b="0" i="0" dirty="0">
                <a:effectLst/>
              </a:rPr>
              <a:t>: Suppose there are 3 printers, and many threads may need access. A counting semaphore initialized with the number 3 can be used. Each time a thread needs a printer, it performs wait(). When done, it performs signal().</a:t>
            </a:r>
          </a:p>
        </p:txBody>
      </p:sp>
    </p:spTree>
    <p:extLst>
      <p:ext uri="{BB962C8B-B14F-4D97-AF65-F5344CB8AC3E}">
        <p14:creationId xmlns:p14="http://schemas.microsoft.com/office/powerpoint/2010/main" val="34980915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5047578-79B8-7544-3AC1-FB292A28024D}"/>
              </a:ext>
            </a:extLst>
          </p:cNvPr>
          <p:cNvSpPr>
            <a:spLocks noGrp="1"/>
          </p:cNvSpPr>
          <p:nvPr>
            <p:ph type="sldNum" sz="quarter" idx="12"/>
          </p:nvPr>
        </p:nvSpPr>
        <p:spPr/>
        <p:txBody>
          <a:bodyPr/>
          <a:lstStyle/>
          <a:p>
            <a:fld id="{CBABCCC1-BF11-4F37-963E-1BCD5B23FD72}" type="slidenum">
              <a:rPr lang="en-IN" smtClean="0"/>
              <a:pPr/>
              <a:t>29</a:t>
            </a:fld>
            <a:endParaRPr lang="en-IN" dirty="0"/>
          </a:p>
        </p:txBody>
      </p:sp>
      <p:pic>
        <p:nvPicPr>
          <p:cNvPr id="6" name="Picture 5">
            <a:extLst>
              <a:ext uri="{FF2B5EF4-FFF2-40B4-BE49-F238E27FC236}">
                <a16:creationId xmlns:a16="http://schemas.microsoft.com/office/drawing/2014/main" id="{83C5E03D-969F-96BB-FD0A-DED700C51E9B}"/>
              </a:ext>
            </a:extLst>
          </p:cNvPr>
          <p:cNvPicPr>
            <a:picLocks noChangeAspect="1"/>
          </p:cNvPicPr>
          <p:nvPr/>
        </p:nvPicPr>
        <p:blipFill>
          <a:blip r:embed="rId2" cstate="print"/>
          <a:stretch>
            <a:fillRect/>
          </a:stretch>
        </p:blipFill>
        <p:spPr>
          <a:xfrm>
            <a:off x="0" y="0"/>
            <a:ext cx="1567654" cy="624416"/>
          </a:xfrm>
          <a:prstGeom prst="rect">
            <a:avLst/>
          </a:prstGeom>
        </p:spPr>
      </p:pic>
      <p:sp>
        <p:nvSpPr>
          <p:cNvPr id="5" name="TextBox 4">
            <a:extLst>
              <a:ext uri="{FF2B5EF4-FFF2-40B4-BE49-F238E27FC236}">
                <a16:creationId xmlns:a16="http://schemas.microsoft.com/office/drawing/2014/main" id="{AA21E12E-CEF5-DBFA-5DF5-F737D61FC2DA}"/>
              </a:ext>
            </a:extLst>
          </p:cNvPr>
          <p:cNvSpPr txBox="1"/>
          <p:nvPr/>
        </p:nvSpPr>
        <p:spPr>
          <a:xfrm>
            <a:off x="709127" y="1069185"/>
            <a:ext cx="11262049" cy="5355312"/>
          </a:xfrm>
          <a:prstGeom prst="rect">
            <a:avLst/>
          </a:prstGeom>
          <a:noFill/>
        </p:spPr>
        <p:txBody>
          <a:bodyPr wrap="square">
            <a:spAutoFit/>
          </a:bodyPr>
          <a:lstStyle/>
          <a:p>
            <a:pPr indent="0" algn="just">
              <a:lnSpc>
                <a:spcPct val="150000"/>
              </a:lnSpc>
              <a:buNone/>
            </a:pPr>
            <a:r>
              <a:rPr lang="en-US" b="0" i="0" dirty="0">
                <a:effectLst/>
              </a:rPr>
              <a:t>Concurrency hazards arise in concurrent or parallel programming when multiple threads or processes interact in ways that can cause unexpected or incorrect behavior. Understanding these hazards is crucial for designing reliable and safe  software systems. Here are the main types of concurrency hazards:</a:t>
            </a:r>
          </a:p>
          <a:p>
            <a:pPr marL="0" marR="0" indent="0" algn="just">
              <a:lnSpc>
                <a:spcPct val="150000"/>
              </a:lnSpc>
              <a:buNone/>
            </a:pPr>
            <a:r>
              <a:rPr lang="en-US" b="1" dirty="0">
                <a:effectLst/>
              </a:rPr>
              <a:t>1. </a:t>
            </a:r>
            <a:r>
              <a:rPr lang="en-US" b="1" dirty="0">
                <a:solidFill>
                  <a:srgbClr val="191919"/>
                </a:solidFill>
                <a:effectLst/>
              </a:rPr>
              <a:t>Race Conditions</a:t>
            </a:r>
            <a:endParaRPr lang="en-US" b="1" dirty="0">
              <a:effectLst/>
            </a:endParaRPr>
          </a:p>
          <a:p>
            <a:pPr marL="285750" marR="0" indent="-285750" algn="just">
              <a:lnSpc>
                <a:spcPct val="150000"/>
              </a:lnSpc>
              <a:buFont typeface="Wingdings" panose="05000000000000000000" pitchFamily="2" charset="2"/>
              <a:buChar char="Ø"/>
            </a:pPr>
            <a:r>
              <a:rPr lang="en-US" b="1" i="0" dirty="0">
                <a:effectLst/>
              </a:rPr>
              <a:t>Definition:</a:t>
            </a:r>
            <a:r>
              <a:rPr lang="en-US" b="0" i="0" dirty="0">
                <a:effectLst/>
              </a:rPr>
              <a:t> Occurs when multiple threads access shared data simultaneously, and the final outcome depends on the relative timing of their execution.</a:t>
            </a:r>
          </a:p>
          <a:p>
            <a:pPr marR="0" algn="just">
              <a:lnSpc>
                <a:spcPct val="150000"/>
              </a:lnSpc>
            </a:pPr>
            <a:r>
              <a:rPr lang="en-US" b="1" i="0" dirty="0">
                <a:effectLst/>
              </a:rPr>
              <a:t>     Example:</a:t>
            </a:r>
            <a:r>
              <a:rPr lang="en-US" b="0" i="0" dirty="0">
                <a:effectLst/>
              </a:rPr>
              <a:t> Two threads incrementing the same counter without synchronization may result in lost updates.</a:t>
            </a:r>
          </a:p>
          <a:p>
            <a:pPr marR="0" algn="just">
              <a:lnSpc>
                <a:spcPct val="150000"/>
              </a:lnSpc>
            </a:pPr>
            <a:r>
              <a:rPr lang="en-US" b="1" i="0" dirty="0">
                <a:effectLst/>
              </a:rPr>
              <a:t>     Mitigation:</a:t>
            </a:r>
            <a:r>
              <a:rPr lang="en-US" b="0" i="0" dirty="0">
                <a:effectLst/>
              </a:rPr>
              <a:t> Use locks, atomic operations, or higher-level concurrency constructs like semaphores.</a:t>
            </a:r>
          </a:p>
          <a:p>
            <a:pPr algn="just">
              <a:lnSpc>
                <a:spcPct val="150000"/>
              </a:lnSpc>
            </a:pPr>
            <a:r>
              <a:rPr lang="en-US" b="1" dirty="0"/>
              <a:t>2. Deadlocks</a:t>
            </a:r>
          </a:p>
          <a:p>
            <a:pPr marL="285750" indent="-285750" algn="just">
              <a:lnSpc>
                <a:spcPct val="150000"/>
              </a:lnSpc>
              <a:buFont typeface="Wingdings" panose="05000000000000000000" pitchFamily="2" charset="2"/>
              <a:buChar char="Ø"/>
            </a:pPr>
            <a:r>
              <a:rPr lang="en-US" b="1" dirty="0"/>
              <a:t>Definition:</a:t>
            </a:r>
            <a:r>
              <a:rPr lang="en-US" dirty="0"/>
              <a:t> Occurs when two or more threads are waiting indefinitely for each other to release resources.</a:t>
            </a:r>
          </a:p>
          <a:p>
            <a:pPr algn="just">
              <a:lnSpc>
                <a:spcPct val="150000"/>
              </a:lnSpc>
            </a:pPr>
            <a:r>
              <a:rPr lang="en-US" b="1" dirty="0"/>
              <a:t>     Example:</a:t>
            </a:r>
            <a:r>
              <a:rPr lang="en-US" dirty="0"/>
              <a:t> Thread A waits for a lock held by thread B, while thread B waits for a lock held by thread A.</a:t>
            </a:r>
          </a:p>
          <a:p>
            <a:pPr>
              <a:lnSpc>
                <a:spcPct val="150000"/>
              </a:lnSpc>
            </a:pPr>
            <a:r>
              <a:rPr lang="en-US" b="1" dirty="0"/>
              <a:t>     Mitigation:</a:t>
            </a:r>
            <a:r>
              <a:rPr lang="en-US" dirty="0"/>
              <a:t> Ensure a consistent lock acquisition order, use timeout-based locking, or avoid circular dependencies.</a:t>
            </a:r>
          </a:p>
          <a:p>
            <a:pPr algn="just"/>
            <a:endParaRPr lang="en-US" b="0" i="0" dirty="0">
              <a:effectLst/>
            </a:endParaRPr>
          </a:p>
        </p:txBody>
      </p:sp>
      <p:sp>
        <p:nvSpPr>
          <p:cNvPr id="8" name="TextBox 7">
            <a:extLst>
              <a:ext uri="{FF2B5EF4-FFF2-40B4-BE49-F238E27FC236}">
                <a16:creationId xmlns:a16="http://schemas.microsoft.com/office/drawing/2014/main" id="{5503D3C6-7201-E4A3-F731-8135FFCCB824}"/>
              </a:ext>
            </a:extLst>
          </p:cNvPr>
          <p:cNvSpPr txBox="1"/>
          <p:nvPr/>
        </p:nvSpPr>
        <p:spPr>
          <a:xfrm>
            <a:off x="2248678" y="433503"/>
            <a:ext cx="6904652" cy="400110"/>
          </a:xfrm>
          <a:prstGeom prst="rect">
            <a:avLst/>
          </a:prstGeom>
          <a:noFill/>
        </p:spPr>
        <p:txBody>
          <a:bodyPr wrap="square">
            <a:spAutoFit/>
          </a:bodyPr>
          <a:lstStyle/>
          <a:p>
            <a:r>
              <a:rPr lang="en-IN" sz="2000" b="1" dirty="0"/>
              <a:t>Concurrency Hazards</a:t>
            </a:r>
            <a:endParaRPr lang="en-US" b="1" dirty="0"/>
          </a:p>
        </p:txBody>
      </p:sp>
    </p:spTree>
    <p:extLst>
      <p:ext uri="{BB962C8B-B14F-4D97-AF65-F5344CB8AC3E}">
        <p14:creationId xmlns:p14="http://schemas.microsoft.com/office/powerpoint/2010/main" val="32523770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E1D72C9-0882-D7B1-0040-5028C7A8EED5}"/>
              </a:ext>
            </a:extLst>
          </p:cNvPr>
          <p:cNvSpPr>
            <a:spLocks noGrp="1"/>
          </p:cNvSpPr>
          <p:nvPr>
            <p:ph type="sldNum" sz="quarter" idx="12"/>
          </p:nvPr>
        </p:nvSpPr>
        <p:spPr/>
        <p:txBody>
          <a:bodyPr/>
          <a:lstStyle/>
          <a:p>
            <a:fld id="{CBABCCC1-BF11-4F37-963E-1BCD5B23FD72}" type="slidenum">
              <a:rPr lang="en-IN" smtClean="0"/>
              <a:pPr/>
              <a:t>30</a:t>
            </a:fld>
            <a:endParaRPr lang="en-IN" dirty="0"/>
          </a:p>
        </p:txBody>
      </p:sp>
      <p:sp>
        <p:nvSpPr>
          <p:cNvPr id="4" name="TextBox 3">
            <a:extLst>
              <a:ext uri="{FF2B5EF4-FFF2-40B4-BE49-F238E27FC236}">
                <a16:creationId xmlns:a16="http://schemas.microsoft.com/office/drawing/2014/main" id="{678C0C56-79AC-38A8-D912-8CA0591E5959}"/>
              </a:ext>
            </a:extLst>
          </p:cNvPr>
          <p:cNvSpPr txBox="1"/>
          <p:nvPr/>
        </p:nvSpPr>
        <p:spPr>
          <a:xfrm>
            <a:off x="625151" y="933061"/>
            <a:ext cx="10786188" cy="4108817"/>
          </a:xfrm>
          <a:prstGeom prst="rect">
            <a:avLst/>
          </a:prstGeom>
          <a:noFill/>
        </p:spPr>
        <p:txBody>
          <a:bodyPr wrap="square">
            <a:spAutoFit/>
          </a:bodyPr>
          <a:lstStyle/>
          <a:p>
            <a:pPr algn="just">
              <a:lnSpc>
                <a:spcPct val="150000"/>
              </a:lnSpc>
            </a:pPr>
            <a:r>
              <a:rPr lang="en-US" sz="1800" b="1" dirty="0"/>
              <a:t>3. </a:t>
            </a:r>
            <a:r>
              <a:rPr lang="en-US" sz="1800" b="1" dirty="0" err="1"/>
              <a:t>Livelocks</a:t>
            </a:r>
            <a:endParaRPr lang="en-US" sz="1800" b="1" dirty="0"/>
          </a:p>
          <a:p>
            <a:pPr marL="285750" indent="-285750" algn="just">
              <a:lnSpc>
                <a:spcPct val="150000"/>
              </a:lnSpc>
              <a:buFont typeface="Wingdings" panose="05000000000000000000" pitchFamily="2" charset="2"/>
              <a:buChar char="Ø"/>
            </a:pPr>
            <a:r>
              <a:rPr lang="en-US" sz="1800" b="1" dirty="0"/>
              <a:t>Definition:</a:t>
            </a:r>
            <a:r>
              <a:rPr lang="en-US" sz="1800" dirty="0"/>
              <a:t> Threads are actively changing state in response to each other but never make progress.</a:t>
            </a:r>
          </a:p>
          <a:p>
            <a:pPr algn="just">
              <a:lnSpc>
                <a:spcPct val="150000"/>
              </a:lnSpc>
            </a:pPr>
            <a:r>
              <a:rPr lang="en-US" sz="1800" b="1" dirty="0"/>
              <a:t>     Example:</a:t>
            </a:r>
            <a:r>
              <a:rPr lang="en-US" sz="1800" dirty="0"/>
              <a:t> Two threads keep yielding to each other while trying to acquire resources.</a:t>
            </a:r>
          </a:p>
          <a:p>
            <a:pPr algn="just">
              <a:lnSpc>
                <a:spcPct val="150000"/>
              </a:lnSpc>
            </a:pPr>
            <a:r>
              <a:rPr lang="en-US" sz="1800" b="1" dirty="0"/>
              <a:t>     Mitigation:</a:t>
            </a:r>
            <a:r>
              <a:rPr lang="en-US" sz="1800" dirty="0"/>
              <a:t> Incorporate back-off strategies or redesign the interaction protocol.</a:t>
            </a:r>
          </a:p>
          <a:p>
            <a:pPr algn="just">
              <a:lnSpc>
                <a:spcPct val="150000"/>
              </a:lnSpc>
            </a:pPr>
            <a:endParaRPr lang="en-US" dirty="0"/>
          </a:p>
          <a:p>
            <a:pPr algn="just">
              <a:lnSpc>
                <a:spcPct val="150000"/>
              </a:lnSpc>
            </a:pPr>
            <a:r>
              <a:rPr lang="en-US" b="1" dirty="0"/>
              <a:t>4. Starvation</a:t>
            </a:r>
          </a:p>
          <a:p>
            <a:pPr marL="285750" indent="-285750" algn="just">
              <a:lnSpc>
                <a:spcPct val="150000"/>
              </a:lnSpc>
              <a:buFont typeface="Wingdings" panose="05000000000000000000" pitchFamily="2" charset="2"/>
              <a:buChar char="Ø"/>
            </a:pPr>
            <a:r>
              <a:rPr lang="en-US" b="1" dirty="0"/>
              <a:t>Definition:</a:t>
            </a:r>
            <a:r>
              <a:rPr lang="en-US" dirty="0"/>
              <a:t> A thread is perpetually delayed from acquiring resources because other threads monopolize them.</a:t>
            </a:r>
          </a:p>
          <a:p>
            <a:pPr algn="just">
              <a:lnSpc>
                <a:spcPct val="150000"/>
              </a:lnSpc>
            </a:pPr>
            <a:r>
              <a:rPr lang="en-US" b="1" dirty="0"/>
              <a:t>Example:</a:t>
            </a:r>
            <a:r>
              <a:rPr lang="en-US" dirty="0"/>
              <a:t> High-priority threads continuously preempting lower-priority threads.</a:t>
            </a:r>
          </a:p>
          <a:p>
            <a:pPr algn="just">
              <a:lnSpc>
                <a:spcPct val="150000"/>
              </a:lnSpc>
            </a:pPr>
            <a:r>
              <a:rPr lang="en-US" b="1" dirty="0"/>
              <a:t>Mitigation:</a:t>
            </a:r>
            <a:r>
              <a:rPr lang="en-US" dirty="0"/>
              <a:t> Use fair scheduling policies or priority inheritance mechanisms.</a:t>
            </a:r>
          </a:p>
          <a:p>
            <a:pPr algn="just"/>
            <a:endParaRPr lang="en-US" sz="1800" dirty="0"/>
          </a:p>
        </p:txBody>
      </p:sp>
    </p:spTree>
    <p:extLst>
      <p:ext uri="{BB962C8B-B14F-4D97-AF65-F5344CB8AC3E}">
        <p14:creationId xmlns:p14="http://schemas.microsoft.com/office/powerpoint/2010/main" val="9961175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1477308" y="6537960"/>
            <a:ext cx="548640" cy="274320"/>
          </a:xfrm>
          <a:prstGeom prst="rect">
            <a:avLst/>
          </a:prstGeom>
          <a:noFill/>
          <a:ln/>
        </p:spPr>
        <p:txBody>
          <a:bodyPr wrap="square" rtlCol="0" anchor="ctr"/>
          <a:lstStyle/>
          <a:p>
            <a:pPr algn="r"/>
            <a:r>
              <a:rPr lang="en-US" sz="1000" dirty="0">
                <a:solidFill>
                  <a:srgbClr val="5B6B85"/>
                </a:solidFill>
                <a:latin typeface="Calibri" pitchFamily="34" charset="0"/>
                <a:ea typeface="Calibri" pitchFamily="34" charset="-122"/>
                <a:cs typeface="Calibri" pitchFamily="34" charset="-120"/>
              </a:rPr>
              <a:t>7</a:t>
            </a:r>
            <a:endParaRPr lang="en-US" sz="1000" dirty="0"/>
          </a:p>
        </p:txBody>
      </p:sp>
      <p:sp>
        <p:nvSpPr>
          <p:cNvPr id="3" name="Text 1"/>
          <p:cNvSpPr/>
          <p:nvPr/>
        </p:nvSpPr>
        <p:spPr>
          <a:xfrm>
            <a:off x="458788" y="6537960"/>
            <a:ext cx="5486400" cy="274320"/>
          </a:xfrm>
          <a:prstGeom prst="rect">
            <a:avLst/>
          </a:prstGeom>
          <a:noFill/>
          <a:ln/>
        </p:spPr>
        <p:txBody>
          <a:bodyPr wrap="square" rtlCol="0" anchor="ctr"/>
          <a:lstStyle/>
          <a:p>
            <a:r>
              <a:rPr lang="en-US" sz="900" i="1" dirty="0">
                <a:solidFill>
                  <a:srgbClr val="5B6B85"/>
                </a:solidFill>
                <a:latin typeface="Calibri" pitchFamily="34" charset="0"/>
                <a:ea typeface="Calibri" pitchFamily="34" charset="-122"/>
                <a:cs typeface="Calibri" pitchFamily="34" charset="-120"/>
              </a:rPr>
              <a:t>CO-1 : OS as a Service Layer</a:t>
            </a:r>
            <a:endParaRPr lang="en-US" sz="900" dirty="0"/>
          </a:p>
        </p:txBody>
      </p:sp>
      <p:sp>
        <p:nvSpPr>
          <p:cNvPr id="4" name="Text 2"/>
          <p:cNvSpPr/>
          <p:nvPr/>
        </p:nvSpPr>
        <p:spPr>
          <a:xfrm>
            <a:off x="458788" y="320040"/>
            <a:ext cx="11247120" cy="777240"/>
          </a:xfrm>
          <a:prstGeom prst="rect">
            <a:avLst/>
          </a:prstGeom>
          <a:noFill/>
          <a:ln/>
        </p:spPr>
        <p:txBody>
          <a:bodyPr wrap="square" rtlCol="0" anchor="ctr"/>
          <a:lstStyle/>
          <a:p>
            <a:endParaRPr lang="en-US" sz="2800" dirty="0">
              <a:solidFill>
                <a:srgbClr val="FF0000"/>
              </a:solidFill>
            </a:endParaRPr>
          </a:p>
        </p:txBody>
      </p:sp>
      <p:sp>
        <p:nvSpPr>
          <p:cNvPr id="5" name="Text 3"/>
          <p:cNvSpPr/>
          <p:nvPr/>
        </p:nvSpPr>
        <p:spPr>
          <a:xfrm>
            <a:off x="458788" y="1234440"/>
            <a:ext cx="6675120" cy="3931920"/>
          </a:xfrm>
          <a:prstGeom prst="rect">
            <a:avLst/>
          </a:prstGeom>
          <a:noFill/>
          <a:ln/>
        </p:spPr>
        <p:txBody>
          <a:bodyPr wrap="square" rtlCol="0" anchor="t"/>
          <a:lstStyle/>
          <a:p>
            <a:pPr marL="177800" indent="-177800">
              <a:spcAft>
                <a:spcPts val="1000"/>
              </a:spcAft>
              <a:buSzPct val="100000"/>
              <a:buChar char="•"/>
            </a:pPr>
            <a:endParaRPr lang="en-US" sz="2000" dirty="0">
              <a:latin typeface="Times New Roman" panose="02020603050405020304" pitchFamily="18" charset="0"/>
              <a:cs typeface="Times New Roman" panose="02020603050405020304" pitchFamily="18" charset="0"/>
            </a:endParaRPr>
          </a:p>
        </p:txBody>
      </p:sp>
      <p:sp>
        <p:nvSpPr>
          <p:cNvPr id="7" name="Text 5"/>
          <p:cNvSpPr/>
          <p:nvPr/>
        </p:nvSpPr>
        <p:spPr>
          <a:xfrm>
            <a:off x="8596948" y="1280160"/>
            <a:ext cx="2651760" cy="658368"/>
          </a:xfrm>
          <a:prstGeom prst="rect">
            <a:avLst/>
          </a:prstGeom>
          <a:noFill/>
          <a:ln/>
        </p:spPr>
        <p:txBody>
          <a:bodyPr wrap="square" rtlCol="0" anchor="ctr"/>
          <a:lstStyle/>
          <a:p>
            <a:pPr algn="ctr"/>
            <a:endParaRPr lang="en-US" sz="1200" dirty="0"/>
          </a:p>
        </p:txBody>
      </p:sp>
      <p:sp>
        <p:nvSpPr>
          <p:cNvPr id="21" name="TextBox 20">
            <a:extLst>
              <a:ext uri="{FF2B5EF4-FFF2-40B4-BE49-F238E27FC236}">
                <a16:creationId xmlns:a16="http://schemas.microsoft.com/office/drawing/2014/main" id="{A1A9BAAA-C221-C77A-24AC-80B6E59A6FFD}"/>
              </a:ext>
            </a:extLst>
          </p:cNvPr>
          <p:cNvSpPr txBox="1"/>
          <p:nvPr/>
        </p:nvSpPr>
        <p:spPr>
          <a:xfrm>
            <a:off x="643813" y="849086"/>
            <a:ext cx="11382135" cy="4654736"/>
          </a:xfrm>
          <a:prstGeom prst="rect">
            <a:avLst/>
          </a:prstGeom>
          <a:noFill/>
        </p:spPr>
        <p:txBody>
          <a:bodyPr wrap="square">
            <a:spAutoFit/>
          </a:bodyPr>
          <a:lstStyle/>
          <a:p>
            <a:pPr algn="just">
              <a:lnSpc>
                <a:spcPct val="150000"/>
              </a:lnSpc>
            </a:pPr>
            <a:r>
              <a:rPr lang="en-US" sz="2000" b="1" dirty="0"/>
              <a:t>5. Atomicity Violations</a:t>
            </a:r>
          </a:p>
          <a:p>
            <a:pPr marL="342900" indent="-342900" algn="just">
              <a:lnSpc>
                <a:spcPct val="150000"/>
              </a:lnSpc>
              <a:buFont typeface="Wingdings" panose="05000000000000000000" pitchFamily="2" charset="2"/>
              <a:buChar char="Ø"/>
            </a:pPr>
            <a:r>
              <a:rPr lang="en-US" sz="2000" b="1" dirty="0"/>
              <a:t>Definition:</a:t>
            </a:r>
            <a:r>
              <a:rPr lang="en-US" sz="2000" dirty="0"/>
              <a:t> Occurs when a sequence of operations must be executed together atomically, but a thread   interleaves in between causing inconsistent state.</a:t>
            </a:r>
          </a:p>
          <a:p>
            <a:pPr algn="just">
              <a:lnSpc>
                <a:spcPct val="150000"/>
              </a:lnSpc>
            </a:pPr>
            <a:r>
              <a:rPr lang="en-US" sz="2000" b="1" dirty="0"/>
              <a:t>Example:</a:t>
            </a:r>
            <a:r>
              <a:rPr lang="en-US" sz="2000" dirty="0"/>
              <a:t> Checking-then-modifying a shared variable without locks.</a:t>
            </a:r>
          </a:p>
          <a:p>
            <a:pPr algn="just">
              <a:lnSpc>
                <a:spcPct val="150000"/>
              </a:lnSpc>
            </a:pPr>
            <a:r>
              <a:rPr lang="en-US" sz="2000" b="1" dirty="0"/>
              <a:t>Mitigation:</a:t>
            </a:r>
            <a:r>
              <a:rPr lang="en-US" sz="2000" dirty="0"/>
              <a:t> Encapsulate operations in atomic blocks, transactions, or locks.</a:t>
            </a:r>
          </a:p>
          <a:p>
            <a:pPr algn="just">
              <a:lnSpc>
                <a:spcPct val="150000"/>
              </a:lnSpc>
            </a:pPr>
            <a:r>
              <a:rPr lang="en-US" sz="2000" b="1" dirty="0"/>
              <a:t>6. Memory Consistency Errors</a:t>
            </a:r>
          </a:p>
          <a:p>
            <a:pPr marL="342900" indent="-342900" algn="just">
              <a:lnSpc>
                <a:spcPct val="150000"/>
              </a:lnSpc>
              <a:buFont typeface="Wingdings" panose="05000000000000000000" pitchFamily="2" charset="2"/>
              <a:buChar char="Ø"/>
            </a:pPr>
            <a:r>
              <a:rPr lang="en-US" sz="2000" b="1" dirty="0"/>
              <a:t>Definition:</a:t>
            </a:r>
            <a:r>
              <a:rPr lang="en-US" sz="2000" dirty="0"/>
              <a:t> When threads have inconsistent views of memory due to caches or delayed visibility of       writes.</a:t>
            </a:r>
          </a:p>
          <a:p>
            <a:pPr algn="just">
              <a:lnSpc>
                <a:spcPct val="150000"/>
              </a:lnSpc>
            </a:pPr>
            <a:r>
              <a:rPr lang="en-US" sz="2000" b="1" dirty="0"/>
              <a:t>Example:</a:t>
            </a:r>
            <a:r>
              <a:rPr lang="en-US" sz="2000" dirty="0"/>
              <a:t> Thread A writes a value, but thread B reads an old cached value.</a:t>
            </a:r>
          </a:p>
          <a:p>
            <a:pPr>
              <a:lnSpc>
                <a:spcPct val="150000"/>
              </a:lnSpc>
            </a:pPr>
            <a:r>
              <a:rPr lang="en-US" sz="2000" b="1" dirty="0" err="1"/>
              <a:t>Mitigation:</a:t>
            </a:r>
            <a:r>
              <a:rPr lang="en-US" sz="2000" dirty="0" err="1"/>
              <a:t>Use</a:t>
            </a:r>
            <a:r>
              <a:rPr lang="en-US" sz="2000" dirty="0"/>
              <a:t> memory barriers, volatile variables, or concurrency aware constructs from modern libraries.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1477308" y="6537960"/>
            <a:ext cx="548640" cy="274320"/>
          </a:xfrm>
          <a:prstGeom prst="rect">
            <a:avLst/>
          </a:prstGeom>
          <a:noFill/>
          <a:ln/>
        </p:spPr>
        <p:txBody>
          <a:bodyPr wrap="square" rtlCol="0" anchor="ctr"/>
          <a:lstStyle/>
          <a:p>
            <a:pPr algn="r"/>
            <a:r>
              <a:rPr lang="en-US" sz="1000" dirty="0">
                <a:solidFill>
                  <a:srgbClr val="5B6B85"/>
                </a:solidFill>
                <a:latin typeface="Calibri" pitchFamily="34" charset="0"/>
                <a:ea typeface="Calibri" pitchFamily="34" charset="-122"/>
                <a:cs typeface="Calibri" pitchFamily="34" charset="-120"/>
              </a:rPr>
              <a:t>9</a:t>
            </a:r>
            <a:endParaRPr lang="en-US" sz="1000" dirty="0"/>
          </a:p>
        </p:txBody>
      </p:sp>
      <p:sp>
        <p:nvSpPr>
          <p:cNvPr id="3" name="Text 1"/>
          <p:cNvSpPr/>
          <p:nvPr/>
        </p:nvSpPr>
        <p:spPr>
          <a:xfrm>
            <a:off x="458788" y="6537960"/>
            <a:ext cx="5486400" cy="274320"/>
          </a:xfrm>
          <a:prstGeom prst="rect">
            <a:avLst/>
          </a:prstGeom>
          <a:noFill/>
          <a:ln/>
        </p:spPr>
        <p:txBody>
          <a:bodyPr wrap="square" rtlCol="0" anchor="ctr"/>
          <a:lstStyle/>
          <a:p>
            <a:r>
              <a:rPr lang="en-US" sz="900" i="1" dirty="0">
                <a:solidFill>
                  <a:srgbClr val="5B6B85"/>
                </a:solidFill>
                <a:latin typeface="Calibri" pitchFamily="34" charset="0"/>
                <a:ea typeface="Calibri" pitchFamily="34" charset="-122"/>
                <a:cs typeface="Calibri" pitchFamily="34" charset="-120"/>
              </a:rPr>
              <a:t>CO-1 : OS as a Service Layer</a:t>
            </a:r>
            <a:endParaRPr lang="en-US" sz="900" dirty="0"/>
          </a:p>
        </p:txBody>
      </p:sp>
      <p:sp>
        <p:nvSpPr>
          <p:cNvPr id="4" name="Text 2"/>
          <p:cNvSpPr/>
          <p:nvPr/>
        </p:nvSpPr>
        <p:spPr>
          <a:xfrm>
            <a:off x="458788" y="320040"/>
            <a:ext cx="11247120" cy="777240"/>
          </a:xfrm>
          <a:prstGeom prst="rect">
            <a:avLst/>
          </a:prstGeom>
          <a:noFill/>
          <a:ln/>
        </p:spPr>
        <p:txBody>
          <a:bodyPr wrap="square" rtlCol="0" anchor="ctr"/>
          <a:lstStyle/>
          <a:p>
            <a:endParaRPr lang="en-US" sz="2800" dirty="0">
              <a:solidFill>
                <a:srgbClr val="FF0000"/>
              </a:solidFill>
            </a:endParaRPr>
          </a:p>
        </p:txBody>
      </p:sp>
      <p:sp>
        <p:nvSpPr>
          <p:cNvPr id="5" name="Text 3"/>
          <p:cNvSpPr/>
          <p:nvPr/>
        </p:nvSpPr>
        <p:spPr>
          <a:xfrm>
            <a:off x="458788" y="1234440"/>
            <a:ext cx="6675120" cy="3931920"/>
          </a:xfrm>
          <a:prstGeom prst="rect">
            <a:avLst/>
          </a:prstGeom>
          <a:noFill/>
          <a:ln/>
        </p:spPr>
        <p:txBody>
          <a:bodyPr wrap="square" rtlCol="0" anchor="t"/>
          <a:lstStyle/>
          <a:p>
            <a:pPr marL="177800" indent="-177800">
              <a:spcAft>
                <a:spcPts val="1000"/>
              </a:spcAft>
              <a:buSzPct val="100000"/>
              <a:buChar char="•"/>
            </a:pPr>
            <a:endParaRPr lang="en-US" sz="2000" dirty="0">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2542DAD2-B2F6-7E60-3BE3-309118DC6E7B}"/>
              </a:ext>
            </a:extLst>
          </p:cNvPr>
          <p:cNvSpPr txBox="1"/>
          <p:nvPr/>
        </p:nvSpPr>
        <p:spPr>
          <a:xfrm>
            <a:off x="923731" y="830424"/>
            <a:ext cx="10403632" cy="3905236"/>
          </a:xfrm>
          <a:prstGeom prst="rect">
            <a:avLst/>
          </a:prstGeom>
          <a:noFill/>
        </p:spPr>
        <p:txBody>
          <a:bodyPr wrap="square">
            <a:spAutoFit/>
          </a:bodyPr>
          <a:lstStyle/>
          <a:p>
            <a:pPr algn="just">
              <a:lnSpc>
                <a:spcPct val="150000"/>
              </a:lnSpc>
            </a:pPr>
            <a:r>
              <a:rPr lang="en-US" sz="2400" b="0" i="0" dirty="0">
                <a:effectLst/>
              </a:rPr>
              <a:t>Concurrency hazards are common in multithreaded and parallel systems. </a:t>
            </a:r>
          </a:p>
          <a:p>
            <a:pPr algn="just">
              <a:lnSpc>
                <a:spcPct val="150000"/>
              </a:lnSpc>
            </a:pPr>
            <a:r>
              <a:rPr lang="en-US" sz="2400" b="0" i="0" dirty="0">
                <a:effectLst/>
              </a:rPr>
              <a:t>The primary tools to avoid them are </a:t>
            </a:r>
            <a:r>
              <a:rPr lang="en-US" sz="2400" b="1" i="0" dirty="0">
                <a:effectLst/>
              </a:rPr>
              <a:t>locks, semaphores, atomic operations, and careful design of critical sections and communication protocols</a:t>
            </a:r>
            <a:r>
              <a:rPr lang="en-US" sz="2400" b="0" i="0" dirty="0">
                <a:effectLst/>
              </a:rPr>
              <a:t>. </a:t>
            </a:r>
          </a:p>
          <a:p>
            <a:pPr algn="just">
              <a:lnSpc>
                <a:spcPct val="150000"/>
              </a:lnSpc>
            </a:pPr>
            <a:r>
              <a:rPr lang="en-US" sz="2400" dirty="0"/>
              <a:t>A </a:t>
            </a:r>
            <a:r>
              <a:rPr lang="en-US" sz="2400" b="0" i="0" dirty="0">
                <a:effectLst/>
              </a:rPr>
              <a:t>strong understanding of these hazards helps in writing safe, efficient, and </a:t>
            </a:r>
          </a:p>
          <a:p>
            <a:pPr algn="just">
              <a:lnSpc>
                <a:spcPct val="150000"/>
              </a:lnSpc>
            </a:pPr>
            <a:r>
              <a:rPr lang="en-US" sz="2400" b="0" i="0" dirty="0">
                <a:effectLst/>
              </a:rPr>
              <a:t>maintainable concurrent programs. Proper testing with </a:t>
            </a:r>
            <a:r>
              <a:rPr lang="en-US" sz="2400" b="1" i="0" dirty="0">
                <a:effectLst/>
              </a:rPr>
              <a:t>race condition               detectors</a:t>
            </a:r>
            <a:r>
              <a:rPr lang="en-US" sz="2400" b="0" i="0" dirty="0">
                <a:effectLst/>
              </a:rPr>
              <a:t> and techniques like </a:t>
            </a:r>
            <a:r>
              <a:rPr lang="en-US" sz="2400" b="1" i="0" dirty="0">
                <a:effectLst/>
              </a:rPr>
              <a:t>thread sanitizers</a:t>
            </a:r>
            <a:r>
              <a:rPr lang="en-US" sz="2400" b="0" i="0" dirty="0">
                <a:effectLst/>
              </a:rPr>
              <a:t> is recommended to identify potential issues early.</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6954EDD-9D1A-FEA4-4411-8F26D42228FE}"/>
              </a:ext>
            </a:extLst>
          </p:cNvPr>
          <p:cNvSpPr>
            <a:spLocks noGrp="1"/>
          </p:cNvSpPr>
          <p:nvPr>
            <p:ph type="sldNum" sz="quarter" idx="12"/>
          </p:nvPr>
        </p:nvSpPr>
        <p:spPr/>
        <p:txBody>
          <a:bodyPr/>
          <a:lstStyle/>
          <a:p>
            <a:fld id="{CBABCCC1-BF11-4F37-963E-1BCD5B23FD72}" type="slidenum">
              <a:rPr lang="en-IN" smtClean="0"/>
              <a:pPr/>
              <a:t>33</a:t>
            </a:fld>
            <a:endParaRPr lang="en-IN"/>
          </a:p>
        </p:txBody>
      </p:sp>
      <p:pic>
        <p:nvPicPr>
          <p:cNvPr id="6" name="Picture 5">
            <a:extLst>
              <a:ext uri="{FF2B5EF4-FFF2-40B4-BE49-F238E27FC236}">
                <a16:creationId xmlns:a16="http://schemas.microsoft.com/office/drawing/2014/main" id="{0E54A410-0423-5888-155D-096609AF6016}"/>
              </a:ext>
            </a:extLst>
          </p:cNvPr>
          <p:cNvPicPr>
            <a:picLocks noChangeAspect="1"/>
          </p:cNvPicPr>
          <p:nvPr/>
        </p:nvPicPr>
        <p:blipFill>
          <a:blip r:embed="rId2" cstate="print"/>
          <a:stretch>
            <a:fillRect/>
          </a:stretch>
        </p:blipFill>
        <p:spPr>
          <a:xfrm>
            <a:off x="0" y="0"/>
            <a:ext cx="1567654" cy="624416"/>
          </a:xfrm>
          <a:prstGeom prst="rect">
            <a:avLst/>
          </a:prstGeom>
        </p:spPr>
      </p:pic>
      <p:sp>
        <p:nvSpPr>
          <p:cNvPr id="5" name="TextBox 4">
            <a:extLst>
              <a:ext uri="{FF2B5EF4-FFF2-40B4-BE49-F238E27FC236}">
                <a16:creationId xmlns:a16="http://schemas.microsoft.com/office/drawing/2014/main" id="{3A9F6EE1-23DE-7B4E-9CE7-3B5F9288B762}"/>
              </a:ext>
            </a:extLst>
          </p:cNvPr>
          <p:cNvSpPr txBox="1"/>
          <p:nvPr/>
        </p:nvSpPr>
        <p:spPr>
          <a:xfrm>
            <a:off x="615819" y="830424"/>
            <a:ext cx="11010123" cy="5078313"/>
          </a:xfrm>
          <a:prstGeom prst="rect">
            <a:avLst/>
          </a:prstGeom>
          <a:noFill/>
        </p:spPr>
        <p:txBody>
          <a:bodyPr wrap="square">
            <a:spAutoFit/>
          </a:bodyPr>
          <a:lstStyle/>
          <a:p>
            <a:pPr algn="just"/>
            <a:r>
              <a:rPr lang="en-US" b="1" dirty="0"/>
              <a:t>Advanced Synchronization Concepts (Operating Systems)</a:t>
            </a:r>
          </a:p>
          <a:p>
            <a:pPr algn="just">
              <a:buNone/>
            </a:pPr>
            <a:endParaRPr lang="en-US" dirty="0"/>
          </a:p>
          <a:p>
            <a:pPr algn="just">
              <a:lnSpc>
                <a:spcPct val="150000"/>
              </a:lnSpc>
              <a:buNone/>
            </a:pPr>
            <a:r>
              <a:rPr lang="en-US" dirty="0"/>
              <a:t>Advanced synchronization concepts are techniques used to coordinate multiple processes or threads accessing shared resources while ensuring correctness, efficiency, and fairness. These concepts help prevent race conditions, deadlocks, starvation, and inconsistent data.</a:t>
            </a:r>
          </a:p>
          <a:p>
            <a:pPr>
              <a:lnSpc>
                <a:spcPct val="150000"/>
              </a:lnSpc>
            </a:pPr>
            <a:r>
              <a:rPr lang="en-US" b="1" dirty="0"/>
              <a:t>1. Monitor</a:t>
            </a:r>
          </a:p>
          <a:p>
            <a:pPr>
              <a:lnSpc>
                <a:spcPct val="150000"/>
              </a:lnSpc>
            </a:pPr>
            <a:r>
              <a:rPr lang="en-US" dirty="0"/>
              <a:t>A </a:t>
            </a:r>
            <a:r>
              <a:rPr lang="en-US" b="1" dirty="0"/>
              <a:t>Monitor</a:t>
            </a:r>
            <a:r>
              <a:rPr lang="en-US" dirty="0"/>
              <a:t> is a high-level synchronization construct that encapsulates shared data and the operations performed on it. Only one thread can execute inside a monitor at any given time.</a:t>
            </a:r>
          </a:p>
          <a:p>
            <a:pPr>
              <a:lnSpc>
                <a:spcPct val="150000"/>
              </a:lnSpc>
            </a:pPr>
            <a:r>
              <a:rPr lang="en-US" b="1" dirty="0"/>
              <a:t>Features</a:t>
            </a:r>
          </a:p>
          <a:p>
            <a:pPr>
              <a:lnSpc>
                <a:spcPct val="150000"/>
              </a:lnSpc>
            </a:pPr>
            <a:r>
              <a:rPr lang="en-US" dirty="0"/>
              <a:t>Provides automatic mutual exclusion. </a:t>
            </a:r>
          </a:p>
          <a:p>
            <a:pPr>
              <a:lnSpc>
                <a:spcPct val="150000"/>
              </a:lnSpc>
            </a:pPr>
            <a:r>
              <a:rPr lang="en-US" dirty="0"/>
              <a:t>Uses condition variables for thread synchronization. </a:t>
            </a:r>
          </a:p>
          <a:p>
            <a:pPr>
              <a:lnSpc>
                <a:spcPct val="150000"/>
              </a:lnSpc>
            </a:pPr>
            <a:r>
              <a:rPr lang="en-US" dirty="0"/>
              <a:t>Simpler and safer than using semaphores directly. </a:t>
            </a:r>
          </a:p>
          <a:p>
            <a:pPr algn="just">
              <a:buNone/>
            </a:pPr>
            <a:endParaRPr lang="en-US" dirty="0"/>
          </a:p>
        </p:txBody>
      </p:sp>
    </p:spTree>
    <p:extLst>
      <p:ext uri="{BB962C8B-B14F-4D97-AF65-F5344CB8AC3E}">
        <p14:creationId xmlns:p14="http://schemas.microsoft.com/office/powerpoint/2010/main" val="35124166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10639E-D9B5-4A1F-4991-9DBB761F0B5C}"/>
              </a:ext>
            </a:extLst>
          </p:cNvPr>
          <p:cNvSpPr>
            <a:spLocks noGrp="1"/>
          </p:cNvSpPr>
          <p:nvPr>
            <p:ph type="sldNum" sz="quarter" idx="12"/>
          </p:nvPr>
        </p:nvSpPr>
        <p:spPr/>
        <p:txBody>
          <a:bodyPr/>
          <a:lstStyle/>
          <a:p>
            <a:fld id="{CBABCCC1-BF11-4F37-963E-1BCD5B23FD72}" type="slidenum">
              <a:rPr lang="en-IN" smtClean="0"/>
              <a:pPr/>
              <a:t>34</a:t>
            </a:fld>
            <a:endParaRPr lang="en-IN"/>
          </a:p>
        </p:txBody>
      </p:sp>
      <p:sp>
        <p:nvSpPr>
          <p:cNvPr id="6" name="TextBox 5">
            <a:extLst>
              <a:ext uri="{FF2B5EF4-FFF2-40B4-BE49-F238E27FC236}">
                <a16:creationId xmlns:a16="http://schemas.microsoft.com/office/drawing/2014/main" id="{7E3C26AF-EF09-0CAC-B941-48A083769649}"/>
              </a:ext>
            </a:extLst>
          </p:cNvPr>
          <p:cNvSpPr txBox="1"/>
          <p:nvPr/>
        </p:nvSpPr>
        <p:spPr>
          <a:xfrm>
            <a:off x="1156996" y="923732"/>
            <a:ext cx="3900196" cy="3693319"/>
          </a:xfrm>
          <a:prstGeom prst="rect">
            <a:avLst/>
          </a:prstGeom>
          <a:noFill/>
        </p:spPr>
        <p:txBody>
          <a:bodyPr wrap="square">
            <a:spAutoFit/>
          </a:bodyPr>
          <a:lstStyle/>
          <a:p>
            <a:r>
              <a:rPr lang="en-US" b="1" dirty="0"/>
              <a:t>Example: </a:t>
            </a:r>
          </a:p>
          <a:p>
            <a:endParaRPr lang="en-US" dirty="0"/>
          </a:p>
          <a:p>
            <a:r>
              <a:rPr lang="en-US" dirty="0"/>
              <a:t>monitor Buffer {</a:t>
            </a:r>
          </a:p>
          <a:p>
            <a:r>
              <a:rPr lang="en-US" dirty="0"/>
              <a:t>    int data;</a:t>
            </a:r>
          </a:p>
          <a:p>
            <a:endParaRPr lang="en-US" dirty="0"/>
          </a:p>
          <a:p>
            <a:r>
              <a:rPr lang="en-US" dirty="0"/>
              <a:t>    procedure produce(int item) {</a:t>
            </a:r>
          </a:p>
          <a:p>
            <a:r>
              <a:rPr lang="en-US" dirty="0"/>
              <a:t>        data = item;</a:t>
            </a:r>
          </a:p>
          <a:p>
            <a:r>
              <a:rPr lang="en-US" dirty="0"/>
              <a:t>    }</a:t>
            </a:r>
          </a:p>
          <a:p>
            <a:endParaRPr lang="en-US" dirty="0"/>
          </a:p>
          <a:p>
            <a:r>
              <a:rPr lang="en-US" dirty="0"/>
              <a:t>    procedure consume() {</a:t>
            </a:r>
          </a:p>
          <a:p>
            <a:r>
              <a:rPr lang="en-US" dirty="0"/>
              <a:t>        print(data);</a:t>
            </a:r>
          </a:p>
          <a:p>
            <a:r>
              <a:rPr lang="en-US" dirty="0"/>
              <a:t>    }</a:t>
            </a:r>
          </a:p>
          <a:p>
            <a:r>
              <a:rPr lang="en-US" dirty="0"/>
              <a:t>}</a:t>
            </a:r>
          </a:p>
        </p:txBody>
      </p:sp>
      <p:sp>
        <p:nvSpPr>
          <p:cNvPr id="8" name="TextBox 7">
            <a:extLst>
              <a:ext uri="{FF2B5EF4-FFF2-40B4-BE49-F238E27FC236}">
                <a16:creationId xmlns:a16="http://schemas.microsoft.com/office/drawing/2014/main" id="{BCDC244C-753F-09BA-239C-9431477C34E3}"/>
              </a:ext>
            </a:extLst>
          </p:cNvPr>
          <p:cNvSpPr txBox="1"/>
          <p:nvPr/>
        </p:nvSpPr>
        <p:spPr>
          <a:xfrm>
            <a:off x="5690489" y="923732"/>
            <a:ext cx="3985355" cy="1844031"/>
          </a:xfrm>
          <a:prstGeom prst="rect">
            <a:avLst/>
          </a:prstGeom>
          <a:noFill/>
        </p:spPr>
        <p:txBody>
          <a:bodyPr wrap="square">
            <a:spAutoFit/>
          </a:bodyPr>
          <a:lstStyle/>
          <a:p>
            <a:pPr>
              <a:buNone/>
            </a:pPr>
            <a:r>
              <a:rPr lang="en-US" b="1" dirty="0"/>
              <a:t>Advantages</a:t>
            </a:r>
          </a:p>
          <a:p>
            <a:pPr>
              <a:buNone/>
            </a:pPr>
            <a:endParaRPr lang="en-US" b="1" dirty="0"/>
          </a:p>
          <a:p>
            <a:pPr>
              <a:lnSpc>
                <a:spcPct val="150000"/>
              </a:lnSpc>
              <a:buFont typeface="Arial" panose="020B0604020202020204" pitchFamily="34" charset="0"/>
              <a:buChar char="•"/>
            </a:pPr>
            <a:r>
              <a:rPr lang="en-US" dirty="0"/>
              <a:t>Easy to program </a:t>
            </a:r>
          </a:p>
          <a:p>
            <a:pPr>
              <a:lnSpc>
                <a:spcPct val="150000"/>
              </a:lnSpc>
              <a:buFont typeface="Arial" panose="020B0604020202020204" pitchFamily="34" charset="0"/>
              <a:buChar char="•"/>
            </a:pPr>
            <a:r>
              <a:rPr lang="en-US" dirty="0"/>
              <a:t>Reduces synchronization errors </a:t>
            </a:r>
          </a:p>
          <a:p>
            <a:pPr>
              <a:lnSpc>
                <a:spcPct val="150000"/>
              </a:lnSpc>
              <a:buFont typeface="Arial" panose="020B0604020202020204" pitchFamily="34" charset="0"/>
              <a:buChar char="•"/>
            </a:pPr>
            <a:r>
              <a:rPr lang="en-US" dirty="0"/>
              <a:t>Supports condition variables</a:t>
            </a:r>
          </a:p>
        </p:txBody>
      </p:sp>
    </p:spTree>
    <p:extLst>
      <p:ext uri="{BB962C8B-B14F-4D97-AF65-F5344CB8AC3E}">
        <p14:creationId xmlns:p14="http://schemas.microsoft.com/office/powerpoint/2010/main" val="33319418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9821E2B-7710-8213-8C12-0931249B389A}"/>
              </a:ext>
            </a:extLst>
          </p:cNvPr>
          <p:cNvSpPr>
            <a:spLocks noGrp="1"/>
          </p:cNvSpPr>
          <p:nvPr>
            <p:ph type="sldNum" sz="quarter" idx="12"/>
          </p:nvPr>
        </p:nvSpPr>
        <p:spPr/>
        <p:txBody>
          <a:bodyPr/>
          <a:lstStyle/>
          <a:p>
            <a:fld id="{CBABCCC1-BF11-4F37-963E-1BCD5B23FD72}" type="slidenum">
              <a:rPr lang="en-IN" smtClean="0"/>
              <a:pPr/>
              <a:t>35</a:t>
            </a:fld>
            <a:endParaRPr lang="en-IN"/>
          </a:p>
        </p:txBody>
      </p:sp>
      <p:sp>
        <p:nvSpPr>
          <p:cNvPr id="4" name="TextBox 3">
            <a:extLst>
              <a:ext uri="{FF2B5EF4-FFF2-40B4-BE49-F238E27FC236}">
                <a16:creationId xmlns:a16="http://schemas.microsoft.com/office/drawing/2014/main" id="{EF984EEA-2A9F-BD15-3880-B49649938F02}"/>
              </a:ext>
            </a:extLst>
          </p:cNvPr>
          <p:cNvSpPr txBox="1"/>
          <p:nvPr/>
        </p:nvSpPr>
        <p:spPr>
          <a:xfrm>
            <a:off x="849086" y="1045030"/>
            <a:ext cx="7567126" cy="5029518"/>
          </a:xfrm>
          <a:prstGeom prst="rect">
            <a:avLst/>
          </a:prstGeom>
          <a:noFill/>
        </p:spPr>
        <p:txBody>
          <a:bodyPr wrap="square">
            <a:spAutoFit/>
          </a:bodyPr>
          <a:lstStyle/>
          <a:p>
            <a:pPr>
              <a:lnSpc>
                <a:spcPct val="150000"/>
              </a:lnSpc>
              <a:buNone/>
            </a:pPr>
            <a:r>
              <a:rPr lang="en-US" b="1" dirty="0"/>
              <a:t>2. Readers-Writers Problem</a:t>
            </a:r>
          </a:p>
          <a:p>
            <a:pPr>
              <a:lnSpc>
                <a:spcPct val="150000"/>
              </a:lnSpc>
              <a:buNone/>
            </a:pPr>
            <a:r>
              <a:rPr lang="en-US" dirty="0"/>
              <a:t>The Readers-Writers problem deals with concurrent access to shared data.</a:t>
            </a:r>
          </a:p>
          <a:p>
            <a:pPr>
              <a:lnSpc>
                <a:spcPct val="150000"/>
              </a:lnSpc>
              <a:buFont typeface="Arial" panose="020B0604020202020204" pitchFamily="34" charset="0"/>
              <a:buChar char="•"/>
            </a:pPr>
            <a:r>
              <a:rPr lang="en-US" dirty="0"/>
              <a:t>Multiple readers can read simultaneously. </a:t>
            </a:r>
          </a:p>
          <a:p>
            <a:pPr>
              <a:lnSpc>
                <a:spcPct val="150000"/>
              </a:lnSpc>
              <a:buFont typeface="Arial" panose="020B0604020202020204" pitchFamily="34" charset="0"/>
              <a:buChar char="•"/>
            </a:pPr>
            <a:r>
              <a:rPr lang="en-US" dirty="0"/>
              <a:t>Only one writer can write at a time. </a:t>
            </a:r>
          </a:p>
          <a:p>
            <a:pPr>
              <a:lnSpc>
                <a:spcPct val="150000"/>
              </a:lnSpc>
              <a:buFont typeface="Arial" panose="020B0604020202020204" pitchFamily="34" charset="0"/>
              <a:buChar char="•"/>
            </a:pPr>
            <a:r>
              <a:rPr lang="en-US" dirty="0"/>
              <a:t>Writers require exclusive access. </a:t>
            </a:r>
          </a:p>
          <a:p>
            <a:pPr>
              <a:lnSpc>
                <a:spcPct val="150000"/>
              </a:lnSpc>
              <a:buNone/>
            </a:pPr>
            <a:r>
              <a:rPr lang="en-US" b="1" dirty="0"/>
              <a:t>Types</a:t>
            </a:r>
          </a:p>
          <a:p>
            <a:pPr>
              <a:lnSpc>
                <a:spcPct val="150000"/>
              </a:lnSpc>
              <a:buNone/>
            </a:pPr>
            <a:r>
              <a:rPr lang="en-US" b="1" dirty="0"/>
              <a:t>Reader Preference</a:t>
            </a:r>
          </a:p>
          <a:p>
            <a:pPr>
              <a:lnSpc>
                <a:spcPct val="150000"/>
              </a:lnSpc>
              <a:buFont typeface="Arial" panose="020B0604020202020204" pitchFamily="34" charset="0"/>
              <a:buChar char="•"/>
            </a:pPr>
            <a:r>
              <a:rPr lang="en-US" dirty="0"/>
              <a:t>Readers are never blocked unless a writer is already writing.      </a:t>
            </a:r>
          </a:p>
          <a:p>
            <a:pPr>
              <a:lnSpc>
                <a:spcPct val="150000"/>
              </a:lnSpc>
              <a:buFont typeface="Arial" panose="020B0604020202020204" pitchFamily="34" charset="0"/>
              <a:buChar char="•"/>
            </a:pPr>
            <a:r>
              <a:rPr lang="en-US" dirty="0"/>
              <a:t>Writers may starve. </a:t>
            </a:r>
          </a:p>
          <a:p>
            <a:pPr>
              <a:lnSpc>
                <a:spcPct val="150000"/>
              </a:lnSpc>
              <a:buNone/>
            </a:pPr>
            <a:r>
              <a:rPr lang="en-US" b="1" dirty="0"/>
              <a:t>Writer Preference</a:t>
            </a:r>
          </a:p>
          <a:p>
            <a:pPr>
              <a:lnSpc>
                <a:spcPct val="150000"/>
              </a:lnSpc>
              <a:buFont typeface="Arial" panose="020B0604020202020204" pitchFamily="34" charset="0"/>
              <a:buChar char="•"/>
            </a:pPr>
            <a:r>
              <a:rPr lang="en-US" dirty="0"/>
              <a:t>Writers get priority. </a:t>
            </a:r>
          </a:p>
          <a:p>
            <a:pPr>
              <a:lnSpc>
                <a:spcPct val="150000"/>
              </a:lnSpc>
              <a:buFont typeface="Arial" panose="020B0604020202020204" pitchFamily="34" charset="0"/>
              <a:buChar char="•"/>
            </a:pPr>
            <a:r>
              <a:rPr lang="en-US" dirty="0"/>
              <a:t>Readers may wait. </a:t>
            </a:r>
          </a:p>
        </p:txBody>
      </p:sp>
      <p:sp>
        <p:nvSpPr>
          <p:cNvPr id="5" name="TextBox 4">
            <a:extLst>
              <a:ext uri="{FF2B5EF4-FFF2-40B4-BE49-F238E27FC236}">
                <a16:creationId xmlns:a16="http://schemas.microsoft.com/office/drawing/2014/main" id="{400E7D82-B786-0B05-13EF-8CF2C1F85F38}"/>
              </a:ext>
            </a:extLst>
          </p:cNvPr>
          <p:cNvSpPr txBox="1"/>
          <p:nvPr/>
        </p:nvSpPr>
        <p:spPr>
          <a:xfrm>
            <a:off x="8173615" y="1268963"/>
            <a:ext cx="3247053" cy="1290033"/>
          </a:xfrm>
          <a:prstGeom prst="rect">
            <a:avLst/>
          </a:prstGeom>
          <a:noFill/>
        </p:spPr>
        <p:txBody>
          <a:bodyPr wrap="square">
            <a:spAutoFit/>
          </a:bodyPr>
          <a:lstStyle/>
          <a:p>
            <a:pPr>
              <a:lnSpc>
                <a:spcPct val="150000"/>
              </a:lnSpc>
              <a:buNone/>
            </a:pPr>
            <a:r>
              <a:rPr lang="en-US" sz="1800" b="1" dirty="0"/>
              <a:t>Fair Solution</a:t>
            </a:r>
          </a:p>
          <a:p>
            <a:pPr>
              <a:lnSpc>
                <a:spcPct val="150000"/>
              </a:lnSpc>
              <a:buFont typeface="Arial" panose="020B0604020202020204" pitchFamily="34" charset="0"/>
              <a:buChar char="•"/>
            </a:pPr>
            <a:r>
              <a:rPr lang="en-US" sz="1800" dirty="0"/>
              <a:t>Both readers and writers are served in FIFO order.</a:t>
            </a:r>
          </a:p>
        </p:txBody>
      </p:sp>
    </p:spTree>
    <p:extLst>
      <p:ext uri="{BB962C8B-B14F-4D97-AF65-F5344CB8AC3E}">
        <p14:creationId xmlns:p14="http://schemas.microsoft.com/office/powerpoint/2010/main" val="22870440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843A4A8-3B3B-AB90-58E5-B1488E5B38BD}"/>
              </a:ext>
            </a:extLst>
          </p:cNvPr>
          <p:cNvSpPr>
            <a:spLocks noGrp="1"/>
          </p:cNvSpPr>
          <p:nvPr>
            <p:ph type="sldNum" sz="quarter" idx="12"/>
          </p:nvPr>
        </p:nvSpPr>
        <p:spPr/>
        <p:txBody>
          <a:bodyPr/>
          <a:lstStyle/>
          <a:p>
            <a:fld id="{CBABCCC1-BF11-4F37-963E-1BCD5B23FD72}" type="slidenum">
              <a:rPr lang="en-IN" smtClean="0"/>
              <a:pPr/>
              <a:t>36</a:t>
            </a:fld>
            <a:endParaRPr lang="en-IN"/>
          </a:p>
        </p:txBody>
      </p:sp>
      <p:sp>
        <p:nvSpPr>
          <p:cNvPr id="5" name="TextBox 4">
            <a:extLst>
              <a:ext uri="{FF2B5EF4-FFF2-40B4-BE49-F238E27FC236}">
                <a16:creationId xmlns:a16="http://schemas.microsoft.com/office/drawing/2014/main" id="{5C4AFD43-1137-7C96-DBA7-175836F02F32}"/>
              </a:ext>
            </a:extLst>
          </p:cNvPr>
          <p:cNvSpPr txBox="1"/>
          <p:nvPr/>
        </p:nvSpPr>
        <p:spPr>
          <a:xfrm>
            <a:off x="1239788" y="523918"/>
            <a:ext cx="9583722" cy="5478423"/>
          </a:xfrm>
          <a:prstGeom prst="rect">
            <a:avLst/>
          </a:prstGeom>
          <a:noFill/>
        </p:spPr>
        <p:txBody>
          <a:bodyPr wrap="square">
            <a:spAutoFit/>
          </a:bodyPr>
          <a:lstStyle/>
          <a:p>
            <a:r>
              <a:rPr lang="en-US" sz="1400" b="1" dirty="0"/>
              <a:t>Semaphore Solution: </a:t>
            </a:r>
          </a:p>
          <a:p>
            <a:endParaRPr lang="en-US" sz="1400" b="1" dirty="0"/>
          </a:p>
          <a:p>
            <a:r>
              <a:rPr lang="en-US" sz="1400" dirty="0"/>
              <a:t>mutex = 1</a:t>
            </a:r>
          </a:p>
          <a:p>
            <a:r>
              <a:rPr lang="en-US" sz="1400" dirty="0" err="1"/>
              <a:t>rw_mutex</a:t>
            </a:r>
            <a:r>
              <a:rPr lang="en-US" sz="1400" dirty="0"/>
              <a:t> = 1</a:t>
            </a:r>
          </a:p>
          <a:p>
            <a:r>
              <a:rPr lang="en-US" sz="1400" dirty="0" err="1"/>
              <a:t>read_count</a:t>
            </a:r>
            <a:r>
              <a:rPr lang="en-US" sz="1400" dirty="0"/>
              <a:t> = 0</a:t>
            </a:r>
          </a:p>
          <a:p>
            <a:endParaRPr lang="en-US" sz="1400" dirty="0"/>
          </a:p>
          <a:p>
            <a:r>
              <a:rPr lang="en-US" sz="1400" dirty="0"/>
              <a:t>Reader:</a:t>
            </a:r>
          </a:p>
          <a:p>
            <a:r>
              <a:rPr lang="en-US" sz="1400" dirty="0"/>
              <a:t>wait(mutex)</a:t>
            </a:r>
          </a:p>
          <a:p>
            <a:r>
              <a:rPr lang="en-US" sz="1400" dirty="0" err="1"/>
              <a:t>read_count</a:t>
            </a:r>
            <a:r>
              <a:rPr lang="en-US" sz="1400" dirty="0"/>
              <a:t>++</a:t>
            </a:r>
          </a:p>
          <a:p>
            <a:r>
              <a:rPr lang="en-US" sz="1400" dirty="0"/>
              <a:t>if(</a:t>
            </a:r>
            <a:r>
              <a:rPr lang="en-US" sz="1400" dirty="0" err="1"/>
              <a:t>read_count</a:t>
            </a:r>
            <a:r>
              <a:rPr lang="en-US" sz="1400" dirty="0"/>
              <a:t>==1)</a:t>
            </a:r>
          </a:p>
          <a:p>
            <a:r>
              <a:rPr lang="en-US" sz="1400" dirty="0"/>
              <a:t>    wait(</a:t>
            </a:r>
            <a:r>
              <a:rPr lang="en-US" sz="1400" dirty="0" err="1"/>
              <a:t>rw_mutex</a:t>
            </a:r>
            <a:r>
              <a:rPr lang="en-US" sz="1400" dirty="0"/>
              <a:t>)</a:t>
            </a:r>
          </a:p>
          <a:p>
            <a:r>
              <a:rPr lang="en-US" sz="1400" dirty="0"/>
              <a:t>signal(mutex)</a:t>
            </a:r>
          </a:p>
          <a:p>
            <a:endParaRPr lang="en-US" sz="1400" dirty="0"/>
          </a:p>
          <a:p>
            <a:r>
              <a:rPr lang="en-US" sz="1400" dirty="0"/>
              <a:t>Read Data</a:t>
            </a:r>
          </a:p>
          <a:p>
            <a:endParaRPr lang="en-US" sz="1400" dirty="0"/>
          </a:p>
          <a:p>
            <a:r>
              <a:rPr lang="en-US" sz="1400" dirty="0"/>
              <a:t>wait(mutex)</a:t>
            </a:r>
          </a:p>
          <a:p>
            <a:r>
              <a:rPr lang="en-US" sz="1400" dirty="0" err="1"/>
              <a:t>read_count</a:t>
            </a:r>
            <a:r>
              <a:rPr lang="en-US" sz="1400" dirty="0"/>
              <a:t>--</a:t>
            </a:r>
          </a:p>
          <a:p>
            <a:r>
              <a:rPr lang="en-US" sz="1400" dirty="0"/>
              <a:t>if(</a:t>
            </a:r>
            <a:r>
              <a:rPr lang="en-US" sz="1400" dirty="0" err="1"/>
              <a:t>read_count</a:t>
            </a:r>
            <a:r>
              <a:rPr lang="en-US" sz="1400" dirty="0"/>
              <a:t>==0)</a:t>
            </a:r>
          </a:p>
          <a:p>
            <a:r>
              <a:rPr lang="en-US" sz="1400" dirty="0"/>
              <a:t>    signal(</a:t>
            </a:r>
            <a:r>
              <a:rPr lang="en-US" sz="1400" dirty="0" err="1"/>
              <a:t>rw_mutex</a:t>
            </a:r>
            <a:r>
              <a:rPr lang="en-US" sz="1400" dirty="0"/>
              <a:t>)</a:t>
            </a:r>
          </a:p>
          <a:p>
            <a:r>
              <a:rPr lang="en-US" sz="1400" dirty="0"/>
              <a:t>signal(mutex)</a:t>
            </a:r>
          </a:p>
          <a:p>
            <a:endParaRPr lang="en-US" sz="1400" dirty="0"/>
          </a:p>
          <a:p>
            <a:r>
              <a:rPr lang="en-US" sz="1400" dirty="0"/>
              <a:t>Writer:</a:t>
            </a:r>
          </a:p>
          <a:p>
            <a:r>
              <a:rPr lang="en-US" sz="1400" dirty="0"/>
              <a:t>wait(</a:t>
            </a:r>
            <a:r>
              <a:rPr lang="en-US" sz="1400" dirty="0" err="1"/>
              <a:t>rw_mutex</a:t>
            </a:r>
            <a:r>
              <a:rPr lang="en-US" sz="1400" dirty="0"/>
              <a:t>)</a:t>
            </a:r>
          </a:p>
          <a:p>
            <a:r>
              <a:rPr lang="en-US" sz="1400" dirty="0"/>
              <a:t>Write Data</a:t>
            </a:r>
          </a:p>
          <a:p>
            <a:r>
              <a:rPr lang="en-US" sz="1400" dirty="0"/>
              <a:t>signal(</a:t>
            </a:r>
            <a:r>
              <a:rPr lang="en-US" sz="1400" dirty="0" err="1"/>
              <a:t>rw_mutex</a:t>
            </a:r>
            <a:r>
              <a:rPr lang="en-US" sz="1400" dirty="0"/>
              <a:t>)</a:t>
            </a:r>
          </a:p>
        </p:txBody>
      </p:sp>
    </p:spTree>
    <p:extLst>
      <p:ext uri="{BB962C8B-B14F-4D97-AF65-F5344CB8AC3E}">
        <p14:creationId xmlns:p14="http://schemas.microsoft.com/office/powerpoint/2010/main" val="39475094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AEB4E9-109D-636C-5419-3E7C524D6224}"/>
              </a:ext>
            </a:extLst>
          </p:cNvPr>
          <p:cNvSpPr>
            <a:spLocks noGrp="1"/>
          </p:cNvSpPr>
          <p:nvPr>
            <p:ph type="sldNum" sz="quarter" idx="12"/>
          </p:nvPr>
        </p:nvSpPr>
        <p:spPr/>
        <p:txBody>
          <a:bodyPr/>
          <a:lstStyle/>
          <a:p>
            <a:fld id="{CBABCCC1-BF11-4F37-963E-1BCD5B23FD72}" type="slidenum">
              <a:rPr lang="en-IN" smtClean="0"/>
              <a:pPr/>
              <a:t>37</a:t>
            </a:fld>
            <a:endParaRPr lang="en-IN"/>
          </a:p>
        </p:txBody>
      </p:sp>
      <p:sp>
        <p:nvSpPr>
          <p:cNvPr id="8" name="TextBox 7">
            <a:extLst>
              <a:ext uri="{FF2B5EF4-FFF2-40B4-BE49-F238E27FC236}">
                <a16:creationId xmlns:a16="http://schemas.microsoft.com/office/drawing/2014/main" id="{E2C2EBEF-9808-B8DA-B794-DF36A36B6F9D}"/>
              </a:ext>
            </a:extLst>
          </p:cNvPr>
          <p:cNvSpPr txBox="1"/>
          <p:nvPr/>
        </p:nvSpPr>
        <p:spPr>
          <a:xfrm>
            <a:off x="485192" y="923732"/>
            <a:ext cx="8668138" cy="4801314"/>
          </a:xfrm>
          <a:prstGeom prst="rect">
            <a:avLst/>
          </a:prstGeom>
          <a:noFill/>
        </p:spPr>
        <p:txBody>
          <a:bodyPr wrap="square">
            <a:spAutoFit/>
          </a:bodyPr>
          <a:lstStyle/>
          <a:p>
            <a:pPr>
              <a:buNone/>
            </a:pPr>
            <a:r>
              <a:rPr lang="en-US" sz="2000" b="1" dirty="0"/>
              <a:t>Dining Philosophers Problem</a:t>
            </a:r>
          </a:p>
          <a:p>
            <a:pPr>
              <a:buNone/>
            </a:pPr>
            <a:endParaRPr lang="en-US" dirty="0"/>
          </a:p>
          <a:p>
            <a:pPr>
              <a:buNone/>
            </a:pPr>
            <a:endParaRPr lang="en-US" dirty="0"/>
          </a:p>
          <a:p>
            <a:pPr>
              <a:buNone/>
            </a:pPr>
            <a:r>
              <a:rPr lang="en-US" dirty="0"/>
              <a:t>Five philosophers sit around a circular table with five forks.</a:t>
            </a:r>
          </a:p>
          <a:p>
            <a:pPr>
              <a:buNone/>
            </a:pPr>
            <a:r>
              <a:rPr lang="en-US" dirty="0"/>
              <a:t>Each philosopher alternates between:</a:t>
            </a:r>
          </a:p>
          <a:p>
            <a:pPr>
              <a:buFont typeface="Arial" panose="020B0604020202020204" pitchFamily="34" charset="0"/>
              <a:buChar char="•"/>
            </a:pPr>
            <a:r>
              <a:rPr lang="en-US" dirty="0"/>
              <a:t>Thinking </a:t>
            </a:r>
          </a:p>
          <a:p>
            <a:pPr>
              <a:buFont typeface="Arial" panose="020B0604020202020204" pitchFamily="34" charset="0"/>
              <a:buChar char="•"/>
            </a:pPr>
            <a:r>
              <a:rPr lang="en-US" dirty="0"/>
              <a:t>Eating </a:t>
            </a:r>
          </a:p>
          <a:p>
            <a:pPr>
              <a:buNone/>
            </a:pPr>
            <a:r>
              <a:rPr lang="en-US" dirty="0"/>
              <a:t>To eat, a philosopher needs both left and right forks.</a:t>
            </a:r>
          </a:p>
          <a:p>
            <a:pPr>
              <a:buNone/>
            </a:pPr>
            <a:r>
              <a:rPr lang="en-US" b="1" dirty="0"/>
              <a:t>Problems</a:t>
            </a:r>
          </a:p>
          <a:p>
            <a:pPr>
              <a:buFont typeface="Arial" panose="020B0604020202020204" pitchFamily="34" charset="0"/>
              <a:buChar char="•"/>
            </a:pPr>
            <a:r>
              <a:rPr lang="en-US" dirty="0"/>
              <a:t>Deadlock </a:t>
            </a:r>
          </a:p>
          <a:p>
            <a:pPr>
              <a:buFont typeface="Arial" panose="020B0604020202020204" pitchFamily="34" charset="0"/>
              <a:buChar char="•"/>
            </a:pPr>
            <a:r>
              <a:rPr lang="en-US" dirty="0"/>
              <a:t>Starvation </a:t>
            </a:r>
          </a:p>
          <a:p>
            <a:pPr>
              <a:buFont typeface="Arial" panose="020B0604020202020204" pitchFamily="34" charset="0"/>
              <a:buChar char="•"/>
            </a:pPr>
            <a:r>
              <a:rPr lang="en-US" dirty="0"/>
              <a:t>Resource contention </a:t>
            </a:r>
          </a:p>
          <a:p>
            <a:pPr>
              <a:buNone/>
            </a:pPr>
            <a:r>
              <a:rPr lang="en-US" b="1" dirty="0"/>
              <a:t>Solutions</a:t>
            </a:r>
          </a:p>
          <a:p>
            <a:pPr>
              <a:buNone/>
            </a:pPr>
            <a:r>
              <a:rPr lang="en-US" b="1" dirty="0"/>
              <a:t>Resource Ordering</a:t>
            </a:r>
          </a:p>
          <a:p>
            <a:pPr>
              <a:buNone/>
            </a:pPr>
            <a:r>
              <a:rPr lang="en-US" dirty="0"/>
              <a:t>Pick forks in a fixed order.</a:t>
            </a:r>
          </a:p>
          <a:p>
            <a:pPr>
              <a:buNone/>
            </a:pPr>
            <a:r>
              <a:rPr lang="en-US" b="1" dirty="0"/>
              <a:t>Waiter Solution</a:t>
            </a:r>
          </a:p>
          <a:p>
            <a:pPr>
              <a:buNone/>
            </a:pPr>
            <a:r>
              <a:rPr lang="en-US" dirty="0"/>
              <a:t>A waiter grants permission before philosophers pick forks.</a:t>
            </a:r>
          </a:p>
        </p:txBody>
      </p:sp>
      <p:sp>
        <p:nvSpPr>
          <p:cNvPr id="10" name="TextBox 9">
            <a:extLst>
              <a:ext uri="{FF2B5EF4-FFF2-40B4-BE49-F238E27FC236}">
                <a16:creationId xmlns:a16="http://schemas.microsoft.com/office/drawing/2014/main" id="{048D8CBD-22F1-E61D-B1D9-069FE4E36B6B}"/>
              </a:ext>
            </a:extLst>
          </p:cNvPr>
          <p:cNvSpPr txBox="1"/>
          <p:nvPr/>
        </p:nvSpPr>
        <p:spPr>
          <a:xfrm>
            <a:off x="7063273" y="1894114"/>
            <a:ext cx="3916930" cy="3195305"/>
          </a:xfrm>
          <a:prstGeom prst="rect">
            <a:avLst/>
          </a:prstGeom>
          <a:noFill/>
        </p:spPr>
        <p:txBody>
          <a:bodyPr wrap="square">
            <a:spAutoFit/>
          </a:bodyPr>
          <a:lstStyle/>
          <a:p>
            <a:pPr>
              <a:buNone/>
            </a:pPr>
            <a:r>
              <a:rPr lang="en-US" b="1" dirty="0"/>
              <a:t>Semaphore Solution</a:t>
            </a:r>
          </a:p>
          <a:p>
            <a:pPr rtl="0">
              <a:buNone/>
            </a:pPr>
            <a:r>
              <a:rPr lang="en-US" dirty="0"/>
              <a:t>Semaphore fork[5] = {1,1,1,1,1}</a:t>
            </a:r>
          </a:p>
          <a:p>
            <a:pPr rtl="0">
              <a:buNone/>
            </a:pPr>
            <a:endParaRPr lang="en-US" dirty="0"/>
          </a:p>
          <a:p>
            <a:pPr rtl="0">
              <a:buNone/>
            </a:pPr>
            <a:r>
              <a:rPr lang="en-US" dirty="0"/>
              <a:t>Philosopher i:</a:t>
            </a:r>
          </a:p>
          <a:p>
            <a:pPr rtl="0">
              <a:buNone/>
            </a:pPr>
            <a:r>
              <a:rPr lang="en-US" dirty="0"/>
              <a:t>wait(fork[</a:t>
            </a:r>
            <a:r>
              <a:rPr lang="en-US" dirty="0" err="1"/>
              <a:t>i</a:t>
            </a:r>
            <a:r>
              <a:rPr lang="en-US" dirty="0"/>
              <a:t>])</a:t>
            </a:r>
          </a:p>
          <a:p>
            <a:pPr rtl="0">
              <a:buNone/>
            </a:pPr>
            <a:r>
              <a:rPr lang="en-US" dirty="0"/>
              <a:t>wait(fork[(i+1)%5])</a:t>
            </a:r>
          </a:p>
          <a:p>
            <a:pPr rtl="0">
              <a:buNone/>
            </a:pPr>
            <a:endParaRPr lang="en-US" dirty="0"/>
          </a:p>
          <a:p>
            <a:pPr rtl="0">
              <a:buNone/>
            </a:pPr>
            <a:r>
              <a:rPr lang="en-US" dirty="0"/>
              <a:t>Eat</a:t>
            </a:r>
          </a:p>
          <a:p>
            <a:pPr rtl="0">
              <a:buNone/>
            </a:pPr>
            <a:endParaRPr lang="en-US" dirty="0"/>
          </a:p>
          <a:p>
            <a:pPr rtl="0">
              <a:buNone/>
            </a:pPr>
            <a:r>
              <a:rPr lang="en-US" dirty="0"/>
              <a:t>signal(fork[</a:t>
            </a:r>
            <a:r>
              <a:rPr lang="en-US" dirty="0" err="1"/>
              <a:t>i</a:t>
            </a:r>
            <a:r>
              <a:rPr lang="en-US" dirty="0"/>
              <a:t>])</a:t>
            </a:r>
          </a:p>
          <a:p>
            <a:pPr rtl="0">
              <a:buNone/>
            </a:pPr>
            <a:r>
              <a:rPr lang="en-US" dirty="0"/>
              <a:t>signal(fork[(i+1)%5])</a:t>
            </a:r>
          </a:p>
        </p:txBody>
      </p:sp>
    </p:spTree>
    <p:extLst>
      <p:ext uri="{BB962C8B-B14F-4D97-AF65-F5344CB8AC3E}">
        <p14:creationId xmlns:p14="http://schemas.microsoft.com/office/powerpoint/2010/main" val="40428899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E5063D8-B229-AE8B-1731-943BE55C3D5D}"/>
              </a:ext>
            </a:extLst>
          </p:cNvPr>
          <p:cNvSpPr>
            <a:spLocks noGrp="1"/>
          </p:cNvSpPr>
          <p:nvPr>
            <p:ph type="sldNum" sz="quarter" idx="12"/>
          </p:nvPr>
        </p:nvSpPr>
        <p:spPr/>
        <p:txBody>
          <a:bodyPr/>
          <a:lstStyle/>
          <a:p>
            <a:fld id="{CBABCCC1-BF11-4F37-963E-1BCD5B23FD72}" type="slidenum">
              <a:rPr lang="en-IN" smtClean="0"/>
              <a:pPr/>
              <a:t>38</a:t>
            </a:fld>
            <a:endParaRPr lang="en-IN"/>
          </a:p>
        </p:txBody>
      </p:sp>
      <p:sp>
        <p:nvSpPr>
          <p:cNvPr id="8" name="TextBox 7">
            <a:extLst>
              <a:ext uri="{FF2B5EF4-FFF2-40B4-BE49-F238E27FC236}">
                <a16:creationId xmlns:a16="http://schemas.microsoft.com/office/drawing/2014/main" id="{D2A77F9F-FE1C-D620-3192-3E7DB3D76BFE}"/>
              </a:ext>
            </a:extLst>
          </p:cNvPr>
          <p:cNvSpPr txBox="1"/>
          <p:nvPr/>
        </p:nvSpPr>
        <p:spPr>
          <a:xfrm>
            <a:off x="755780" y="2043404"/>
            <a:ext cx="4292081" cy="3693319"/>
          </a:xfrm>
          <a:prstGeom prst="rect">
            <a:avLst/>
          </a:prstGeom>
          <a:noFill/>
        </p:spPr>
        <p:txBody>
          <a:bodyPr wrap="square">
            <a:spAutoFit/>
          </a:bodyPr>
          <a:lstStyle/>
          <a:p>
            <a:pPr>
              <a:buNone/>
            </a:pPr>
            <a:r>
              <a:rPr lang="en-US" b="1" dirty="0"/>
              <a:t>Sleeping Barber Problem</a:t>
            </a:r>
          </a:p>
          <a:p>
            <a:pPr>
              <a:buNone/>
            </a:pPr>
            <a:r>
              <a:rPr lang="en-US" dirty="0"/>
              <a:t>A barber shop contains:</a:t>
            </a:r>
          </a:p>
          <a:p>
            <a:pPr>
              <a:buFont typeface="Arial" panose="020B0604020202020204" pitchFamily="34" charset="0"/>
              <a:buChar char="•"/>
            </a:pPr>
            <a:r>
              <a:rPr lang="en-US" dirty="0"/>
              <a:t>One barber </a:t>
            </a:r>
          </a:p>
          <a:p>
            <a:pPr>
              <a:buFont typeface="Arial" panose="020B0604020202020204" pitchFamily="34" charset="0"/>
              <a:buChar char="•"/>
            </a:pPr>
            <a:r>
              <a:rPr lang="en-US" dirty="0"/>
              <a:t>One barber chair </a:t>
            </a:r>
          </a:p>
          <a:p>
            <a:pPr>
              <a:buFont typeface="Arial" panose="020B0604020202020204" pitchFamily="34" charset="0"/>
              <a:buChar char="•"/>
            </a:pPr>
            <a:r>
              <a:rPr lang="en-US" dirty="0"/>
              <a:t>Multiple waiting chairs </a:t>
            </a:r>
          </a:p>
          <a:p>
            <a:pPr>
              <a:buNone/>
            </a:pPr>
            <a:r>
              <a:rPr lang="en-US" b="1" dirty="0"/>
              <a:t>Rules</a:t>
            </a:r>
          </a:p>
          <a:p>
            <a:pPr>
              <a:buFont typeface="Arial" panose="020B0604020202020204" pitchFamily="34" charset="0"/>
              <a:buChar char="•"/>
            </a:pPr>
            <a:r>
              <a:rPr lang="en-US" dirty="0"/>
              <a:t>If no customers exist, barber sleeps. </a:t>
            </a:r>
          </a:p>
          <a:p>
            <a:pPr>
              <a:buFont typeface="Arial" panose="020B0604020202020204" pitchFamily="34" charset="0"/>
              <a:buChar char="•"/>
            </a:pPr>
            <a:r>
              <a:rPr lang="en-US" dirty="0"/>
              <a:t>Customer wakes barber if sleeping. </a:t>
            </a:r>
          </a:p>
          <a:p>
            <a:pPr>
              <a:buFont typeface="Arial" panose="020B0604020202020204" pitchFamily="34" charset="0"/>
              <a:buChar char="•"/>
            </a:pPr>
            <a:r>
              <a:rPr lang="en-US" dirty="0"/>
              <a:t>If chairs are full, customer leaves. </a:t>
            </a:r>
          </a:p>
          <a:p>
            <a:pPr>
              <a:buNone/>
            </a:pPr>
            <a:r>
              <a:rPr lang="en-US" b="1" dirty="0"/>
              <a:t>Synchronization Objects</a:t>
            </a:r>
          </a:p>
          <a:p>
            <a:pPr>
              <a:buFont typeface="Arial" panose="020B0604020202020204" pitchFamily="34" charset="0"/>
              <a:buChar char="•"/>
            </a:pPr>
            <a:r>
              <a:rPr lang="en-US" dirty="0"/>
              <a:t>Customers semaphore </a:t>
            </a:r>
          </a:p>
          <a:p>
            <a:pPr>
              <a:buFont typeface="Arial" panose="020B0604020202020204" pitchFamily="34" charset="0"/>
              <a:buChar char="•"/>
            </a:pPr>
            <a:r>
              <a:rPr lang="en-US" dirty="0"/>
              <a:t>Barber semaphore </a:t>
            </a:r>
          </a:p>
          <a:p>
            <a:pPr>
              <a:buFont typeface="Arial" panose="020B0604020202020204" pitchFamily="34" charset="0"/>
              <a:buChar char="•"/>
            </a:pPr>
            <a:r>
              <a:rPr lang="en-US" dirty="0"/>
              <a:t>Mutex</a:t>
            </a:r>
          </a:p>
        </p:txBody>
      </p:sp>
      <p:sp>
        <p:nvSpPr>
          <p:cNvPr id="10" name="TextBox 9">
            <a:extLst>
              <a:ext uri="{FF2B5EF4-FFF2-40B4-BE49-F238E27FC236}">
                <a16:creationId xmlns:a16="http://schemas.microsoft.com/office/drawing/2014/main" id="{651EAA48-FD28-815D-1D57-E82D59B38724}"/>
              </a:ext>
            </a:extLst>
          </p:cNvPr>
          <p:cNvSpPr txBox="1"/>
          <p:nvPr/>
        </p:nvSpPr>
        <p:spPr>
          <a:xfrm>
            <a:off x="4861248" y="1028343"/>
            <a:ext cx="2836507" cy="5355312"/>
          </a:xfrm>
          <a:prstGeom prst="rect">
            <a:avLst/>
          </a:prstGeom>
          <a:noFill/>
        </p:spPr>
        <p:txBody>
          <a:bodyPr wrap="square">
            <a:spAutoFit/>
          </a:bodyPr>
          <a:lstStyle/>
          <a:p>
            <a:pPr>
              <a:buNone/>
            </a:pPr>
            <a:r>
              <a:rPr lang="en-US" b="1" dirty="0"/>
              <a:t>Algorithm</a:t>
            </a:r>
          </a:p>
          <a:p>
            <a:pPr>
              <a:buNone/>
            </a:pPr>
            <a:endParaRPr lang="en-US" dirty="0"/>
          </a:p>
          <a:p>
            <a:pPr>
              <a:buNone/>
            </a:pPr>
            <a:r>
              <a:rPr lang="en-US" dirty="0"/>
              <a:t>Customer:</a:t>
            </a:r>
          </a:p>
          <a:p>
            <a:pPr rtl="0">
              <a:buNone/>
            </a:pPr>
            <a:r>
              <a:rPr lang="en-US" dirty="0">
                <a:latin typeface="Courier New" panose="02070309020205020404" pitchFamily="49" charset="0"/>
              </a:rPr>
              <a:t>wait(mutex)</a:t>
            </a:r>
          </a:p>
          <a:p>
            <a:pPr rtl="0">
              <a:buNone/>
            </a:pPr>
            <a:r>
              <a:rPr lang="en-US" dirty="0">
                <a:latin typeface="Courier New" panose="02070309020205020404" pitchFamily="49" charset="0"/>
              </a:rPr>
              <a:t>if(waiting &lt; chairs)</a:t>
            </a:r>
          </a:p>
          <a:p>
            <a:pPr rtl="0">
              <a:buNone/>
            </a:pPr>
            <a:r>
              <a:rPr lang="en-US" dirty="0">
                <a:latin typeface="Courier New" panose="02070309020205020404" pitchFamily="49" charset="0"/>
              </a:rPr>
              <a:t>{</a:t>
            </a:r>
          </a:p>
          <a:p>
            <a:pPr rtl="0">
              <a:buNone/>
            </a:pPr>
            <a:r>
              <a:rPr lang="en-US" dirty="0">
                <a:latin typeface="Courier New" panose="02070309020205020404" pitchFamily="49" charset="0"/>
              </a:rPr>
              <a:t>    waiting++</a:t>
            </a:r>
          </a:p>
          <a:p>
            <a:pPr rtl="0">
              <a:buNone/>
            </a:pPr>
            <a:r>
              <a:rPr lang="en-US" dirty="0">
                <a:latin typeface="Courier New" panose="02070309020205020404" pitchFamily="49" charset="0"/>
              </a:rPr>
              <a:t>    signal(customers)</a:t>
            </a:r>
          </a:p>
          <a:p>
            <a:pPr rtl="0">
              <a:buNone/>
            </a:pPr>
            <a:r>
              <a:rPr lang="en-US" dirty="0">
                <a:latin typeface="Courier New" panose="02070309020205020404" pitchFamily="49" charset="0"/>
              </a:rPr>
              <a:t>    signal(mutex)</a:t>
            </a:r>
          </a:p>
          <a:p>
            <a:pPr rtl="0">
              <a:buNone/>
            </a:pPr>
            <a:r>
              <a:rPr lang="en-US" dirty="0">
                <a:latin typeface="Courier New" panose="02070309020205020404" pitchFamily="49" charset="0"/>
              </a:rPr>
              <a:t>    wait(barber)</a:t>
            </a:r>
          </a:p>
          <a:p>
            <a:pPr rtl="0">
              <a:buNone/>
            </a:pPr>
            <a:r>
              <a:rPr lang="en-US" dirty="0">
                <a:latin typeface="Courier New" panose="02070309020205020404" pitchFamily="49" charset="0"/>
              </a:rPr>
              <a:t>    Haircut</a:t>
            </a:r>
          </a:p>
          <a:p>
            <a:pPr rtl="0">
              <a:buNone/>
            </a:pPr>
            <a:r>
              <a:rPr lang="en-US" dirty="0">
                <a:latin typeface="Courier New" panose="02070309020205020404" pitchFamily="49" charset="0"/>
              </a:rPr>
              <a:t>}</a:t>
            </a:r>
          </a:p>
          <a:p>
            <a:pPr rtl="0">
              <a:buNone/>
            </a:pPr>
            <a:r>
              <a:rPr lang="en-US" dirty="0">
                <a:latin typeface="Courier New" panose="02070309020205020404" pitchFamily="49" charset="0"/>
              </a:rPr>
              <a:t>else</a:t>
            </a:r>
          </a:p>
          <a:p>
            <a:pPr rtl="0">
              <a:buNone/>
            </a:pPr>
            <a:r>
              <a:rPr lang="en-US" dirty="0">
                <a:latin typeface="Courier New" panose="02070309020205020404" pitchFamily="49" charset="0"/>
              </a:rPr>
              <a:t>{</a:t>
            </a:r>
          </a:p>
          <a:p>
            <a:pPr rtl="0">
              <a:buNone/>
            </a:pPr>
            <a:r>
              <a:rPr lang="en-US" dirty="0">
                <a:latin typeface="Courier New" panose="02070309020205020404" pitchFamily="49" charset="0"/>
              </a:rPr>
              <a:t>    signal(mutex)</a:t>
            </a:r>
          </a:p>
          <a:p>
            <a:pPr rtl="0">
              <a:buNone/>
            </a:pPr>
            <a:r>
              <a:rPr lang="en-US" dirty="0">
                <a:latin typeface="Courier New" panose="02070309020205020404" pitchFamily="49" charset="0"/>
              </a:rPr>
              <a:t>    Leave</a:t>
            </a:r>
          </a:p>
          <a:p>
            <a:pPr rtl="0">
              <a:buNone/>
            </a:pPr>
            <a:r>
              <a:rPr lang="en-US" dirty="0">
                <a:latin typeface="Courier New" panose="02070309020205020404" pitchFamily="49" charset="0"/>
              </a:rPr>
              <a:t>}</a:t>
            </a:r>
          </a:p>
        </p:txBody>
      </p:sp>
      <p:sp>
        <p:nvSpPr>
          <p:cNvPr id="12" name="TextBox 11">
            <a:extLst>
              <a:ext uri="{FF2B5EF4-FFF2-40B4-BE49-F238E27FC236}">
                <a16:creationId xmlns:a16="http://schemas.microsoft.com/office/drawing/2014/main" id="{692D4980-1145-8A48-2AEE-CFBDC59FCFBF}"/>
              </a:ext>
            </a:extLst>
          </p:cNvPr>
          <p:cNvSpPr txBox="1"/>
          <p:nvPr/>
        </p:nvSpPr>
        <p:spPr>
          <a:xfrm>
            <a:off x="7912358" y="1997839"/>
            <a:ext cx="3219062" cy="3416320"/>
          </a:xfrm>
          <a:prstGeom prst="rect">
            <a:avLst/>
          </a:prstGeom>
          <a:noFill/>
        </p:spPr>
        <p:txBody>
          <a:bodyPr wrap="square">
            <a:spAutoFit/>
          </a:bodyPr>
          <a:lstStyle/>
          <a:p>
            <a:pPr>
              <a:buNone/>
            </a:pPr>
            <a:r>
              <a:rPr lang="en-US" dirty="0"/>
              <a:t>Barber:</a:t>
            </a:r>
          </a:p>
          <a:p>
            <a:pPr rtl="0">
              <a:buNone/>
            </a:pPr>
            <a:r>
              <a:rPr lang="en-US" dirty="0">
                <a:latin typeface="Courier New" panose="02070309020205020404" pitchFamily="49" charset="0"/>
              </a:rPr>
              <a:t>while(true)</a:t>
            </a:r>
          </a:p>
          <a:p>
            <a:pPr rtl="0">
              <a:buNone/>
            </a:pPr>
            <a:r>
              <a:rPr lang="en-US" dirty="0">
                <a:latin typeface="Courier New" panose="02070309020205020404" pitchFamily="49" charset="0"/>
              </a:rPr>
              <a:t>{</a:t>
            </a:r>
          </a:p>
          <a:p>
            <a:pPr rtl="0">
              <a:buNone/>
            </a:pPr>
            <a:r>
              <a:rPr lang="en-US" dirty="0">
                <a:latin typeface="Courier New" panose="02070309020205020404" pitchFamily="49" charset="0"/>
              </a:rPr>
              <a:t>    wait(customers)</a:t>
            </a:r>
          </a:p>
          <a:p>
            <a:pPr rtl="0">
              <a:buNone/>
            </a:pPr>
            <a:endParaRPr lang="en-US" dirty="0">
              <a:latin typeface="Courier New" panose="02070309020205020404" pitchFamily="49" charset="0"/>
            </a:endParaRPr>
          </a:p>
          <a:p>
            <a:pPr rtl="0">
              <a:buNone/>
            </a:pPr>
            <a:r>
              <a:rPr lang="en-US" dirty="0">
                <a:latin typeface="Courier New" panose="02070309020205020404" pitchFamily="49" charset="0"/>
              </a:rPr>
              <a:t>    wait(mutex)</a:t>
            </a:r>
          </a:p>
          <a:p>
            <a:pPr rtl="0">
              <a:buNone/>
            </a:pPr>
            <a:r>
              <a:rPr lang="en-US" dirty="0">
                <a:latin typeface="Courier New" panose="02070309020205020404" pitchFamily="49" charset="0"/>
              </a:rPr>
              <a:t>    waiting--</a:t>
            </a:r>
          </a:p>
          <a:p>
            <a:pPr rtl="0">
              <a:buNone/>
            </a:pPr>
            <a:r>
              <a:rPr lang="en-US" dirty="0">
                <a:latin typeface="Courier New" panose="02070309020205020404" pitchFamily="49" charset="0"/>
              </a:rPr>
              <a:t>    signal(barber)</a:t>
            </a:r>
          </a:p>
          <a:p>
            <a:pPr rtl="0">
              <a:buNone/>
            </a:pPr>
            <a:r>
              <a:rPr lang="en-US" dirty="0">
                <a:latin typeface="Courier New" panose="02070309020205020404" pitchFamily="49" charset="0"/>
              </a:rPr>
              <a:t>    signal(mutex)</a:t>
            </a:r>
          </a:p>
          <a:p>
            <a:pPr rtl="0">
              <a:buNone/>
            </a:pPr>
            <a:endParaRPr lang="en-US" dirty="0">
              <a:latin typeface="Courier New" panose="02070309020205020404" pitchFamily="49" charset="0"/>
            </a:endParaRPr>
          </a:p>
          <a:p>
            <a:pPr rtl="0">
              <a:buNone/>
            </a:pPr>
            <a:r>
              <a:rPr lang="en-US" dirty="0">
                <a:latin typeface="Courier New" panose="02070309020205020404" pitchFamily="49" charset="0"/>
              </a:rPr>
              <a:t>    Cut Hair</a:t>
            </a:r>
          </a:p>
          <a:p>
            <a:pPr rtl="0">
              <a:buNone/>
            </a:pPr>
            <a:r>
              <a:rPr lang="en-US" dirty="0">
                <a:latin typeface="Courier New" panose="02070309020205020404" pitchFamily="49" charset="0"/>
              </a:rPr>
              <a:t>}</a:t>
            </a:r>
          </a:p>
        </p:txBody>
      </p:sp>
    </p:spTree>
    <p:extLst>
      <p:ext uri="{BB962C8B-B14F-4D97-AF65-F5344CB8AC3E}">
        <p14:creationId xmlns:p14="http://schemas.microsoft.com/office/powerpoint/2010/main" val="39068166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9652B2D-CC97-EB1A-76D2-47209AC3225E}"/>
              </a:ext>
            </a:extLst>
          </p:cNvPr>
          <p:cNvSpPr>
            <a:spLocks noGrp="1"/>
          </p:cNvSpPr>
          <p:nvPr>
            <p:ph type="sldNum" sz="quarter" idx="12"/>
          </p:nvPr>
        </p:nvSpPr>
        <p:spPr/>
        <p:txBody>
          <a:bodyPr/>
          <a:lstStyle/>
          <a:p>
            <a:fld id="{CBABCCC1-BF11-4F37-963E-1BCD5B23FD72}" type="slidenum">
              <a:rPr lang="en-IN" smtClean="0"/>
              <a:pPr/>
              <a:t>39</a:t>
            </a:fld>
            <a:endParaRPr lang="en-IN"/>
          </a:p>
        </p:txBody>
      </p:sp>
      <p:sp>
        <p:nvSpPr>
          <p:cNvPr id="11" name="TextBox 10">
            <a:extLst>
              <a:ext uri="{FF2B5EF4-FFF2-40B4-BE49-F238E27FC236}">
                <a16:creationId xmlns:a16="http://schemas.microsoft.com/office/drawing/2014/main" id="{25D43998-7FE1-3C2C-30BF-97B5C5B18C9E}"/>
              </a:ext>
            </a:extLst>
          </p:cNvPr>
          <p:cNvSpPr txBox="1"/>
          <p:nvPr/>
        </p:nvSpPr>
        <p:spPr>
          <a:xfrm>
            <a:off x="1259633" y="2022339"/>
            <a:ext cx="6102220" cy="3970318"/>
          </a:xfrm>
          <a:prstGeom prst="rect">
            <a:avLst/>
          </a:prstGeom>
          <a:noFill/>
        </p:spPr>
        <p:txBody>
          <a:bodyPr wrap="square">
            <a:spAutoFit/>
          </a:bodyPr>
          <a:lstStyle/>
          <a:p>
            <a:pPr>
              <a:buNone/>
            </a:pPr>
            <a:r>
              <a:rPr lang="en-US" b="1" dirty="0"/>
              <a:t>Barrier Synchronization</a:t>
            </a:r>
          </a:p>
          <a:p>
            <a:pPr>
              <a:buNone/>
            </a:pPr>
            <a:r>
              <a:rPr lang="en-US" dirty="0"/>
              <a:t>A </a:t>
            </a:r>
            <a:r>
              <a:rPr lang="en-US" b="1" dirty="0"/>
              <a:t>Barrier</a:t>
            </a:r>
            <a:r>
              <a:rPr lang="en-US" dirty="0"/>
              <a:t> forces all threads to reach a synchronization point before any thread proceeds.</a:t>
            </a:r>
          </a:p>
          <a:p>
            <a:pPr>
              <a:buNone/>
            </a:pPr>
            <a:r>
              <a:rPr lang="en-US" b="1" dirty="0"/>
              <a:t>Applications</a:t>
            </a:r>
          </a:p>
          <a:p>
            <a:pPr marL="285750" indent="-285750">
              <a:buFont typeface="Wingdings" panose="05000000000000000000" pitchFamily="2" charset="2"/>
              <a:buChar char="Ø"/>
            </a:pPr>
            <a:r>
              <a:rPr lang="en-US" dirty="0"/>
              <a:t>Parallel computing </a:t>
            </a:r>
          </a:p>
          <a:p>
            <a:pPr marL="285750" indent="-285750">
              <a:buFont typeface="Wingdings" panose="05000000000000000000" pitchFamily="2" charset="2"/>
              <a:buChar char="Ø"/>
            </a:pPr>
            <a:r>
              <a:rPr lang="en-US" dirty="0"/>
              <a:t>Matrix multiplication </a:t>
            </a:r>
          </a:p>
          <a:p>
            <a:pPr marL="285750" indent="-285750">
              <a:buFont typeface="Wingdings" panose="05000000000000000000" pitchFamily="2" charset="2"/>
              <a:buChar char="Ø"/>
            </a:pPr>
            <a:r>
              <a:rPr lang="en-US" dirty="0"/>
              <a:t>Scientific simulations </a:t>
            </a:r>
          </a:p>
          <a:p>
            <a:pPr marL="285750" indent="-285750">
              <a:buFont typeface="Wingdings" panose="05000000000000000000" pitchFamily="2" charset="2"/>
              <a:buChar char="Ø"/>
            </a:pPr>
            <a:r>
              <a:rPr lang="en-US" dirty="0"/>
              <a:t>GPU programming </a:t>
            </a:r>
          </a:p>
          <a:p>
            <a:pPr>
              <a:buNone/>
            </a:pPr>
            <a:r>
              <a:rPr lang="en-US" b="1" dirty="0"/>
              <a:t>Example</a:t>
            </a:r>
          </a:p>
          <a:p>
            <a:pPr rtl="0">
              <a:buNone/>
            </a:pPr>
            <a:r>
              <a:rPr lang="en-US" dirty="0">
                <a:latin typeface="Courier New" panose="02070309020205020404" pitchFamily="49" charset="0"/>
              </a:rPr>
              <a:t>Thread 1 ----\</a:t>
            </a:r>
          </a:p>
          <a:p>
            <a:pPr rtl="0">
              <a:buNone/>
            </a:pPr>
            <a:r>
              <a:rPr lang="en-US" dirty="0">
                <a:latin typeface="Courier New" panose="02070309020205020404" pitchFamily="49" charset="0"/>
              </a:rPr>
              <a:t>Thread 2 -----\</a:t>
            </a:r>
          </a:p>
          <a:p>
            <a:pPr rtl="0">
              <a:buNone/>
            </a:pPr>
            <a:r>
              <a:rPr lang="en-US" dirty="0">
                <a:latin typeface="Courier New" panose="02070309020205020404" pitchFamily="49" charset="0"/>
              </a:rPr>
              <a:t>Thread 3 -------&gt; Barrier ----&gt; Continue</a:t>
            </a:r>
          </a:p>
          <a:p>
            <a:pPr rtl="0">
              <a:buNone/>
            </a:pPr>
            <a:r>
              <a:rPr lang="en-US" dirty="0">
                <a:latin typeface="Courier New" panose="02070309020205020404" pitchFamily="49" charset="0"/>
              </a:rPr>
              <a:t>Thread 4 -----/</a:t>
            </a:r>
          </a:p>
          <a:p>
            <a:pPr rtl="0">
              <a:buNone/>
            </a:pPr>
            <a:r>
              <a:rPr lang="en-US" dirty="0">
                <a:latin typeface="Courier New" panose="02070309020205020404" pitchFamily="49" charset="0"/>
              </a:rPr>
              <a:t>Thread 5 ----/</a:t>
            </a:r>
          </a:p>
        </p:txBody>
      </p:sp>
      <p:sp>
        <p:nvSpPr>
          <p:cNvPr id="13" name="TextBox 12">
            <a:extLst>
              <a:ext uri="{FF2B5EF4-FFF2-40B4-BE49-F238E27FC236}">
                <a16:creationId xmlns:a16="http://schemas.microsoft.com/office/drawing/2014/main" id="{1C97A261-C110-2E6E-FDC9-266511426D99}"/>
              </a:ext>
            </a:extLst>
          </p:cNvPr>
          <p:cNvSpPr txBox="1"/>
          <p:nvPr/>
        </p:nvSpPr>
        <p:spPr>
          <a:xfrm>
            <a:off x="7725746" y="2164702"/>
            <a:ext cx="3974842" cy="3416320"/>
          </a:xfrm>
          <a:prstGeom prst="rect">
            <a:avLst/>
          </a:prstGeom>
          <a:noFill/>
        </p:spPr>
        <p:txBody>
          <a:bodyPr wrap="square">
            <a:spAutoFit/>
          </a:bodyPr>
          <a:lstStyle/>
          <a:p>
            <a:r>
              <a:rPr lang="en-US" dirty="0" err="1"/>
              <a:t>pthread_barrier_t</a:t>
            </a:r>
            <a:r>
              <a:rPr lang="en-US" dirty="0"/>
              <a:t> barrier;</a:t>
            </a:r>
          </a:p>
          <a:p>
            <a:endParaRPr lang="en-US" dirty="0"/>
          </a:p>
          <a:p>
            <a:r>
              <a:rPr lang="en-US" dirty="0" err="1"/>
              <a:t>pthread_barrier_init</a:t>
            </a:r>
            <a:r>
              <a:rPr lang="en-US" dirty="0"/>
              <a:t>(&amp;barrier, NULL, 5);</a:t>
            </a:r>
          </a:p>
          <a:p>
            <a:endParaRPr lang="en-US" dirty="0"/>
          </a:p>
          <a:p>
            <a:r>
              <a:rPr lang="en-US" dirty="0"/>
              <a:t>void *worker(void *</a:t>
            </a:r>
            <a:r>
              <a:rPr lang="en-US" dirty="0" err="1"/>
              <a:t>arg</a:t>
            </a:r>
            <a:r>
              <a:rPr lang="en-US" dirty="0"/>
              <a:t>)</a:t>
            </a:r>
          </a:p>
          <a:p>
            <a:r>
              <a:rPr lang="en-US" dirty="0"/>
              <a:t>{</a:t>
            </a:r>
          </a:p>
          <a:p>
            <a:r>
              <a:rPr lang="en-US" dirty="0"/>
              <a:t>    </a:t>
            </a:r>
            <a:r>
              <a:rPr lang="en-US" dirty="0" err="1"/>
              <a:t>printf</a:t>
            </a:r>
            <a:r>
              <a:rPr lang="en-US" dirty="0"/>
              <a:t>("Thread reached barrier\n");</a:t>
            </a:r>
          </a:p>
          <a:p>
            <a:endParaRPr lang="en-US" dirty="0"/>
          </a:p>
          <a:p>
            <a:r>
              <a:rPr lang="en-US" dirty="0"/>
              <a:t>    </a:t>
            </a:r>
            <a:r>
              <a:rPr lang="en-US" dirty="0" err="1"/>
              <a:t>pthread_barrier_wait</a:t>
            </a:r>
            <a:r>
              <a:rPr lang="en-US" dirty="0"/>
              <a:t>(&amp;barrier);</a:t>
            </a:r>
          </a:p>
          <a:p>
            <a:endParaRPr lang="en-US" dirty="0"/>
          </a:p>
          <a:p>
            <a:r>
              <a:rPr lang="en-US" dirty="0"/>
              <a:t>    </a:t>
            </a:r>
            <a:r>
              <a:rPr lang="en-US" dirty="0" err="1"/>
              <a:t>printf</a:t>
            </a:r>
            <a:r>
              <a:rPr lang="en-US" dirty="0"/>
              <a:t>("Thread continues\n");</a:t>
            </a:r>
          </a:p>
          <a:p>
            <a:r>
              <a:rPr lang="en-US" dirty="0"/>
              <a:t>}</a:t>
            </a:r>
          </a:p>
        </p:txBody>
      </p:sp>
    </p:spTree>
    <p:extLst>
      <p:ext uri="{BB962C8B-B14F-4D97-AF65-F5344CB8AC3E}">
        <p14:creationId xmlns:p14="http://schemas.microsoft.com/office/powerpoint/2010/main" val="10601477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21BB2-2118-8817-3967-67165867CDD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B9A9A98-192F-D524-0AD6-BE6E4B478C9D}"/>
              </a:ext>
            </a:extLst>
          </p:cNvPr>
          <p:cNvSpPr>
            <a:spLocks noGrp="1"/>
          </p:cNvSpPr>
          <p:nvPr>
            <p:ph type="sldNum" sz="quarter" idx="12"/>
          </p:nvPr>
        </p:nvSpPr>
        <p:spPr/>
        <p:txBody>
          <a:bodyPr/>
          <a:lstStyle/>
          <a:p>
            <a:fld id="{CBABCCC1-BF11-4F37-963E-1BCD5B23FD72}" type="slidenum">
              <a:rPr lang="en-IN" smtClean="0"/>
              <a:pPr/>
              <a:t>40</a:t>
            </a:fld>
            <a:endParaRPr lang="en-IN"/>
          </a:p>
        </p:txBody>
      </p:sp>
      <p:sp>
        <p:nvSpPr>
          <p:cNvPr id="5" name="Content Placeholder 4">
            <a:extLst>
              <a:ext uri="{FF2B5EF4-FFF2-40B4-BE49-F238E27FC236}">
                <a16:creationId xmlns:a16="http://schemas.microsoft.com/office/drawing/2014/main" id="{0CE2C613-BC9B-24E3-6D7C-958968C32F30}"/>
              </a:ext>
            </a:extLst>
          </p:cNvPr>
          <p:cNvSpPr>
            <a:spLocks noGrp="1"/>
          </p:cNvSpPr>
          <p:nvPr>
            <p:ph idx="1"/>
          </p:nvPr>
        </p:nvSpPr>
        <p:spPr>
          <a:xfrm>
            <a:off x="1451579" y="2015732"/>
            <a:ext cx="4883907" cy="3450613"/>
          </a:xfrm>
        </p:spPr>
        <p:txBody>
          <a:bodyPr>
            <a:normAutofit fontScale="77500" lnSpcReduction="20000"/>
          </a:bodyPr>
          <a:lstStyle/>
          <a:p>
            <a:pPr marL="0" indent="0">
              <a:buNone/>
            </a:pPr>
            <a:r>
              <a:rPr lang="en-US" b="1" dirty="0"/>
              <a:t>Spinlocks</a:t>
            </a:r>
          </a:p>
          <a:p>
            <a:r>
              <a:rPr lang="en-US" dirty="0"/>
              <a:t>A </a:t>
            </a:r>
            <a:r>
              <a:rPr lang="en-US" b="1" dirty="0"/>
              <a:t>Spinlock</a:t>
            </a:r>
            <a:r>
              <a:rPr lang="en-US" dirty="0"/>
              <a:t> is a lock where a thread repeatedly checks ("spins") until the lock becomes available instead of sleeping.</a:t>
            </a:r>
          </a:p>
          <a:p>
            <a:r>
              <a:rPr lang="en-US" b="1" dirty="0"/>
              <a:t>Advantages</a:t>
            </a:r>
          </a:p>
          <a:p>
            <a:r>
              <a:rPr lang="en-US" dirty="0"/>
              <a:t>Very fast for short critical sections. </a:t>
            </a:r>
          </a:p>
          <a:p>
            <a:r>
              <a:rPr lang="en-US" dirty="0"/>
              <a:t>Low overhead. </a:t>
            </a:r>
          </a:p>
          <a:p>
            <a:r>
              <a:rPr lang="en-US" b="1" dirty="0"/>
              <a:t>Disadvantages</a:t>
            </a:r>
          </a:p>
          <a:p>
            <a:r>
              <a:rPr lang="en-US" dirty="0"/>
              <a:t>Wastes CPU time if lock is held for long. </a:t>
            </a:r>
          </a:p>
          <a:p>
            <a:r>
              <a:rPr lang="en-US" dirty="0"/>
              <a:t>Not suitable for long waiting periods.</a:t>
            </a:r>
          </a:p>
          <a:p>
            <a:endParaRPr lang="en-US" dirty="0"/>
          </a:p>
        </p:txBody>
      </p:sp>
      <p:sp>
        <p:nvSpPr>
          <p:cNvPr id="11" name="TextBox 10">
            <a:extLst>
              <a:ext uri="{FF2B5EF4-FFF2-40B4-BE49-F238E27FC236}">
                <a16:creationId xmlns:a16="http://schemas.microsoft.com/office/drawing/2014/main" id="{7889776F-91DD-019D-18E8-251F1984FD19}"/>
              </a:ext>
            </a:extLst>
          </p:cNvPr>
          <p:cNvSpPr txBox="1"/>
          <p:nvPr/>
        </p:nvSpPr>
        <p:spPr>
          <a:xfrm>
            <a:off x="7343192" y="2388637"/>
            <a:ext cx="3711662" cy="2308324"/>
          </a:xfrm>
          <a:prstGeom prst="rect">
            <a:avLst/>
          </a:prstGeom>
          <a:noFill/>
        </p:spPr>
        <p:txBody>
          <a:bodyPr wrap="square">
            <a:spAutoFit/>
          </a:bodyPr>
          <a:lstStyle/>
          <a:p>
            <a:r>
              <a:rPr lang="en-US" dirty="0"/>
              <a:t>while(</a:t>
            </a:r>
            <a:r>
              <a:rPr lang="en-US" dirty="0" err="1"/>
              <a:t>test_and_set</a:t>
            </a:r>
            <a:r>
              <a:rPr lang="en-US" dirty="0"/>
              <a:t>(lock))</a:t>
            </a:r>
          </a:p>
          <a:p>
            <a:r>
              <a:rPr lang="en-US" dirty="0"/>
              <a:t>{</a:t>
            </a:r>
          </a:p>
          <a:p>
            <a:r>
              <a:rPr lang="en-US" dirty="0"/>
              <a:t>    // Busy waiting</a:t>
            </a:r>
          </a:p>
          <a:p>
            <a:r>
              <a:rPr lang="en-US" dirty="0"/>
              <a:t>}</a:t>
            </a:r>
          </a:p>
          <a:p>
            <a:endParaRPr lang="en-US" dirty="0"/>
          </a:p>
          <a:p>
            <a:r>
              <a:rPr lang="en-US" dirty="0"/>
              <a:t>// Critical Section</a:t>
            </a:r>
          </a:p>
          <a:p>
            <a:endParaRPr lang="en-US" dirty="0"/>
          </a:p>
          <a:p>
            <a:r>
              <a:rPr lang="en-US" dirty="0"/>
              <a:t>lock = 0;</a:t>
            </a:r>
          </a:p>
        </p:txBody>
      </p:sp>
    </p:spTree>
    <p:extLst>
      <p:ext uri="{BB962C8B-B14F-4D97-AF65-F5344CB8AC3E}">
        <p14:creationId xmlns:p14="http://schemas.microsoft.com/office/powerpoint/2010/main" val="20488451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BABCCC1-BF11-4F37-963E-1BCD5B23FD72}" type="slidenum">
              <a:rPr lang="en-IN" smtClean="0"/>
              <a:pPr/>
              <a:t>41</a:t>
            </a:fld>
            <a:endParaRPr lang="en-IN"/>
          </a:p>
        </p:txBody>
      </p:sp>
      <p:sp>
        <p:nvSpPr>
          <p:cNvPr id="5" name="TextBox 4">
            <a:extLst>
              <a:ext uri="{FF2B5EF4-FFF2-40B4-BE49-F238E27FC236}">
                <a16:creationId xmlns:a16="http://schemas.microsoft.com/office/drawing/2014/main" id="{0AC22FBC-DC5B-72E2-BF2E-D3C72BE4643D}"/>
              </a:ext>
            </a:extLst>
          </p:cNvPr>
          <p:cNvSpPr txBox="1"/>
          <p:nvPr/>
        </p:nvSpPr>
        <p:spPr>
          <a:xfrm>
            <a:off x="1343608" y="1391922"/>
            <a:ext cx="6102220" cy="1705532"/>
          </a:xfrm>
          <a:prstGeom prst="rect">
            <a:avLst/>
          </a:prstGeom>
          <a:noFill/>
        </p:spPr>
        <p:txBody>
          <a:bodyPr wrap="square">
            <a:spAutoFit/>
          </a:bodyPr>
          <a:lstStyle/>
          <a:p>
            <a:pPr>
              <a:lnSpc>
                <a:spcPct val="150000"/>
              </a:lnSpc>
              <a:buNone/>
            </a:pPr>
            <a:r>
              <a:rPr lang="en-US" b="1" dirty="0"/>
              <a:t>Read-Write Locks</a:t>
            </a:r>
          </a:p>
          <a:p>
            <a:pPr>
              <a:lnSpc>
                <a:spcPct val="150000"/>
              </a:lnSpc>
              <a:buNone/>
            </a:pPr>
            <a:r>
              <a:rPr lang="en-US" dirty="0"/>
              <a:t>A </a:t>
            </a:r>
            <a:r>
              <a:rPr lang="en-US" b="1" dirty="0"/>
              <a:t>Read-Write Lock</a:t>
            </a:r>
            <a:r>
              <a:rPr lang="en-US" dirty="0"/>
              <a:t> allows:</a:t>
            </a:r>
          </a:p>
          <a:p>
            <a:pPr>
              <a:lnSpc>
                <a:spcPct val="150000"/>
              </a:lnSpc>
              <a:buFont typeface="Arial" panose="020B0604020202020204" pitchFamily="34" charset="0"/>
              <a:buChar char="•"/>
            </a:pPr>
            <a:r>
              <a:rPr lang="en-US" dirty="0"/>
              <a:t>Multiple readers simultaneously. </a:t>
            </a:r>
          </a:p>
          <a:p>
            <a:pPr>
              <a:lnSpc>
                <a:spcPct val="150000"/>
              </a:lnSpc>
              <a:buFont typeface="Arial" panose="020B0604020202020204" pitchFamily="34" charset="0"/>
              <a:buChar char="•"/>
            </a:pPr>
            <a:r>
              <a:rPr lang="en-US" dirty="0"/>
              <a:t>Only one writer exclusively.</a:t>
            </a:r>
          </a:p>
        </p:txBody>
      </p:sp>
      <p:sp>
        <p:nvSpPr>
          <p:cNvPr id="7" name="TextBox 6">
            <a:extLst>
              <a:ext uri="{FF2B5EF4-FFF2-40B4-BE49-F238E27FC236}">
                <a16:creationId xmlns:a16="http://schemas.microsoft.com/office/drawing/2014/main" id="{25CA3F7A-4F3F-6812-64F3-09885E4766D5}"/>
              </a:ext>
            </a:extLst>
          </p:cNvPr>
          <p:cNvSpPr txBox="1"/>
          <p:nvPr/>
        </p:nvSpPr>
        <p:spPr>
          <a:xfrm>
            <a:off x="5467739" y="1391923"/>
            <a:ext cx="5197152" cy="3139321"/>
          </a:xfrm>
          <a:prstGeom prst="rect">
            <a:avLst/>
          </a:prstGeom>
          <a:noFill/>
        </p:spPr>
        <p:txBody>
          <a:bodyPr wrap="square">
            <a:spAutoFit/>
          </a:bodyPr>
          <a:lstStyle/>
          <a:p>
            <a:r>
              <a:rPr lang="en-US" b="1" dirty="0"/>
              <a:t>POSIX Example:</a:t>
            </a:r>
          </a:p>
          <a:p>
            <a:endParaRPr lang="en-US" dirty="0"/>
          </a:p>
          <a:p>
            <a:r>
              <a:rPr lang="en-US" dirty="0" err="1"/>
              <a:t>pthread_rwlock_t</a:t>
            </a:r>
            <a:r>
              <a:rPr lang="en-US" dirty="0"/>
              <a:t> </a:t>
            </a:r>
            <a:r>
              <a:rPr lang="en-US" dirty="0" err="1"/>
              <a:t>rwlock</a:t>
            </a:r>
            <a:r>
              <a:rPr lang="en-US" dirty="0"/>
              <a:t>;</a:t>
            </a:r>
          </a:p>
          <a:p>
            <a:endParaRPr lang="en-US" dirty="0"/>
          </a:p>
          <a:p>
            <a:r>
              <a:rPr lang="en-US" dirty="0" err="1"/>
              <a:t>pthread_rwlock_rdlock</a:t>
            </a:r>
            <a:r>
              <a:rPr lang="en-US" dirty="0"/>
              <a:t>(&amp;</a:t>
            </a:r>
            <a:r>
              <a:rPr lang="en-US" dirty="0" err="1"/>
              <a:t>rwlock</a:t>
            </a:r>
            <a:r>
              <a:rPr lang="en-US" dirty="0"/>
              <a:t>);</a:t>
            </a:r>
          </a:p>
          <a:p>
            <a:r>
              <a:rPr lang="en-US" dirty="0"/>
              <a:t>// Read shared data</a:t>
            </a:r>
          </a:p>
          <a:p>
            <a:r>
              <a:rPr lang="en-US" dirty="0" err="1"/>
              <a:t>pthread_rwlock_unlock</a:t>
            </a:r>
            <a:r>
              <a:rPr lang="en-US" dirty="0"/>
              <a:t>(&amp;</a:t>
            </a:r>
            <a:r>
              <a:rPr lang="en-US" dirty="0" err="1"/>
              <a:t>rwlock</a:t>
            </a:r>
            <a:r>
              <a:rPr lang="en-US" dirty="0"/>
              <a:t>);</a:t>
            </a:r>
          </a:p>
          <a:p>
            <a:endParaRPr lang="en-US" dirty="0"/>
          </a:p>
          <a:p>
            <a:r>
              <a:rPr lang="en-US" dirty="0" err="1"/>
              <a:t>pthread_rwlock_wrlock</a:t>
            </a:r>
            <a:r>
              <a:rPr lang="en-US" dirty="0"/>
              <a:t>(&amp;</a:t>
            </a:r>
            <a:r>
              <a:rPr lang="en-US" dirty="0" err="1"/>
              <a:t>rwlock</a:t>
            </a:r>
            <a:r>
              <a:rPr lang="en-US" dirty="0"/>
              <a:t>);</a:t>
            </a:r>
          </a:p>
          <a:p>
            <a:r>
              <a:rPr lang="en-US" dirty="0"/>
              <a:t>// Modify shared data</a:t>
            </a:r>
          </a:p>
          <a:p>
            <a:r>
              <a:rPr lang="en-US" dirty="0" err="1"/>
              <a:t>pthread_rwlock_unlock</a:t>
            </a:r>
            <a:r>
              <a:rPr lang="en-US" dirty="0"/>
              <a:t>(&amp;</a:t>
            </a:r>
            <a:r>
              <a:rPr lang="en-US" dirty="0" err="1"/>
              <a:t>rwlock</a:t>
            </a:r>
            <a:r>
              <a:rPr lang="en-US" dirty="0"/>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F749136-8EFF-2DA4-E893-C3BC899AD22D}"/>
              </a:ext>
            </a:extLst>
          </p:cNvPr>
          <p:cNvSpPr>
            <a:spLocks noGrp="1"/>
          </p:cNvSpPr>
          <p:nvPr>
            <p:ph type="sldNum" sz="quarter" idx="12"/>
          </p:nvPr>
        </p:nvSpPr>
        <p:spPr/>
        <p:txBody>
          <a:bodyPr/>
          <a:lstStyle/>
          <a:p>
            <a:fld id="{CBABCCC1-BF11-4F37-963E-1BCD5B23FD72}" type="slidenum">
              <a:rPr lang="en-IN" smtClean="0"/>
              <a:pPr/>
              <a:t>42</a:t>
            </a:fld>
            <a:endParaRPr lang="en-IN"/>
          </a:p>
        </p:txBody>
      </p:sp>
      <p:pic>
        <p:nvPicPr>
          <p:cNvPr id="6" name="Picture 5">
            <a:extLst>
              <a:ext uri="{FF2B5EF4-FFF2-40B4-BE49-F238E27FC236}">
                <a16:creationId xmlns:a16="http://schemas.microsoft.com/office/drawing/2014/main" id="{EAD4F36F-CC30-67AF-353C-7558ECAB6D8B}"/>
              </a:ext>
            </a:extLst>
          </p:cNvPr>
          <p:cNvPicPr>
            <a:picLocks noChangeAspect="1"/>
          </p:cNvPicPr>
          <p:nvPr/>
        </p:nvPicPr>
        <p:blipFill>
          <a:blip r:embed="rId2" cstate="print"/>
          <a:stretch>
            <a:fillRect/>
          </a:stretch>
        </p:blipFill>
        <p:spPr>
          <a:xfrm>
            <a:off x="0" y="0"/>
            <a:ext cx="1567654" cy="624416"/>
          </a:xfrm>
          <a:prstGeom prst="rect">
            <a:avLst/>
          </a:prstGeom>
        </p:spPr>
      </p:pic>
      <p:sp>
        <p:nvSpPr>
          <p:cNvPr id="8" name="TextBox 7">
            <a:extLst>
              <a:ext uri="{FF2B5EF4-FFF2-40B4-BE49-F238E27FC236}">
                <a16:creationId xmlns:a16="http://schemas.microsoft.com/office/drawing/2014/main" id="{310FB50C-1B56-2EBC-B55E-2720B76A5AD2}"/>
              </a:ext>
            </a:extLst>
          </p:cNvPr>
          <p:cNvSpPr txBox="1"/>
          <p:nvPr/>
        </p:nvSpPr>
        <p:spPr>
          <a:xfrm>
            <a:off x="737117" y="1305342"/>
            <a:ext cx="7707087" cy="4247317"/>
          </a:xfrm>
          <a:prstGeom prst="rect">
            <a:avLst/>
          </a:prstGeom>
          <a:noFill/>
        </p:spPr>
        <p:txBody>
          <a:bodyPr wrap="square">
            <a:spAutoFit/>
          </a:bodyPr>
          <a:lstStyle/>
          <a:p>
            <a:pPr>
              <a:buNone/>
            </a:pPr>
            <a:r>
              <a:rPr lang="en-US" b="1" dirty="0"/>
              <a:t>8. Condition Variables</a:t>
            </a:r>
          </a:p>
          <a:p>
            <a:pPr>
              <a:buNone/>
            </a:pPr>
            <a:r>
              <a:rPr lang="en-US" dirty="0"/>
              <a:t>Condition variables allow threads to wait until a specific condition becomes true.</a:t>
            </a:r>
          </a:p>
          <a:p>
            <a:pPr>
              <a:buNone/>
            </a:pPr>
            <a:endParaRPr lang="en-US" dirty="0"/>
          </a:p>
          <a:p>
            <a:pPr>
              <a:buNone/>
            </a:pPr>
            <a:r>
              <a:rPr lang="en-US" b="1" dirty="0"/>
              <a:t>POSIX Example</a:t>
            </a:r>
          </a:p>
          <a:p>
            <a:pPr rtl="0">
              <a:buNone/>
            </a:pPr>
            <a:r>
              <a:rPr lang="en-US" dirty="0" err="1"/>
              <a:t>pthread_mutex_t</a:t>
            </a:r>
            <a:r>
              <a:rPr lang="en-US" dirty="0"/>
              <a:t> mutex;</a:t>
            </a:r>
          </a:p>
          <a:p>
            <a:pPr rtl="0">
              <a:buNone/>
            </a:pPr>
            <a:r>
              <a:rPr lang="en-US" dirty="0" err="1"/>
              <a:t>pthread_cond_t</a:t>
            </a:r>
            <a:r>
              <a:rPr lang="en-US" dirty="0"/>
              <a:t> </a:t>
            </a:r>
            <a:r>
              <a:rPr lang="en-US" dirty="0" err="1"/>
              <a:t>cond</a:t>
            </a:r>
            <a:r>
              <a:rPr lang="en-US" dirty="0"/>
              <a:t>;</a:t>
            </a:r>
          </a:p>
          <a:p>
            <a:pPr rtl="0">
              <a:buNone/>
            </a:pPr>
            <a:endParaRPr lang="en-US" dirty="0"/>
          </a:p>
          <a:p>
            <a:pPr rtl="0">
              <a:buNone/>
            </a:pPr>
            <a:r>
              <a:rPr lang="en-US" dirty="0" err="1"/>
              <a:t>pthread_mutex_lock</a:t>
            </a:r>
            <a:r>
              <a:rPr lang="en-US" dirty="0"/>
              <a:t>(&amp;mutex);</a:t>
            </a:r>
          </a:p>
          <a:p>
            <a:pPr rtl="0">
              <a:buNone/>
            </a:pPr>
            <a:endParaRPr lang="en-US" dirty="0"/>
          </a:p>
          <a:p>
            <a:pPr rtl="0">
              <a:buNone/>
            </a:pPr>
            <a:r>
              <a:rPr lang="en-US" dirty="0"/>
              <a:t>while(condition == false)</a:t>
            </a:r>
          </a:p>
          <a:p>
            <a:pPr rtl="0">
              <a:buNone/>
            </a:pPr>
            <a:r>
              <a:rPr lang="en-US" dirty="0"/>
              <a:t>{</a:t>
            </a:r>
          </a:p>
          <a:p>
            <a:pPr rtl="0">
              <a:buNone/>
            </a:pPr>
            <a:r>
              <a:rPr lang="en-US" dirty="0"/>
              <a:t>    </a:t>
            </a:r>
            <a:r>
              <a:rPr lang="en-US" dirty="0" err="1"/>
              <a:t>pthread_cond_wait</a:t>
            </a:r>
            <a:r>
              <a:rPr lang="en-US" dirty="0"/>
              <a:t>(&amp;</a:t>
            </a:r>
            <a:r>
              <a:rPr lang="en-US" dirty="0" err="1"/>
              <a:t>cond</a:t>
            </a:r>
            <a:r>
              <a:rPr lang="en-US" dirty="0"/>
              <a:t>, &amp;mutex);</a:t>
            </a:r>
          </a:p>
          <a:p>
            <a:pPr rtl="0">
              <a:buNone/>
            </a:pPr>
            <a:r>
              <a:rPr lang="en-US" dirty="0"/>
              <a:t>}</a:t>
            </a:r>
          </a:p>
          <a:p>
            <a:pPr rtl="0">
              <a:buNone/>
            </a:pPr>
            <a:endParaRPr lang="en-US" dirty="0"/>
          </a:p>
          <a:p>
            <a:pPr rtl="0">
              <a:buNone/>
            </a:pPr>
            <a:r>
              <a:rPr lang="en-US" dirty="0" err="1"/>
              <a:t>pthread_mutex_unlock</a:t>
            </a:r>
            <a:r>
              <a:rPr lang="en-US" dirty="0"/>
              <a:t>(&amp;mutex);</a:t>
            </a:r>
          </a:p>
        </p:txBody>
      </p:sp>
      <p:sp>
        <p:nvSpPr>
          <p:cNvPr id="10" name="TextBox 9">
            <a:extLst>
              <a:ext uri="{FF2B5EF4-FFF2-40B4-BE49-F238E27FC236}">
                <a16:creationId xmlns:a16="http://schemas.microsoft.com/office/drawing/2014/main" id="{42019FCE-BD5B-D3D6-0692-2FFF50C70F79}"/>
              </a:ext>
            </a:extLst>
          </p:cNvPr>
          <p:cNvSpPr txBox="1"/>
          <p:nvPr/>
        </p:nvSpPr>
        <p:spPr>
          <a:xfrm>
            <a:off x="7557796" y="2901820"/>
            <a:ext cx="3582955" cy="1567032"/>
          </a:xfrm>
          <a:prstGeom prst="rect">
            <a:avLst/>
          </a:prstGeom>
          <a:noFill/>
        </p:spPr>
        <p:txBody>
          <a:bodyPr wrap="square">
            <a:spAutoFit/>
          </a:bodyPr>
          <a:lstStyle/>
          <a:p>
            <a:pPr>
              <a:buNone/>
            </a:pPr>
            <a:r>
              <a:rPr lang="en-US" b="1" dirty="0"/>
              <a:t>Signal another thread:</a:t>
            </a:r>
          </a:p>
          <a:p>
            <a:pPr rtl="0">
              <a:lnSpc>
                <a:spcPct val="150000"/>
              </a:lnSpc>
              <a:buNone/>
            </a:pPr>
            <a:r>
              <a:rPr lang="en-US" dirty="0" err="1"/>
              <a:t>pthread_cond_signal</a:t>
            </a:r>
            <a:r>
              <a:rPr lang="en-US" dirty="0"/>
              <a:t>(&amp;</a:t>
            </a:r>
            <a:r>
              <a:rPr lang="en-US" dirty="0" err="1"/>
              <a:t>cond</a:t>
            </a:r>
            <a:r>
              <a:rPr lang="en-US" dirty="0"/>
              <a:t>);</a:t>
            </a:r>
          </a:p>
          <a:p>
            <a:pPr>
              <a:lnSpc>
                <a:spcPct val="150000"/>
              </a:lnSpc>
              <a:buNone/>
            </a:pPr>
            <a:r>
              <a:rPr lang="en-US" dirty="0"/>
              <a:t>Broadcast to all waiting threads:</a:t>
            </a:r>
          </a:p>
          <a:p>
            <a:pPr rtl="0">
              <a:lnSpc>
                <a:spcPct val="150000"/>
              </a:lnSpc>
              <a:buNone/>
            </a:pPr>
            <a:r>
              <a:rPr lang="en-US" dirty="0" err="1"/>
              <a:t>pthread_cond_broadcast</a:t>
            </a:r>
            <a:r>
              <a:rPr lang="en-US" dirty="0"/>
              <a:t>(&amp;</a:t>
            </a:r>
            <a:r>
              <a:rPr lang="en-US" dirty="0" err="1"/>
              <a:t>cond</a:t>
            </a:r>
            <a:r>
              <a:rPr lang="en-US" dirty="0"/>
              <a:t>);</a:t>
            </a:r>
          </a:p>
        </p:txBody>
      </p:sp>
    </p:spTree>
    <p:extLst>
      <p:ext uri="{BB962C8B-B14F-4D97-AF65-F5344CB8AC3E}">
        <p14:creationId xmlns:p14="http://schemas.microsoft.com/office/powerpoint/2010/main" val="8691314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F749136-8EFF-2DA4-E893-C3BC899AD22D}"/>
              </a:ext>
            </a:extLst>
          </p:cNvPr>
          <p:cNvSpPr>
            <a:spLocks noGrp="1"/>
          </p:cNvSpPr>
          <p:nvPr>
            <p:ph type="sldNum" sz="quarter" idx="12"/>
          </p:nvPr>
        </p:nvSpPr>
        <p:spPr/>
        <p:txBody>
          <a:bodyPr/>
          <a:lstStyle/>
          <a:p>
            <a:fld id="{CBABCCC1-BF11-4F37-963E-1BCD5B23FD72}" type="slidenum">
              <a:rPr lang="en-IN" smtClean="0"/>
              <a:pPr/>
              <a:t>43</a:t>
            </a:fld>
            <a:endParaRPr lang="en-IN"/>
          </a:p>
        </p:txBody>
      </p:sp>
      <p:pic>
        <p:nvPicPr>
          <p:cNvPr id="5" name="Picture 4">
            <a:extLst>
              <a:ext uri="{FF2B5EF4-FFF2-40B4-BE49-F238E27FC236}">
                <a16:creationId xmlns:a16="http://schemas.microsoft.com/office/drawing/2014/main" id="{E789A198-234D-1A2B-32E9-E693B247A36B}"/>
              </a:ext>
            </a:extLst>
          </p:cNvPr>
          <p:cNvPicPr>
            <a:picLocks noChangeAspect="1"/>
          </p:cNvPicPr>
          <p:nvPr/>
        </p:nvPicPr>
        <p:blipFill>
          <a:blip r:embed="rId2" cstate="print"/>
          <a:stretch>
            <a:fillRect/>
          </a:stretch>
        </p:blipFill>
        <p:spPr>
          <a:xfrm>
            <a:off x="0" y="0"/>
            <a:ext cx="1567654" cy="624416"/>
          </a:xfrm>
          <a:prstGeom prst="rect">
            <a:avLst/>
          </a:prstGeom>
        </p:spPr>
      </p:pic>
      <p:sp>
        <p:nvSpPr>
          <p:cNvPr id="7" name="TextBox 6">
            <a:extLst>
              <a:ext uri="{FF2B5EF4-FFF2-40B4-BE49-F238E27FC236}">
                <a16:creationId xmlns:a16="http://schemas.microsoft.com/office/drawing/2014/main" id="{F250C346-48AC-E654-7D7F-D055A41C23FE}"/>
              </a:ext>
            </a:extLst>
          </p:cNvPr>
          <p:cNvSpPr txBox="1"/>
          <p:nvPr/>
        </p:nvSpPr>
        <p:spPr>
          <a:xfrm>
            <a:off x="1101012" y="1194319"/>
            <a:ext cx="9563878" cy="4891019"/>
          </a:xfrm>
          <a:prstGeom prst="rect">
            <a:avLst/>
          </a:prstGeom>
          <a:noFill/>
        </p:spPr>
        <p:txBody>
          <a:bodyPr wrap="square">
            <a:spAutoFit/>
          </a:bodyPr>
          <a:lstStyle/>
          <a:p>
            <a:pPr>
              <a:buNone/>
            </a:pPr>
            <a:r>
              <a:rPr lang="en-US" b="1" dirty="0"/>
              <a:t>9. Deadlock Avoidance</a:t>
            </a:r>
          </a:p>
          <a:p>
            <a:pPr>
              <a:lnSpc>
                <a:spcPct val="150000"/>
              </a:lnSpc>
              <a:buNone/>
            </a:pPr>
            <a:r>
              <a:rPr lang="en-US" dirty="0"/>
              <a:t>Deadlock occurs when processes wait indefinitely for resources.</a:t>
            </a:r>
          </a:p>
          <a:p>
            <a:pPr>
              <a:lnSpc>
                <a:spcPct val="150000"/>
              </a:lnSpc>
              <a:buNone/>
            </a:pPr>
            <a:r>
              <a:rPr lang="en-US" b="1" dirty="0"/>
              <a:t>Necessary Conditions</a:t>
            </a:r>
          </a:p>
          <a:p>
            <a:pPr>
              <a:lnSpc>
                <a:spcPct val="150000"/>
              </a:lnSpc>
              <a:buFont typeface="+mj-lt"/>
              <a:buAutoNum type="arabicPeriod"/>
            </a:pPr>
            <a:r>
              <a:rPr lang="en-US" dirty="0"/>
              <a:t>Mutual Exclusion </a:t>
            </a:r>
          </a:p>
          <a:p>
            <a:pPr>
              <a:lnSpc>
                <a:spcPct val="150000"/>
              </a:lnSpc>
              <a:buFont typeface="+mj-lt"/>
              <a:buAutoNum type="arabicPeriod"/>
            </a:pPr>
            <a:r>
              <a:rPr lang="en-US" dirty="0"/>
              <a:t>Hold and Wait </a:t>
            </a:r>
          </a:p>
          <a:p>
            <a:pPr>
              <a:lnSpc>
                <a:spcPct val="150000"/>
              </a:lnSpc>
              <a:buFont typeface="+mj-lt"/>
              <a:buAutoNum type="arabicPeriod"/>
            </a:pPr>
            <a:r>
              <a:rPr lang="en-US" dirty="0"/>
              <a:t>No Preemption </a:t>
            </a:r>
          </a:p>
          <a:p>
            <a:pPr>
              <a:lnSpc>
                <a:spcPct val="150000"/>
              </a:lnSpc>
              <a:buFont typeface="+mj-lt"/>
              <a:buAutoNum type="arabicPeriod"/>
            </a:pPr>
            <a:r>
              <a:rPr lang="en-US" dirty="0"/>
              <a:t>Circular Wait </a:t>
            </a:r>
          </a:p>
          <a:p>
            <a:pPr>
              <a:lnSpc>
                <a:spcPct val="150000"/>
              </a:lnSpc>
              <a:buNone/>
            </a:pPr>
            <a:r>
              <a:rPr lang="en-US" b="1" dirty="0"/>
              <a:t>Avoidance Techniques</a:t>
            </a:r>
          </a:p>
          <a:p>
            <a:pPr marL="285750" indent="-285750">
              <a:lnSpc>
                <a:spcPct val="150000"/>
              </a:lnSpc>
              <a:buFont typeface="Wingdings" panose="05000000000000000000" pitchFamily="2" charset="2"/>
              <a:buChar char="v"/>
            </a:pPr>
            <a:r>
              <a:rPr lang="en-US" dirty="0"/>
              <a:t>Banker's Algorithm </a:t>
            </a:r>
          </a:p>
          <a:p>
            <a:pPr marL="285750" indent="-285750">
              <a:lnSpc>
                <a:spcPct val="150000"/>
              </a:lnSpc>
              <a:buFont typeface="Wingdings" panose="05000000000000000000" pitchFamily="2" charset="2"/>
              <a:buChar char="v"/>
            </a:pPr>
            <a:r>
              <a:rPr lang="en-US" dirty="0"/>
              <a:t>Resource Allocation Graph </a:t>
            </a:r>
          </a:p>
          <a:p>
            <a:pPr marL="285750" indent="-285750">
              <a:lnSpc>
                <a:spcPct val="150000"/>
              </a:lnSpc>
              <a:buFont typeface="Wingdings" panose="05000000000000000000" pitchFamily="2" charset="2"/>
              <a:buChar char="v"/>
            </a:pPr>
            <a:r>
              <a:rPr lang="en-US" dirty="0"/>
              <a:t>Resource Ordering </a:t>
            </a:r>
          </a:p>
          <a:p>
            <a:pPr marL="285750" indent="-285750">
              <a:lnSpc>
                <a:spcPct val="150000"/>
              </a:lnSpc>
              <a:buFont typeface="Wingdings" panose="05000000000000000000" pitchFamily="2" charset="2"/>
              <a:buChar char="v"/>
            </a:pPr>
            <a:r>
              <a:rPr lang="en-US" dirty="0"/>
              <a:t>Timeout Mechanisms</a:t>
            </a:r>
          </a:p>
        </p:txBody>
      </p:sp>
    </p:spTree>
    <p:extLst>
      <p:ext uri="{BB962C8B-B14F-4D97-AF65-F5344CB8AC3E}">
        <p14:creationId xmlns:p14="http://schemas.microsoft.com/office/powerpoint/2010/main" val="39997087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F749136-8EFF-2DA4-E893-C3BC899AD22D}"/>
              </a:ext>
            </a:extLst>
          </p:cNvPr>
          <p:cNvSpPr>
            <a:spLocks noGrp="1"/>
          </p:cNvSpPr>
          <p:nvPr>
            <p:ph type="sldNum" sz="quarter" idx="12"/>
          </p:nvPr>
        </p:nvSpPr>
        <p:spPr/>
        <p:txBody>
          <a:bodyPr/>
          <a:lstStyle/>
          <a:p>
            <a:fld id="{CBABCCC1-BF11-4F37-963E-1BCD5B23FD72}" type="slidenum">
              <a:rPr lang="en-IN" smtClean="0"/>
              <a:pPr/>
              <a:t>44</a:t>
            </a:fld>
            <a:endParaRPr lang="en-IN"/>
          </a:p>
        </p:txBody>
      </p:sp>
      <p:pic>
        <p:nvPicPr>
          <p:cNvPr id="3" name="Picture 2">
            <a:extLst>
              <a:ext uri="{FF2B5EF4-FFF2-40B4-BE49-F238E27FC236}">
                <a16:creationId xmlns:a16="http://schemas.microsoft.com/office/drawing/2014/main" id="{B2D78C3C-503C-AEE4-6E4D-8A87F939303F}"/>
              </a:ext>
            </a:extLst>
          </p:cNvPr>
          <p:cNvPicPr>
            <a:picLocks noChangeAspect="1"/>
          </p:cNvPicPr>
          <p:nvPr/>
        </p:nvPicPr>
        <p:blipFill>
          <a:blip r:embed="rId2" cstate="print"/>
          <a:stretch>
            <a:fillRect/>
          </a:stretch>
        </p:blipFill>
        <p:spPr>
          <a:xfrm>
            <a:off x="0" y="0"/>
            <a:ext cx="1567654" cy="624416"/>
          </a:xfrm>
          <a:prstGeom prst="rect">
            <a:avLst/>
          </a:prstGeom>
        </p:spPr>
      </p:pic>
      <p:sp>
        <p:nvSpPr>
          <p:cNvPr id="7" name="TextBox 6">
            <a:extLst>
              <a:ext uri="{FF2B5EF4-FFF2-40B4-BE49-F238E27FC236}">
                <a16:creationId xmlns:a16="http://schemas.microsoft.com/office/drawing/2014/main" id="{A69E99E9-831F-6E95-F921-6E5DC384C7C2}"/>
              </a:ext>
            </a:extLst>
          </p:cNvPr>
          <p:cNvSpPr txBox="1"/>
          <p:nvPr/>
        </p:nvSpPr>
        <p:spPr>
          <a:xfrm>
            <a:off x="1296955" y="1119673"/>
            <a:ext cx="9283959" cy="2536528"/>
          </a:xfrm>
          <a:prstGeom prst="rect">
            <a:avLst/>
          </a:prstGeom>
          <a:noFill/>
        </p:spPr>
        <p:txBody>
          <a:bodyPr wrap="square">
            <a:spAutoFit/>
          </a:bodyPr>
          <a:lstStyle/>
          <a:p>
            <a:pPr>
              <a:lnSpc>
                <a:spcPct val="150000"/>
              </a:lnSpc>
              <a:buNone/>
            </a:pPr>
            <a:r>
              <a:rPr lang="en-US" b="1" dirty="0"/>
              <a:t>Starvation and Aging</a:t>
            </a:r>
          </a:p>
          <a:p>
            <a:pPr>
              <a:lnSpc>
                <a:spcPct val="150000"/>
              </a:lnSpc>
              <a:buNone/>
            </a:pPr>
            <a:r>
              <a:rPr lang="en-US" b="1" dirty="0"/>
              <a:t>Starvation:</a:t>
            </a:r>
          </a:p>
          <a:p>
            <a:pPr>
              <a:lnSpc>
                <a:spcPct val="150000"/>
              </a:lnSpc>
              <a:buNone/>
            </a:pPr>
            <a:r>
              <a:rPr lang="en-US" dirty="0"/>
              <a:t>A process waits indefinitely because other processes continuously receive priority.</a:t>
            </a:r>
          </a:p>
          <a:p>
            <a:pPr>
              <a:lnSpc>
                <a:spcPct val="150000"/>
              </a:lnSpc>
              <a:buNone/>
            </a:pPr>
            <a:r>
              <a:rPr lang="en-US" b="1" dirty="0"/>
              <a:t>Example:</a:t>
            </a:r>
            <a:r>
              <a:rPr lang="en-US" dirty="0"/>
              <a:t> Low-priority process never gets CPU time.</a:t>
            </a:r>
          </a:p>
          <a:p>
            <a:pPr>
              <a:lnSpc>
                <a:spcPct val="150000"/>
              </a:lnSpc>
              <a:buNone/>
            </a:pPr>
            <a:r>
              <a:rPr lang="en-US" b="1" dirty="0"/>
              <a:t>Aging:</a:t>
            </a:r>
          </a:p>
          <a:p>
            <a:pPr>
              <a:lnSpc>
                <a:spcPct val="150000"/>
              </a:lnSpc>
              <a:buNone/>
            </a:pPr>
            <a:r>
              <a:rPr lang="en-US" dirty="0"/>
              <a:t>Gradually increases the priority of waiting processes to ensure they eventually execute.</a:t>
            </a:r>
          </a:p>
        </p:txBody>
      </p:sp>
    </p:spTree>
    <p:extLst>
      <p:ext uri="{BB962C8B-B14F-4D97-AF65-F5344CB8AC3E}">
        <p14:creationId xmlns:p14="http://schemas.microsoft.com/office/powerpoint/2010/main" val="9517518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F749136-8EFF-2DA4-E893-C3BC899AD22D}"/>
              </a:ext>
            </a:extLst>
          </p:cNvPr>
          <p:cNvSpPr>
            <a:spLocks noGrp="1"/>
          </p:cNvSpPr>
          <p:nvPr>
            <p:ph type="sldNum" sz="quarter" idx="12"/>
          </p:nvPr>
        </p:nvSpPr>
        <p:spPr/>
        <p:txBody>
          <a:bodyPr/>
          <a:lstStyle/>
          <a:p>
            <a:fld id="{CBABCCC1-BF11-4F37-963E-1BCD5B23FD72}" type="slidenum">
              <a:rPr lang="en-IN" smtClean="0"/>
              <a:pPr/>
              <a:t>45</a:t>
            </a:fld>
            <a:endParaRPr lang="en-IN"/>
          </a:p>
        </p:txBody>
      </p:sp>
      <p:pic>
        <p:nvPicPr>
          <p:cNvPr id="6" name="Picture 5">
            <a:extLst>
              <a:ext uri="{FF2B5EF4-FFF2-40B4-BE49-F238E27FC236}">
                <a16:creationId xmlns:a16="http://schemas.microsoft.com/office/drawing/2014/main" id="{D056E55B-509E-493F-ABBF-A6A888FD484B}"/>
              </a:ext>
            </a:extLst>
          </p:cNvPr>
          <p:cNvPicPr>
            <a:picLocks noChangeAspect="1"/>
          </p:cNvPicPr>
          <p:nvPr/>
        </p:nvPicPr>
        <p:blipFill>
          <a:blip r:embed="rId2" cstate="print"/>
          <a:stretch>
            <a:fillRect/>
          </a:stretch>
        </p:blipFill>
        <p:spPr>
          <a:xfrm>
            <a:off x="0" y="0"/>
            <a:ext cx="1567654" cy="624416"/>
          </a:xfrm>
          <a:prstGeom prst="rect">
            <a:avLst/>
          </a:prstGeom>
        </p:spPr>
      </p:pic>
      <p:sp>
        <p:nvSpPr>
          <p:cNvPr id="7" name="TextBox 6">
            <a:extLst>
              <a:ext uri="{FF2B5EF4-FFF2-40B4-BE49-F238E27FC236}">
                <a16:creationId xmlns:a16="http://schemas.microsoft.com/office/drawing/2014/main" id="{AD938961-F49A-5FD6-73D5-29A80FDC7763}"/>
              </a:ext>
            </a:extLst>
          </p:cNvPr>
          <p:cNvSpPr txBox="1"/>
          <p:nvPr/>
        </p:nvSpPr>
        <p:spPr>
          <a:xfrm>
            <a:off x="830423" y="1110343"/>
            <a:ext cx="10832841" cy="2536528"/>
          </a:xfrm>
          <a:prstGeom prst="rect">
            <a:avLst/>
          </a:prstGeom>
          <a:noFill/>
        </p:spPr>
        <p:txBody>
          <a:bodyPr wrap="square">
            <a:spAutoFit/>
          </a:bodyPr>
          <a:lstStyle/>
          <a:p>
            <a:pPr>
              <a:lnSpc>
                <a:spcPct val="150000"/>
              </a:lnSpc>
              <a:buNone/>
            </a:pPr>
            <a:r>
              <a:rPr lang="en-US" b="1" dirty="0" err="1"/>
              <a:t>Livelock</a:t>
            </a:r>
            <a:endParaRPr lang="en-US" b="1" dirty="0"/>
          </a:p>
          <a:p>
            <a:pPr>
              <a:lnSpc>
                <a:spcPct val="150000"/>
              </a:lnSpc>
              <a:buNone/>
            </a:pPr>
            <a:r>
              <a:rPr lang="en-US" dirty="0"/>
              <a:t>A </a:t>
            </a:r>
            <a:r>
              <a:rPr lang="en-US" b="1" dirty="0" err="1"/>
              <a:t>Livelock</a:t>
            </a:r>
            <a:r>
              <a:rPr lang="en-US" dirty="0"/>
              <a:t> occurs when processes continuously change their state in response to each other but make no actual progress.</a:t>
            </a:r>
          </a:p>
          <a:p>
            <a:pPr>
              <a:lnSpc>
                <a:spcPct val="150000"/>
              </a:lnSpc>
              <a:buNone/>
            </a:pPr>
            <a:r>
              <a:rPr lang="en-US" b="1" dirty="0"/>
              <a:t>Example</a:t>
            </a:r>
          </a:p>
          <a:p>
            <a:pPr>
              <a:lnSpc>
                <a:spcPct val="150000"/>
              </a:lnSpc>
              <a:buNone/>
            </a:pPr>
            <a:r>
              <a:rPr lang="en-US" dirty="0"/>
              <a:t>Two people repeatedly step aside in the same direction to let the other pass, preventing either from moving forward.</a:t>
            </a:r>
          </a:p>
        </p:txBody>
      </p:sp>
    </p:spTree>
    <p:extLst>
      <p:ext uri="{BB962C8B-B14F-4D97-AF65-F5344CB8AC3E}">
        <p14:creationId xmlns:p14="http://schemas.microsoft.com/office/powerpoint/2010/main" val="37384754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F749136-8EFF-2DA4-E893-C3BC899AD22D}"/>
              </a:ext>
            </a:extLst>
          </p:cNvPr>
          <p:cNvSpPr>
            <a:spLocks noGrp="1"/>
          </p:cNvSpPr>
          <p:nvPr>
            <p:ph type="sldNum" sz="quarter" idx="12"/>
          </p:nvPr>
        </p:nvSpPr>
        <p:spPr/>
        <p:txBody>
          <a:bodyPr/>
          <a:lstStyle/>
          <a:p>
            <a:fld id="{CBABCCC1-BF11-4F37-963E-1BCD5B23FD72}" type="slidenum">
              <a:rPr lang="en-IN" smtClean="0"/>
              <a:pPr/>
              <a:t>46</a:t>
            </a:fld>
            <a:endParaRPr lang="en-IN"/>
          </a:p>
        </p:txBody>
      </p:sp>
      <p:pic>
        <p:nvPicPr>
          <p:cNvPr id="3" name="Picture 2">
            <a:extLst>
              <a:ext uri="{FF2B5EF4-FFF2-40B4-BE49-F238E27FC236}">
                <a16:creationId xmlns:a16="http://schemas.microsoft.com/office/drawing/2014/main" id="{2F2D5B6F-FEC5-924E-7FC0-9BAA3333CFDD}"/>
              </a:ext>
            </a:extLst>
          </p:cNvPr>
          <p:cNvPicPr>
            <a:picLocks noChangeAspect="1"/>
          </p:cNvPicPr>
          <p:nvPr/>
        </p:nvPicPr>
        <p:blipFill>
          <a:blip r:embed="rId2" cstate="print"/>
          <a:stretch>
            <a:fillRect/>
          </a:stretch>
        </p:blipFill>
        <p:spPr>
          <a:xfrm>
            <a:off x="0" y="0"/>
            <a:ext cx="1567654" cy="624416"/>
          </a:xfrm>
          <a:prstGeom prst="rect">
            <a:avLst/>
          </a:prstGeom>
        </p:spPr>
      </p:pic>
      <p:graphicFrame>
        <p:nvGraphicFramePr>
          <p:cNvPr id="5" name="Table 4">
            <a:extLst>
              <a:ext uri="{FF2B5EF4-FFF2-40B4-BE49-F238E27FC236}">
                <a16:creationId xmlns:a16="http://schemas.microsoft.com/office/drawing/2014/main" id="{DB0206B5-E46A-8EAA-0AD0-3ED92FC94B81}"/>
              </a:ext>
            </a:extLst>
          </p:cNvPr>
          <p:cNvGraphicFramePr>
            <a:graphicFrameLocks noGrp="1"/>
          </p:cNvGraphicFramePr>
          <p:nvPr>
            <p:extLst>
              <p:ext uri="{D42A27DB-BD31-4B8C-83A1-F6EECF244321}">
                <p14:modId xmlns:p14="http://schemas.microsoft.com/office/powerpoint/2010/main" val="3627536902"/>
              </p:ext>
            </p:extLst>
          </p:nvPr>
        </p:nvGraphicFramePr>
        <p:xfrm>
          <a:off x="1437025" y="1610290"/>
          <a:ext cx="6354036" cy="2862176"/>
        </p:xfrm>
        <a:graphic>
          <a:graphicData uri="http://schemas.openxmlformats.org/drawingml/2006/table">
            <a:tbl>
              <a:tblPr>
                <a:tableStyleId>{5940675A-B579-460E-94D1-54222C63F5DA}</a:tableStyleId>
              </a:tblPr>
              <a:tblGrid>
                <a:gridCol w="2463921">
                  <a:extLst>
                    <a:ext uri="{9D8B030D-6E8A-4147-A177-3AD203B41FA5}">
                      <a16:colId xmlns:a16="http://schemas.microsoft.com/office/drawing/2014/main" val="3288572281"/>
                    </a:ext>
                  </a:extLst>
                </a:gridCol>
                <a:gridCol w="3890115">
                  <a:extLst>
                    <a:ext uri="{9D8B030D-6E8A-4147-A177-3AD203B41FA5}">
                      <a16:colId xmlns:a16="http://schemas.microsoft.com/office/drawing/2014/main" val="31589977"/>
                    </a:ext>
                  </a:extLst>
                </a:gridCol>
              </a:tblGrid>
              <a:tr h="715544">
                <a:tc>
                  <a:txBody>
                    <a:bodyPr/>
                    <a:lstStyle/>
                    <a:p>
                      <a:pPr algn="ctr">
                        <a:buNone/>
                      </a:pPr>
                      <a:r>
                        <a:rPr lang="en-US" sz="1800" b="1" dirty="0"/>
                        <a:t>Deadlock</a:t>
                      </a:r>
                    </a:p>
                  </a:txBody>
                  <a:tcPr anchor="ctr"/>
                </a:tc>
                <a:tc>
                  <a:txBody>
                    <a:bodyPr/>
                    <a:lstStyle/>
                    <a:p>
                      <a:pPr algn="ctr">
                        <a:buNone/>
                      </a:pPr>
                      <a:r>
                        <a:rPr lang="en-US" sz="1800" b="1" dirty="0" err="1"/>
                        <a:t>Livelock</a:t>
                      </a:r>
                      <a:endParaRPr lang="en-US" sz="1800" b="1" dirty="0"/>
                    </a:p>
                  </a:txBody>
                  <a:tcPr anchor="ctr"/>
                </a:tc>
                <a:extLst>
                  <a:ext uri="{0D108BD9-81ED-4DB2-BD59-A6C34878D82A}">
                    <a16:rowId xmlns:a16="http://schemas.microsoft.com/office/drawing/2014/main" val="9903616"/>
                  </a:ext>
                </a:extLst>
              </a:tr>
              <a:tr h="715544">
                <a:tc>
                  <a:txBody>
                    <a:bodyPr/>
                    <a:lstStyle/>
                    <a:p>
                      <a:pPr algn="ctr">
                        <a:buNone/>
                      </a:pPr>
                      <a:r>
                        <a:rPr lang="en-US" sz="1800" dirty="0"/>
                        <a:t>Processes are blocked</a:t>
                      </a:r>
                    </a:p>
                  </a:txBody>
                  <a:tcPr anchor="ctr"/>
                </a:tc>
                <a:tc>
                  <a:txBody>
                    <a:bodyPr/>
                    <a:lstStyle/>
                    <a:p>
                      <a:pPr algn="ctr">
                        <a:buNone/>
                      </a:pPr>
                      <a:r>
                        <a:rPr lang="en-US" sz="1800" dirty="0"/>
                        <a:t>Processes remain active</a:t>
                      </a:r>
                    </a:p>
                  </a:txBody>
                  <a:tcPr anchor="ctr"/>
                </a:tc>
                <a:extLst>
                  <a:ext uri="{0D108BD9-81ED-4DB2-BD59-A6C34878D82A}">
                    <a16:rowId xmlns:a16="http://schemas.microsoft.com/office/drawing/2014/main" val="2438244695"/>
                  </a:ext>
                </a:extLst>
              </a:tr>
              <a:tr h="715544">
                <a:tc>
                  <a:txBody>
                    <a:bodyPr/>
                    <a:lstStyle/>
                    <a:p>
                      <a:pPr algn="ctr">
                        <a:buNone/>
                      </a:pPr>
                      <a:r>
                        <a:rPr lang="en-US" sz="1800" dirty="0"/>
                        <a:t>No state changes</a:t>
                      </a:r>
                    </a:p>
                  </a:txBody>
                  <a:tcPr anchor="ctr"/>
                </a:tc>
                <a:tc>
                  <a:txBody>
                    <a:bodyPr/>
                    <a:lstStyle/>
                    <a:p>
                      <a:pPr algn="ctr">
                        <a:buNone/>
                      </a:pPr>
                      <a:r>
                        <a:rPr lang="en-US" sz="1800" dirty="0"/>
                        <a:t>State changes continuously</a:t>
                      </a:r>
                    </a:p>
                  </a:txBody>
                  <a:tcPr anchor="ctr"/>
                </a:tc>
                <a:extLst>
                  <a:ext uri="{0D108BD9-81ED-4DB2-BD59-A6C34878D82A}">
                    <a16:rowId xmlns:a16="http://schemas.microsoft.com/office/drawing/2014/main" val="359667025"/>
                  </a:ext>
                </a:extLst>
              </a:tr>
              <a:tr h="715544">
                <a:tc>
                  <a:txBody>
                    <a:bodyPr/>
                    <a:lstStyle/>
                    <a:p>
                      <a:pPr algn="ctr">
                        <a:buNone/>
                      </a:pPr>
                      <a:r>
                        <a:rPr lang="en-US" sz="1800"/>
                        <a:t>No CPU usage</a:t>
                      </a:r>
                    </a:p>
                  </a:txBody>
                  <a:tcPr anchor="ctr"/>
                </a:tc>
                <a:tc>
                  <a:txBody>
                    <a:bodyPr/>
                    <a:lstStyle/>
                    <a:p>
                      <a:pPr algn="ctr">
                        <a:buNone/>
                      </a:pPr>
                      <a:r>
                        <a:rPr lang="en-US" sz="1800" dirty="0"/>
                        <a:t>CPU continues to be used</a:t>
                      </a:r>
                    </a:p>
                  </a:txBody>
                  <a:tcPr anchor="ctr"/>
                </a:tc>
                <a:extLst>
                  <a:ext uri="{0D108BD9-81ED-4DB2-BD59-A6C34878D82A}">
                    <a16:rowId xmlns:a16="http://schemas.microsoft.com/office/drawing/2014/main" val="880002123"/>
                  </a:ext>
                </a:extLst>
              </a:tr>
            </a:tbl>
          </a:graphicData>
        </a:graphic>
      </p:graphicFrame>
      <p:sp>
        <p:nvSpPr>
          <p:cNvPr id="7" name="TextBox 6">
            <a:extLst>
              <a:ext uri="{FF2B5EF4-FFF2-40B4-BE49-F238E27FC236}">
                <a16:creationId xmlns:a16="http://schemas.microsoft.com/office/drawing/2014/main" id="{31700107-2FB1-96E6-B463-0635B91BFD74}"/>
              </a:ext>
            </a:extLst>
          </p:cNvPr>
          <p:cNvSpPr txBox="1"/>
          <p:nvPr/>
        </p:nvSpPr>
        <p:spPr>
          <a:xfrm>
            <a:off x="1437025" y="932687"/>
            <a:ext cx="7585676" cy="369332"/>
          </a:xfrm>
          <a:prstGeom prst="rect">
            <a:avLst/>
          </a:prstGeom>
          <a:noFill/>
        </p:spPr>
        <p:txBody>
          <a:bodyPr wrap="square">
            <a:spAutoFit/>
          </a:bodyPr>
          <a:lstStyle/>
          <a:p>
            <a:pPr>
              <a:buNone/>
            </a:pPr>
            <a:r>
              <a:rPr lang="en-US" b="1" dirty="0"/>
              <a:t>Difference Between Deadlock and </a:t>
            </a:r>
            <a:r>
              <a:rPr lang="en-US" b="1" dirty="0" err="1"/>
              <a:t>Livelock</a:t>
            </a:r>
            <a:endParaRPr lang="en-US" b="1" dirty="0"/>
          </a:p>
        </p:txBody>
      </p:sp>
    </p:spTree>
    <p:extLst>
      <p:ext uri="{BB962C8B-B14F-4D97-AF65-F5344CB8AC3E}">
        <p14:creationId xmlns:p14="http://schemas.microsoft.com/office/powerpoint/2010/main" val="33126794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F749136-8EFF-2DA4-E893-C3BC899AD22D}"/>
              </a:ext>
            </a:extLst>
          </p:cNvPr>
          <p:cNvSpPr>
            <a:spLocks noGrp="1"/>
          </p:cNvSpPr>
          <p:nvPr>
            <p:ph type="sldNum" sz="quarter" idx="12"/>
          </p:nvPr>
        </p:nvSpPr>
        <p:spPr/>
        <p:txBody>
          <a:bodyPr/>
          <a:lstStyle/>
          <a:p>
            <a:fld id="{CBABCCC1-BF11-4F37-963E-1BCD5B23FD72}" type="slidenum">
              <a:rPr lang="en-IN" smtClean="0"/>
              <a:pPr/>
              <a:t>47</a:t>
            </a:fld>
            <a:endParaRPr lang="en-IN"/>
          </a:p>
        </p:txBody>
      </p:sp>
      <p:pic>
        <p:nvPicPr>
          <p:cNvPr id="3" name="Picture 2">
            <a:extLst>
              <a:ext uri="{FF2B5EF4-FFF2-40B4-BE49-F238E27FC236}">
                <a16:creationId xmlns:a16="http://schemas.microsoft.com/office/drawing/2014/main" id="{2F2D5B6F-FEC5-924E-7FC0-9BAA3333CFDD}"/>
              </a:ext>
            </a:extLst>
          </p:cNvPr>
          <p:cNvPicPr>
            <a:picLocks noChangeAspect="1"/>
          </p:cNvPicPr>
          <p:nvPr/>
        </p:nvPicPr>
        <p:blipFill>
          <a:blip r:embed="rId2" cstate="print"/>
          <a:stretch>
            <a:fillRect/>
          </a:stretch>
        </p:blipFill>
        <p:spPr>
          <a:xfrm>
            <a:off x="0" y="0"/>
            <a:ext cx="1567654" cy="624416"/>
          </a:xfrm>
          <a:prstGeom prst="rect">
            <a:avLst/>
          </a:prstGeom>
        </p:spPr>
      </p:pic>
      <p:graphicFrame>
        <p:nvGraphicFramePr>
          <p:cNvPr id="5" name="Table 4">
            <a:extLst>
              <a:ext uri="{FF2B5EF4-FFF2-40B4-BE49-F238E27FC236}">
                <a16:creationId xmlns:a16="http://schemas.microsoft.com/office/drawing/2014/main" id="{DD3880BF-B3B7-66D5-9A42-5B2EDDA2E264}"/>
              </a:ext>
            </a:extLst>
          </p:cNvPr>
          <p:cNvGraphicFramePr>
            <a:graphicFrameLocks noGrp="1"/>
          </p:cNvGraphicFramePr>
          <p:nvPr>
            <p:extLst>
              <p:ext uri="{D42A27DB-BD31-4B8C-83A1-F6EECF244321}">
                <p14:modId xmlns:p14="http://schemas.microsoft.com/office/powerpoint/2010/main" val="353138622"/>
              </p:ext>
            </p:extLst>
          </p:nvPr>
        </p:nvGraphicFramePr>
        <p:xfrm>
          <a:off x="914400" y="1418252"/>
          <a:ext cx="8573868" cy="4189447"/>
        </p:xfrm>
        <a:graphic>
          <a:graphicData uri="http://schemas.openxmlformats.org/drawingml/2006/table">
            <a:tbl>
              <a:tblPr>
                <a:tableStyleId>{5940675A-B579-460E-94D1-54222C63F5DA}</a:tableStyleId>
              </a:tblPr>
              <a:tblGrid>
                <a:gridCol w="1684916">
                  <a:extLst>
                    <a:ext uri="{9D8B030D-6E8A-4147-A177-3AD203B41FA5}">
                      <a16:colId xmlns:a16="http://schemas.microsoft.com/office/drawing/2014/main" val="217652374"/>
                    </a:ext>
                  </a:extLst>
                </a:gridCol>
                <a:gridCol w="1722238">
                  <a:extLst>
                    <a:ext uri="{9D8B030D-6E8A-4147-A177-3AD203B41FA5}">
                      <a16:colId xmlns:a16="http://schemas.microsoft.com/office/drawing/2014/main" val="3519071671"/>
                    </a:ext>
                  </a:extLst>
                </a:gridCol>
                <a:gridCol w="1722238">
                  <a:extLst>
                    <a:ext uri="{9D8B030D-6E8A-4147-A177-3AD203B41FA5}">
                      <a16:colId xmlns:a16="http://schemas.microsoft.com/office/drawing/2014/main" val="2789272536"/>
                    </a:ext>
                  </a:extLst>
                </a:gridCol>
                <a:gridCol w="1722238">
                  <a:extLst>
                    <a:ext uri="{9D8B030D-6E8A-4147-A177-3AD203B41FA5}">
                      <a16:colId xmlns:a16="http://schemas.microsoft.com/office/drawing/2014/main" val="4071940790"/>
                    </a:ext>
                  </a:extLst>
                </a:gridCol>
                <a:gridCol w="1722238">
                  <a:extLst>
                    <a:ext uri="{9D8B030D-6E8A-4147-A177-3AD203B41FA5}">
                      <a16:colId xmlns:a16="http://schemas.microsoft.com/office/drawing/2014/main" val="1191761910"/>
                    </a:ext>
                  </a:extLst>
                </a:gridCol>
              </a:tblGrid>
              <a:tr h="523681">
                <a:tc>
                  <a:txBody>
                    <a:bodyPr/>
                    <a:lstStyle/>
                    <a:p>
                      <a:pPr algn="ctr">
                        <a:buNone/>
                      </a:pPr>
                      <a:r>
                        <a:rPr lang="en-US" sz="1200" b="1" dirty="0"/>
                        <a:t>Mechanism</a:t>
                      </a:r>
                    </a:p>
                  </a:txBody>
                  <a:tcPr marL="61601" marR="61601" marT="30800" marB="30800" anchor="ctr"/>
                </a:tc>
                <a:tc>
                  <a:txBody>
                    <a:bodyPr/>
                    <a:lstStyle/>
                    <a:p>
                      <a:pPr algn="ctr">
                        <a:buNone/>
                      </a:pPr>
                      <a:r>
                        <a:rPr lang="en-US" sz="1200" b="1" dirty="0"/>
                        <a:t>Busy Waiting</a:t>
                      </a:r>
                    </a:p>
                  </a:txBody>
                  <a:tcPr marL="61601" marR="61601" marT="30800" marB="30800" anchor="ctr"/>
                </a:tc>
                <a:tc>
                  <a:txBody>
                    <a:bodyPr/>
                    <a:lstStyle/>
                    <a:p>
                      <a:pPr algn="ctr">
                        <a:buNone/>
                      </a:pPr>
                      <a:r>
                        <a:rPr lang="en-US" sz="1200" b="1"/>
                        <a:t>Sleep/Block</a:t>
                      </a:r>
                    </a:p>
                  </a:txBody>
                  <a:tcPr marL="61601" marR="61601" marT="30800" marB="30800" anchor="ctr"/>
                </a:tc>
                <a:tc>
                  <a:txBody>
                    <a:bodyPr/>
                    <a:lstStyle/>
                    <a:p>
                      <a:pPr algn="ctr">
                        <a:buNone/>
                      </a:pPr>
                      <a:r>
                        <a:rPr lang="en-US" sz="1200" b="1"/>
                        <a:t>Multiple Threads Allowed</a:t>
                      </a:r>
                    </a:p>
                  </a:txBody>
                  <a:tcPr marL="61601" marR="61601" marT="30800" marB="30800" anchor="ctr"/>
                </a:tc>
                <a:tc>
                  <a:txBody>
                    <a:bodyPr/>
                    <a:lstStyle/>
                    <a:p>
                      <a:pPr algn="ctr">
                        <a:buNone/>
                      </a:pPr>
                      <a:r>
                        <a:rPr lang="en-US" sz="1200" b="1" dirty="0"/>
                        <a:t>Best Use</a:t>
                      </a:r>
                    </a:p>
                  </a:txBody>
                  <a:tcPr marL="61601" marR="61601" marT="30800" marB="30800" anchor="ctr"/>
                </a:tc>
                <a:extLst>
                  <a:ext uri="{0D108BD9-81ED-4DB2-BD59-A6C34878D82A}">
                    <a16:rowId xmlns:a16="http://schemas.microsoft.com/office/drawing/2014/main" val="1989813312"/>
                  </a:ext>
                </a:extLst>
              </a:tr>
              <a:tr h="299246">
                <a:tc>
                  <a:txBody>
                    <a:bodyPr/>
                    <a:lstStyle/>
                    <a:p>
                      <a:pPr algn="ctr">
                        <a:buNone/>
                      </a:pPr>
                      <a:r>
                        <a:rPr lang="en-US" sz="1200"/>
                        <a:t>Mutex</a:t>
                      </a:r>
                    </a:p>
                  </a:txBody>
                  <a:tcPr marL="61601" marR="61601" marT="30800" marB="30800" anchor="ctr"/>
                </a:tc>
                <a:tc>
                  <a:txBody>
                    <a:bodyPr/>
                    <a:lstStyle/>
                    <a:p>
                      <a:pPr algn="ctr">
                        <a:buNone/>
                      </a:pPr>
                      <a:r>
                        <a:rPr lang="en-US" sz="1200" dirty="0"/>
                        <a:t>No</a:t>
                      </a:r>
                    </a:p>
                  </a:txBody>
                  <a:tcPr marL="61601" marR="61601" marT="30800" marB="30800" anchor="ctr"/>
                </a:tc>
                <a:tc>
                  <a:txBody>
                    <a:bodyPr/>
                    <a:lstStyle/>
                    <a:p>
                      <a:pPr algn="ctr">
                        <a:buNone/>
                      </a:pPr>
                      <a:r>
                        <a:rPr lang="en-US" sz="1200"/>
                        <a:t>Yes</a:t>
                      </a:r>
                    </a:p>
                  </a:txBody>
                  <a:tcPr marL="61601" marR="61601" marT="30800" marB="30800" anchor="ctr"/>
                </a:tc>
                <a:tc>
                  <a:txBody>
                    <a:bodyPr/>
                    <a:lstStyle/>
                    <a:p>
                      <a:pPr algn="ctr">
                        <a:buNone/>
                      </a:pPr>
                      <a:r>
                        <a:rPr lang="en-US" sz="1200"/>
                        <a:t>No</a:t>
                      </a:r>
                    </a:p>
                  </a:txBody>
                  <a:tcPr marL="61601" marR="61601" marT="30800" marB="30800" anchor="ctr"/>
                </a:tc>
                <a:tc>
                  <a:txBody>
                    <a:bodyPr/>
                    <a:lstStyle/>
                    <a:p>
                      <a:pPr algn="ctr">
                        <a:buNone/>
                      </a:pPr>
                      <a:r>
                        <a:rPr lang="en-US" sz="1200"/>
                        <a:t>Mutual exclusion</a:t>
                      </a:r>
                    </a:p>
                  </a:txBody>
                  <a:tcPr marL="61601" marR="61601" marT="30800" marB="30800" anchor="ctr"/>
                </a:tc>
                <a:extLst>
                  <a:ext uri="{0D108BD9-81ED-4DB2-BD59-A6C34878D82A}">
                    <a16:rowId xmlns:a16="http://schemas.microsoft.com/office/drawing/2014/main" val="2902582781"/>
                  </a:ext>
                </a:extLst>
              </a:tr>
              <a:tr h="523681">
                <a:tc>
                  <a:txBody>
                    <a:bodyPr/>
                    <a:lstStyle/>
                    <a:p>
                      <a:pPr algn="ctr">
                        <a:buNone/>
                      </a:pPr>
                      <a:r>
                        <a:rPr lang="en-US" sz="1200"/>
                        <a:t>Semaphore</a:t>
                      </a:r>
                    </a:p>
                  </a:txBody>
                  <a:tcPr marL="61601" marR="61601" marT="30800" marB="30800" anchor="ctr"/>
                </a:tc>
                <a:tc>
                  <a:txBody>
                    <a:bodyPr/>
                    <a:lstStyle/>
                    <a:p>
                      <a:pPr algn="ctr">
                        <a:buNone/>
                      </a:pPr>
                      <a:r>
                        <a:rPr lang="en-US" sz="1200" dirty="0"/>
                        <a:t>Optional</a:t>
                      </a:r>
                    </a:p>
                  </a:txBody>
                  <a:tcPr marL="61601" marR="61601" marT="30800" marB="30800" anchor="ctr"/>
                </a:tc>
                <a:tc>
                  <a:txBody>
                    <a:bodyPr/>
                    <a:lstStyle/>
                    <a:p>
                      <a:pPr algn="ctr">
                        <a:buNone/>
                      </a:pPr>
                      <a:r>
                        <a:rPr lang="en-US" sz="1200" dirty="0"/>
                        <a:t>Yes</a:t>
                      </a:r>
                    </a:p>
                  </a:txBody>
                  <a:tcPr marL="61601" marR="61601" marT="30800" marB="30800" anchor="ctr"/>
                </a:tc>
                <a:tc>
                  <a:txBody>
                    <a:bodyPr/>
                    <a:lstStyle/>
                    <a:p>
                      <a:pPr algn="ctr">
                        <a:buNone/>
                      </a:pPr>
                      <a:r>
                        <a:rPr lang="en-US" sz="1200"/>
                        <a:t>Yes</a:t>
                      </a:r>
                    </a:p>
                  </a:txBody>
                  <a:tcPr marL="61601" marR="61601" marT="30800" marB="30800" anchor="ctr"/>
                </a:tc>
                <a:tc>
                  <a:txBody>
                    <a:bodyPr/>
                    <a:lstStyle/>
                    <a:p>
                      <a:pPr algn="ctr">
                        <a:buNone/>
                      </a:pPr>
                      <a:r>
                        <a:rPr lang="en-US" sz="1200"/>
                        <a:t>Resource management</a:t>
                      </a:r>
                    </a:p>
                  </a:txBody>
                  <a:tcPr marL="61601" marR="61601" marT="30800" marB="30800" anchor="ctr"/>
                </a:tc>
                <a:extLst>
                  <a:ext uri="{0D108BD9-81ED-4DB2-BD59-A6C34878D82A}">
                    <a16:rowId xmlns:a16="http://schemas.microsoft.com/office/drawing/2014/main" val="2735424170"/>
                  </a:ext>
                </a:extLst>
              </a:tr>
              <a:tr h="523681">
                <a:tc>
                  <a:txBody>
                    <a:bodyPr/>
                    <a:lstStyle/>
                    <a:p>
                      <a:pPr algn="ctr">
                        <a:buNone/>
                      </a:pPr>
                      <a:r>
                        <a:rPr lang="en-US" sz="1200"/>
                        <a:t>Monitor</a:t>
                      </a:r>
                    </a:p>
                  </a:txBody>
                  <a:tcPr marL="61601" marR="61601" marT="30800" marB="30800" anchor="ctr"/>
                </a:tc>
                <a:tc>
                  <a:txBody>
                    <a:bodyPr/>
                    <a:lstStyle/>
                    <a:p>
                      <a:pPr algn="ctr">
                        <a:buNone/>
                      </a:pPr>
                      <a:r>
                        <a:rPr lang="en-US" sz="1200"/>
                        <a:t>No</a:t>
                      </a:r>
                    </a:p>
                  </a:txBody>
                  <a:tcPr marL="61601" marR="61601" marT="30800" marB="30800" anchor="ctr"/>
                </a:tc>
                <a:tc>
                  <a:txBody>
                    <a:bodyPr/>
                    <a:lstStyle/>
                    <a:p>
                      <a:pPr algn="ctr">
                        <a:buNone/>
                      </a:pPr>
                      <a:r>
                        <a:rPr lang="en-US" sz="1200" dirty="0"/>
                        <a:t>Yes</a:t>
                      </a:r>
                    </a:p>
                  </a:txBody>
                  <a:tcPr marL="61601" marR="61601" marT="30800" marB="30800" anchor="ctr"/>
                </a:tc>
                <a:tc>
                  <a:txBody>
                    <a:bodyPr/>
                    <a:lstStyle/>
                    <a:p>
                      <a:pPr algn="ctr">
                        <a:buNone/>
                      </a:pPr>
                      <a:r>
                        <a:rPr lang="en-US" sz="1200"/>
                        <a:t>Yes</a:t>
                      </a:r>
                    </a:p>
                  </a:txBody>
                  <a:tcPr marL="61601" marR="61601" marT="30800" marB="30800" anchor="ctr"/>
                </a:tc>
                <a:tc>
                  <a:txBody>
                    <a:bodyPr/>
                    <a:lstStyle/>
                    <a:p>
                      <a:pPr algn="ctr">
                        <a:buNone/>
                      </a:pPr>
                      <a:r>
                        <a:rPr lang="en-US" sz="1200"/>
                        <a:t>High-level synchronization</a:t>
                      </a:r>
                    </a:p>
                  </a:txBody>
                  <a:tcPr marL="61601" marR="61601" marT="30800" marB="30800" anchor="ctr"/>
                </a:tc>
                <a:extLst>
                  <a:ext uri="{0D108BD9-81ED-4DB2-BD59-A6C34878D82A}">
                    <a16:rowId xmlns:a16="http://schemas.microsoft.com/office/drawing/2014/main" val="357178474"/>
                  </a:ext>
                </a:extLst>
              </a:tr>
              <a:tr h="523681">
                <a:tc>
                  <a:txBody>
                    <a:bodyPr/>
                    <a:lstStyle/>
                    <a:p>
                      <a:pPr algn="ctr">
                        <a:buNone/>
                      </a:pPr>
                      <a:r>
                        <a:rPr lang="en-US" sz="1200"/>
                        <a:t>Spinlock</a:t>
                      </a:r>
                    </a:p>
                  </a:txBody>
                  <a:tcPr marL="61601" marR="61601" marT="30800" marB="30800" anchor="ctr"/>
                </a:tc>
                <a:tc>
                  <a:txBody>
                    <a:bodyPr/>
                    <a:lstStyle/>
                    <a:p>
                      <a:pPr algn="ctr">
                        <a:buNone/>
                      </a:pPr>
                      <a:r>
                        <a:rPr lang="en-US" sz="1200"/>
                        <a:t>Yes</a:t>
                      </a:r>
                    </a:p>
                  </a:txBody>
                  <a:tcPr marL="61601" marR="61601" marT="30800" marB="30800" anchor="ctr"/>
                </a:tc>
                <a:tc>
                  <a:txBody>
                    <a:bodyPr/>
                    <a:lstStyle/>
                    <a:p>
                      <a:pPr algn="ctr">
                        <a:buNone/>
                      </a:pPr>
                      <a:r>
                        <a:rPr lang="en-US" sz="1200"/>
                        <a:t>No</a:t>
                      </a:r>
                    </a:p>
                  </a:txBody>
                  <a:tcPr marL="61601" marR="61601" marT="30800" marB="30800" anchor="ctr"/>
                </a:tc>
                <a:tc>
                  <a:txBody>
                    <a:bodyPr/>
                    <a:lstStyle/>
                    <a:p>
                      <a:pPr algn="ctr">
                        <a:buNone/>
                      </a:pPr>
                      <a:r>
                        <a:rPr lang="en-US" sz="1200" dirty="0"/>
                        <a:t>No</a:t>
                      </a:r>
                    </a:p>
                  </a:txBody>
                  <a:tcPr marL="61601" marR="61601" marT="30800" marB="30800" anchor="ctr"/>
                </a:tc>
                <a:tc>
                  <a:txBody>
                    <a:bodyPr/>
                    <a:lstStyle/>
                    <a:p>
                      <a:pPr algn="ctr">
                        <a:buNone/>
                      </a:pPr>
                      <a:r>
                        <a:rPr lang="en-US" sz="1200"/>
                        <a:t>Very short critical sections</a:t>
                      </a:r>
                    </a:p>
                  </a:txBody>
                  <a:tcPr marL="61601" marR="61601" marT="30800" marB="30800" anchor="ctr"/>
                </a:tc>
                <a:extLst>
                  <a:ext uri="{0D108BD9-81ED-4DB2-BD59-A6C34878D82A}">
                    <a16:rowId xmlns:a16="http://schemas.microsoft.com/office/drawing/2014/main" val="908116224"/>
                  </a:ext>
                </a:extLst>
              </a:tr>
              <a:tr h="523681">
                <a:tc>
                  <a:txBody>
                    <a:bodyPr/>
                    <a:lstStyle/>
                    <a:p>
                      <a:pPr algn="ctr">
                        <a:buNone/>
                      </a:pPr>
                      <a:r>
                        <a:rPr lang="en-US" sz="1200"/>
                        <a:t>Read-Write Lock</a:t>
                      </a:r>
                    </a:p>
                  </a:txBody>
                  <a:tcPr marL="61601" marR="61601" marT="30800" marB="30800" anchor="ctr"/>
                </a:tc>
                <a:tc>
                  <a:txBody>
                    <a:bodyPr/>
                    <a:lstStyle/>
                    <a:p>
                      <a:pPr algn="ctr">
                        <a:buNone/>
                      </a:pPr>
                      <a:r>
                        <a:rPr lang="en-US" sz="1200"/>
                        <a:t>No</a:t>
                      </a:r>
                    </a:p>
                  </a:txBody>
                  <a:tcPr marL="61601" marR="61601" marT="30800" marB="30800" anchor="ctr"/>
                </a:tc>
                <a:tc>
                  <a:txBody>
                    <a:bodyPr/>
                    <a:lstStyle/>
                    <a:p>
                      <a:pPr algn="ctr">
                        <a:buNone/>
                      </a:pPr>
                      <a:r>
                        <a:rPr lang="en-US" sz="1200"/>
                        <a:t>Yes</a:t>
                      </a:r>
                    </a:p>
                  </a:txBody>
                  <a:tcPr marL="61601" marR="61601" marT="30800" marB="30800" anchor="ctr"/>
                </a:tc>
                <a:tc>
                  <a:txBody>
                    <a:bodyPr/>
                    <a:lstStyle/>
                    <a:p>
                      <a:pPr algn="ctr">
                        <a:buNone/>
                      </a:pPr>
                      <a:r>
                        <a:rPr lang="en-US" sz="1200" dirty="0"/>
                        <a:t>Multiple readers</a:t>
                      </a:r>
                    </a:p>
                  </a:txBody>
                  <a:tcPr marL="61601" marR="61601" marT="30800" marB="30800" anchor="ctr"/>
                </a:tc>
                <a:tc>
                  <a:txBody>
                    <a:bodyPr/>
                    <a:lstStyle/>
                    <a:p>
                      <a:pPr algn="ctr">
                        <a:buNone/>
                      </a:pPr>
                      <a:r>
                        <a:rPr lang="en-US" sz="1200" dirty="0"/>
                        <a:t>Read-heavy workloads</a:t>
                      </a:r>
                    </a:p>
                  </a:txBody>
                  <a:tcPr marL="61601" marR="61601" marT="30800" marB="30800" anchor="ctr"/>
                </a:tc>
                <a:extLst>
                  <a:ext uri="{0D108BD9-81ED-4DB2-BD59-A6C34878D82A}">
                    <a16:rowId xmlns:a16="http://schemas.microsoft.com/office/drawing/2014/main" val="2986183539"/>
                  </a:ext>
                </a:extLst>
              </a:tr>
              <a:tr h="523681">
                <a:tc>
                  <a:txBody>
                    <a:bodyPr/>
                    <a:lstStyle/>
                    <a:p>
                      <a:pPr algn="ctr">
                        <a:buNone/>
                      </a:pPr>
                      <a:r>
                        <a:rPr lang="en-US" sz="1200"/>
                        <a:t>Barrier</a:t>
                      </a:r>
                    </a:p>
                  </a:txBody>
                  <a:tcPr marL="61601" marR="61601" marT="30800" marB="30800" anchor="ctr"/>
                </a:tc>
                <a:tc>
                  <a:txBody>
                    <a:bodyPr/>
                    <a:lstStyle/>
                    <a:p>
                      <a:pPr algn="ctr">
                        <a:buNone/>
                      </a:pPr>
                      <a:r>
                        <a:rPr lang="en-US" sz="1200"/>
                        <a:t>No</a:t>
                      </a:r>
                    </a:p>
                  </a:txBody>
                  <a:tcPr marL="61601" marR="61601" marT="30800" marB="30800" anchor="ctr"/>
                </a:tc>
                <a:tc>
                  <a:txBody>
                    <a:bodyPr/>
                    <a:lstStyle/>
                    <a:p>
                      <a:pPr algn="ctr">
                        <a:buNone/>
                      </a:pPr>
                      <a:r>
                        <a:rPr lang="en-US" sz="1200"/>
                        <a:t>Yes</a:t>
                      </a:r>
                    </a:p>
                  </a:txBody>
                  <a:tcPr marL="61601" marR="61601" marT="30800" marB="30800" anchor="ctr"/>
                </a:tc>
                <a:tc>
                  <a:txBody>
                    <a:bodyPr/>
                    <a:lstStyle/>
                    <a:p>
                      <a:pPr algn="ctr">
                        <a:buNone/>
                      </a:pPr>
                      <a:r>
                        <a:rPr lang="en-US" sz="1200"/>
                        <a:t>All threads synchronize</a:t>
                      </a:r>
                    </a:p>
                  </a:txBody>
                  <a:tcPr marL="61601" marR="61601" marT="30800" marB="30800" anchor="ctr"/>
                </a:tc>
                <a:tc>
                  <a:txBody>
                    <a:bodyPr/>
                    <a:lstStyle/>
                    <a:p>
                      <a:pPr algn="ctr">
                        <a:buNone/>
                      </a:pPr>
                      <a:r>
                        <a:rPr lang="en-US" sz="1200" dirty="0"/>
                        <a:t>Parallel algorithms</a:t>
                      </a:r>
                    </a:p>
                  </a:txBody>
                  <a:tcPr marL="61601" marR="61601" marT="30800" marB="30800" anchor="ctr"/>
                </a:tc>
                <a:extLst>
                  <a:ext uri="{0D108BD9-81ED-4DB2-BD59-A6C34878D82A}">
                    <a16:rowId xmlns:a16="http://schemas.microsoft.com/office/drawing/2014/main" val="1619528277"/>
                  </a:ext>
                </a:extLst>
              </a:tr>
              <a:tr h="748115">
                <a:tc>
                  <a:txBody>
                    <a:bodyPr/>
                    <a:lstStyle/>
                    <a:p>
                      <a:pPr algn="ctr">
                        <a:buNone/>
                      </a:pPr>
                      <a:r>
                        <a:rPr lang="en-US" sz="1200"/>
                        <a:t>Condition Variable</a:t>
                      </a:r>
                    </a:p>
                  </a:txBody>
                  <a:tcPr marL="61601" marR="61601" marT="30800" marB="30800" anchor="ctr"/>
                </a:tc>
                <a:tc>
                  <a:txBody>
                    <a:bodyPr/>
                    <a:lstStyle/>
                    <a:p>
                      <a:pPr algn="ctr">
                        <a:buNone/>
                      </a:pPr>
                      <a:r>
                        <a:rPr lang="en-US" sz="1200"/>
                        <a:t>No</a:t>
                      </a:r>
                    </a:p>
                  </a:txBody>
                  <a:tcPr marL="61601" marR="61601" marT="30800" marB="30800" anchor="ctr"/>
                </a:tc>
                <a:tc>
                  <a:txBody>
                    <a:bodyPr/>
                    <a:lstStyle/>
                    <a:p>
                      <a:pPr algn="ctr">
                        <a:buNone/>
                      </a:pPr>
                      <a:r>
                        <a:rPr lang="en-US" sz="1200"/>
                        <a:t>Yes</a:t>
                      </a:r>
                    </a:p>
                  </a:txBody>
                  <a:tcPr marL="61601" marR="61601" marT="30800" marB="30800" anchor="ctr"/>
                </a:tc>
                <a:tc>
                  <a:txBody>
                    <a:bodyPr/>
                    <a:lstStyle/>
                    <a:p>
                      <a:pPr algn="ctr">
                        <a:buNone/>
                      </a:pPr>
                      <a:r>
                        <a:rPr lang="en-US" sz="1200"/>
                        <a:t>Waiting for events</a:t>
                      </a:r>
                    </a:p>
                  </a:txBody>
                  <a:tcPr marL="61601" marR="61601" marT="30800" marB="30800" anchor="ctr"/>
                </a:tc>
                <a:tc>
                  <a:txBody>
                    <a:bodyPr/>
                    <a:lstStyle/>
                    <a:p>
                      <a:pPr algn="ctr">
                        <a:buNone/>
                      </a:pPr>
                      <a:r>
                        <a:rPr lang="en-US" sz="1200" dirty="0"/>
                        <a:t>Producer-Consumer, event synchronization</a:t>
                      </a:r>
                    </a:p>
                  </a:txBody>
                  <a:tcPr marL="61601" marR="61601" marT="30800" marB="30800" anchor="ctr"/>
                </a:tc>
                <a:extLst>
                  <a:ext uri="{0D108BD9-81ED-4DB2-BD59-A6C34878D82A}">
                    <a16:rowId xmlns:a16="http://schemas.microsoft.com/office/drawing/2014/main" val="3234832368"/>
                  </a:ext>
                </a:extLst>
              </a:tr>
            </a:tbl>
          </a:graphicData>
        </a:graphic>
      </p:graphicFrame>
      <p:sp>
        <p:nvSpPr>
          <p:cNvPr id="10" name="TextBox 9">
            <a:extLst>
              <a:ext uri="{FF2B5EF4-FFF2-40B4-BE49-F238E27FC236}">
                <a16:creationId xmlns:a16="http://schemas.microsoft.com/office/drawing/2014/main" id="{D70A057C-BDF7-5D11-3D2C-1C272C42AE78}"/>
              </a:ext>
            </a:extLst>
          </p:cNvPr>
          <p:cNvSpPr txBox="1"/>
          <p:nvPr/>
        </p:nvSpPr>
        <p:spPr>
          <a:xfrm>
            <a:off x="1017037" y="774441"/>
            <a:ext cx="8136293" cy="369332"/>
          </a:xfrm>
          <a:prstGeom prst="rect">
            <a:avLst/>
          </a:prstGeom>
          <a:noFill/>
        </p:spPr>
        <p:txBody>
          <a:bodyPr wrap="square">
            <a:spAutoFit/>
          </a:bodyPr>
          <a:lstStyle/>
          <a:p>
            <a:pPr>
              <a:buNone/>
            </a:pPr>
            <a:r>
              <a:rPr lang="en-US" b="1" dirty="0"/>
              <a:t>Compare Synchronization Mechanisms</a:t>
            </a:r>
          </a:p>
        </p:txBody>
      </p:sp>
    </p:spTree>
    <p:extLst>
      <p:ext uri="{BB962C8B-B14F-4D97-AF65-F5344CB8AC3E}">
        <p14:creationId xmlns:p14="http://schemas.microsoft.com/office/powerpoint/2010/main" val="33126794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F749136-8EFF-2DA4-E893-C3BC899AD22D}"/>
              </a:ext>
            </a:extLst>
          </p:cNvPr>
          <p:cNvSpPr>
            <a:spLocks noGrp="1"/>
          </p:cNvSpPr>
          <p:nvPr>
            <p:ph type="sldNum" sz="quarter" idx="12"/>
          </p:nvPr>
        </p:nvSpPr>
        <p:spPr/>
        <p:txBody>
          <a:bodyPr/>
          <a:lstStyle/>
          <a:p>
            <a:fld id="{CBABCCC1-BF11-4F37-963E-1BCD5B23FD72}" type="slidenum">
              <a:rPr lang="en-IN" smtClean="0"/>
              <a:pPr/>
              <a:t>48</a:t>
            </a:fld>
            <a:endParaRPr lang="en-IN"/>
          </a:p>
        </p:txBody>
      </p:sp>
      <p:sp>
        <p:nvSpPr>
          <p:cNvPr id="5" name="Content Placeholder 3">
            <a:extLst>
              <a:ext uri="{FF2B5EF4-FFF2-40B4-BE49-F238E27FC236}">
                <a16:creationId xmlns:a16="http://schemas.microsoft.com/office/drawing/2014/main" id="{5F87BF12-FB98-561B-22CA-A46D7659E894}"/>
              </a:ext>
            </a:extLst>
          </p:cNvPr>
          <p:cNvSpPr txBox="1">
            <a:spLocks/>
          </p:cNvSpPr>
          <p:nvPr/>
        </p:nvSpPr>
        <p:spPr>
          <a:xfrm>
            <a:off x="750455" y="809625"/>
            <a:ext cx="10515600" cy="5147829"/>
          </a:xfrm>
          <a:prstGeom prst="rect">
            <a:avLst/>
          </a:prstGeom>
        </p:spPr>
        <p:txBody>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endParaRPr lang="en-IN" sz="2400" dirty="0"/>
          </a:p>
        </p:txBody>
      </p:sp>
      <p:pic>
        <p:nvPicPr>
          <p:cNvPr id="3" name="Picture 2">
            <a:extLst>
              <a:ext uri="{FF2B5EF4-FFF2-40B4-BE49-F238E27FC236}">
                <a16:creationId xmlns:a16="http://schemas.microsoft.com/office/drawing/2014/main" id="{364108AB-A444-3782-1E85-54910E862B79}"/>
              </a:ext>
            </a:extLst>
          </p:cNvPr>
          <p:cNvPicPr>
            <a:picLocks noChangeAspect="1"/>
          </p:cNvPicPr>
          <p:nvPr/>
        </p:nvPicPr>
        <p:blipFill>
          <a:blip r:embed="rId2" cstate="print"/>
          <a:stretch>
            <a:fillRect/>
          </a:stretch>
        </p:blipFill>
        <p:spPr>
          <a:xfrm>
            <a:off x="0" y="76838"/>
            <a:ext cx="1567654" cy="624416"/>
          </a:xfrm>
          <a:prstGeom prst="rect">
            <a:avLst/>
          </a:prstGeom>
        </p:spPr>
      </p:pic>
      <p:sp>
        <p:nvSpPr>
          <p:cNvPr id="7" name="TextBox 6">
            <a:extLst>
              <a:ext uri="{FF2B5EF4-FFF2-40B4-BE49-F238E27FC236}">
                <a16:creationId xmlns:a16="http://schemas.microsoft.com/office/drawing/2014/main" id="{753B4E33-0793-FBA2-FF2E-DEC119A3260F}"/>
              </a:ext>
            </a:extLst>
          </p:cNvPr>
          <p:cNvSpPr txBox="1"/>
          <p:nvPr/>
        </p:nvSpPr>
        <p:spPr>
          <a:xfrm>
            <a:off x="354563" y="1026368"/>
            <a:ext cx="10739535" cy="3416320"/>
          </a:xfrm>
          <a:prstGeom prst="rect">
            <a:avLst/>
          </a:prstGeom>
          <a:noFill/>
        </p:spPr>
        <p:txBody>
          <a:bodyPr wrap="square">
            <a:spAutoFit/>
          </a:bodyPr>
          <a:lstStyle/>
          <a:p>
            <a:pPr>
              <a:buNone/>
            </a:pPr>
            <a:r>
              <a:rPr lang="en-US" b="1" dirty="0"/>
              <a:t>Applications of Advanced Synchronization</a:t>
            </a:r>
          </a:p>
          <a:p>
            <a:pPr>
              <a:buNone/>
            </a:pPr>
            <a:endParaRPr lang="en-US" b="1" dirty="0"/>
          </a:p>
          <a:p>
            <a:pPr marL="285750" indent="-285750">
              <a:buFont typeface="Wingdings" panose="05000000000000000000" pitchFamily="2" charset="2"/>
              <a:buChar char="Ø"/>
            </a:pPr>
            <a:r>
              <a:rPr lang="en-US" dirty="0"/>
              <a:t>Multithreaded web servers </a:t>
            </a:r>
          </a:p>
          <a:p>
            <a:pPr marL="285750" indent="-285750">
              <a:buFont typeface="Wingdings" panose="05000000000000000000" pitchFamily="2" charset="2"/>
              <a:buChar char="Ø"/>
            </a:pPr>
            <a:r>
              <a:rPr lang="en-US" dirty="0"/>
              <a:t>Database management systems </a:t>
            </a:r>
          </a:p>
          <a:p>
            <a:pPr marL="285750" indent="-285750">
              <a:buFont typeface="Wingdings" panose="05000000000000000000" pitchFamily="2" charset="2"/>
              <a:buChar char="Ø"/>
            </a:pPr>
            <a:r>
              <a:rPr lang="en-US" dirty="0"/>
              <a:t>Operating system kernels </a:t>
            </a:r>
          </a:p>
          <a:p>
            <a:pPr marL="285750" indent="-285750">
              <a:buFont typeface="Wingdings" panose="05000000000000000000" pitchFamily="2" charset="2"/>
              <a:buChar char="Ø"/>
            </a:pPr>
            <a:r>
              <a:rPr lang="en-US" dirty="0"/>
              <a:t>Parallel computing </a:t>
            </a:r>
          </a:p>
          <a:p>
            <a:pPr marL="285750" indent="-285750">
              <a:buFont typeface="Wingdings" panose="05000000000000000000" pitchFamily="2" charset="2"/>
              <a:buChar char="Ø"/>
            </a:pPr>
            <a:r>
              <a:rPr lang="en-US" dirty="0"/>
              <a:t>Cloud computing platforms </a:t>
            </a:r>
          </a:p>
          <a:p>
            <a:pPr marL="285750" indent="-285750">
              <a:buFont typeface="Wingdings" panose="05000000000000000000" pitchFamily="2" charset="2"/>
              <a:buChar char="Ø"/>
            </a:pPr>
            <a:r>
              <a:rPr lang="en-US" dirty="0"/>
              <a:t>Distributed systems </a:t>
            </a:r>
          </a:p>
          <a:p>
            <a:pPr marL="285750" indent="-285750">
              <a:buFont typeface="Wingdings" panose="05000000000000000000" pitchFamily="2" charset="2"/>
              <a:buChar char="Ø"/>
            </a:pPr>
            <a:r>
              <a:rPr lang="en-US" dirty="0"/>
              <a:t>Real-time systems </a:t>
            </a:r>
          </a:p>
          <a:p>
            <a:pPr marL="285750" indent="-285750">
              <a:buFont typeface="Wingdings" panose="05000000000000000000" pitchFamily="2" charset="2"/>
              <a:buChar char="Ø"/>
            </a:pPr>
            <a:r>
              <a:rPr lang="en-US" dirty="0"/>
              <a:t>GPU programming </a:t>
            </a:r>
          </a:p>
          <a:p>
            <a:pPr marL="285750" indent="-285750">
              <a:buFont typeface="Wingdings" panose="05000000000000000000" pitchFamily="2" charset="2"/>
              <a:buChar char="Ø"/>
            </a:pPr>
            <a:r>
              <a:rPr lang="en-US" dirty="0"/>
              <a:t>Machine learning and AI training </a:t>
            </a:r>
          </a:p>
          <a:p>
            <a:pPr marL="285750" indent="-285750">
              <a:buFont typeface="Wingdings" panose="05000000000000000000" pitchFamily="2" charset="2"/>
              <a:buChar char="Ø"/>
            </a:pPr>
            <a:r>
              <a:rPr lang="en-US" dirty="0"/>
              <a:t>High-performance scientific computing</a:t>
            </a:r>
          </a:p>
        </p:txBody>
      </p:sp>
    </p:spTree>
    <p:extLst>
      <p:ext uri="{BB962C8B-B14F-4D97-AF65-F5344CB8AC3E}">
        <p14:creationId xmlns:p14="http://schemas.microsoft.com/office/powerpoint/2010/main" val="18849046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ECF5273-1B5C-1A52-C6F1-869D7FD74FE0}"/>
              </a:ext>
            </a:extLst>
          </p:cNvPr>
          <p:cNvSpPr>
            <a:spLocks noGrp="1"/>
          </p:cNvSpPr>
          <p:nvPr>
            <p:ph type="sldNum" sz="quarter" idx="12"/>
          </p:nvPr>
        </p:nvSpPr>
        <p:spPr/>
        <p:txBody>
          <a:bodyPr/>
          <a:lstStyle/>
          <a:p>
            <a:fld id="{CBABCCC1-BF11-4F37-963E-1BCD5B23FD72}" type="slidenum">
              <a:rPr lang="en-IN" smtClean="0"/>
              <a:pPr/>
              <a:t>49</a:t>
            </a:fld>
            <a:endParaRPr lang="en-IN"/>
          </a:p>
        </p:txBody>
      </p:sp>
      <p:sp>
        <p:nvSpPr>
          <p:cNvPr id="3" name="TextBox 2">
            <a:extLst>
              <a:ext uri="{FF2B5EF4-FFF2-40B4-BE49-F238E27FC236}">
                <a16:creationId xmlns:a16="http://schemas.microsoft.com/office/drawing/2014/main" id="{4EEBFF9D-9FF6-B315-4C3A-3AB141FAFBAD}"/>
              </a:ext>
            </a:extLst>
          </p:cNvPr>
          <p:cNvSpPr txBox="1"/>
          <p:nvPr/>
        </p:nvSpPr>
        <p:spPr>
          <a:xfrm>
            <a:off x="1996751" y="2659224"/>
            <a:ext cx="6699380" cy="923330"/>
          </a:xfrm>
          <a:prstGeom prst="rect">
            <a:avLst/>
          </a:prstGeom>
          <a:noFill/>
        </p:spPr>
        <p:txBody>
          <a:bodyPr wrap="square" rtlCol="0">
            <a:spAutoFit/>
          </a:bodyPr>
          <a:lstStyle/>
          <a:p>
            <a:pPr algn="ctr"/>
            <a:r>
              <a:rPr lang="en-IN" sz="5400" i="1" dirty="0">
                <a:solidFill>
                  <a:srgbClr val="00B050"/>
                </a:solidFill>
                <a:latin typeface="Algerian" panose="04020705040A02060702" pitchFamily="82" charset="0"/>
              </a:rPr>
              <a:t>Thank You</a:t>
            </a:r>
          </a:p>
        </p:txBody>
      </p:sp>
    </p:spTree>
    <p:extLst>
      <p:ext uri="{BB962C8B-B14F-4D97-AF65-F5344CB8AC3E}">
        <p14:creationId xmlns:p14="http://schemas.microsoft.com/office/powerpoint/2010/main" val="2557585509"/>
      </p:ext>
    </p:extLst>
  </p:cSld>
  <p:clrMapOvr>
    <a:masterClrMapping/>
  </p:clrMapOvr>
</p:sld>
</file>

<file path=ppt/theme/theme1.xml><?xml version="1.0" encoding="utf-8"?>
<a:theme xmlns:a="http://schemas.openxmlformats.org/drawingml/2006/main" name="OS_CO1_SESSION_01">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CoE PPT Template" id="{A33AC9A7-D3E4-434A-BD42-581FCFFC62EC}" vid="{D754460F-3F96-4E65-BE38-750381954FB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OS_CO1_SESSION_01</Template>
  <TotalTime>2669</TotalTime>
  <Words>4213</Words>
  <Application>Microsoft Office PowerPoint</Application>
  <PresentationFormat>Widescreen</PresentationFormat>
  <Paragraphs>597</Paragraphs>
  <Slides>49</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49</vt:i4>
      </vt:variant>
    </vt:vector>
  </HeadingPairs>
  <TitlesOfParts>
    <vt:vector size="60" baseType="lpstr">
      <vt:lpstr>Algerian</vt:lpstr>
      <vt:lpstr>Arial</vt:lpstr>
      <vt:lpstr>Calibri</vt:lpstr>
      <vt:lpstr>Cambria</vt:lpstr>
      <vt:lpstr>Courier New</vt:lpstr>
      <vt:lpstr>Gill Sans MT</vt:lpstr>
      <vt:lpstr>Roboto</vt:lpstr>
      <vt:lpstr>Times New Roman</vt:lpstr>
      <vt:lpstr>Verdana</vt:lpstr>
      <vt:lpstr>Wingdings</vt:lpstr>
      <vt:lpstr>OS_CO1_SESSION_01</vt:lpstr>
      <vt:lpstr>PowerPoint Presentation</vt:lpstr>
      <vt:lpstr> CO- VI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Differences between PROCESS AND THREAD</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 </vt:lpstr>
      <vt:lpstr>PowerPoint Presentation</vt:lpstr>
      <vt:lpstr>PowerPoint Presentation</vt:lpstr>
      <vt:lpstr>PowerPoint Presentation</vt:lpstr>
      <vt:lpstr>Conditional Variables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NAME : Operating Systems   COURSE CODE:  21CS2109RA   Topic:  INTRODUCTION TO OPERATING SYSTEM</dc:title>
  <dc:creator>Pro</dc:creator>
  <cp:lastModifiedBy>HOME</cp:lastModifiedBy>
  <cp:revision>86</cp:revision>
  <dcterms:created xsi:type="dcterms:W3CDTF">2023-05-10T14:04:16Z</dcterms:created>
  <dcterms:modified xsi:type="dcterms:W3CDTF">2026-07-25T08:32:18Z</dcterms:modified>
</cp:coreProperties>
</file>